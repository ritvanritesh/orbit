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ORBIT identity: a research instrument, not a trading system. Pause on 'byproduct happens to be tradeable exposure'. Note v1.0 charter status and August 2026 freeze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'scientific instrument, not trading system'. Then walk the loop: OBSERVE through UPDATE. Emphasize that every step produces a registry artifact - this is what makes it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non-negotiables on this slide: (1) membership is a historical fact, (2) identity is INS-xxxxxx, ticker is just a window onto it. Stress that survivorship control is reconstruction from archives, not projection backward from today's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invariant: allowed(x,t) &lt;=&gt; publication_time(x) &lt; t. Strict, ties rejected. Walk left-to-right across the axis: event→publication→effective→ingestion→decision. The teal wall sits just past publication_time; the shaded band is the no-go zone between publication and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'immutable, versioned LabelContract'. Walk through the code card top-to-bottom: hypothesis_id, instrument (INS not ticker), decision_time, anchor_mode, horizon, outcome_def, version. Then point right: types, horizons (1/5/21/63), anchor modes (decision_instant vs post_event). End with the three seed hypotheses that exercise these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quadrants: period (2010-on), walk-forward (min 4 OOS), regimes (min 2-3), costs (5 bps round-trip). Then the footer: two evidence tiers; promotion requires Economic evidence at the hypothesis-specific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gates, A to K. Walk row 1 left-to-right (A→F), wrap down to G, walk row 2 right-to-left (G→K). Below: dashed promotion path: candidate → validated → paper → live-data paper. Bottom: research budgets (max 20 trials), promotion requirements, hard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cards, each is a complete hypothesis: badge, name, mechanism, label/horizon/anchor (terminal block), why. H-001 momentum (baseline). H-002 vol anomaly (volatility label, 21-session horizon). H-003 PEAD (post_event anchor — the leak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top→down: SOURCE DATA (raw external feeds), IDENTITY &amp; IMMUTABLE STORAGE (instrument master, symbol history, dataset snapshot), DETERMINISTIC RECONSTRUCTION (universe engine). Stress: identity is INS-xxxxxx, not ticker. Snapshots are checksummed; re-runs pull the same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features. Lead with the Temporal Truth Engine (the invariant from S4 made operational). End with Release Calendar - the smallest, but it eliminates a real source of publication-time ambiguity for scheduled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invariants in 2x2. Then two bottom cards: HARD STOPS (terminal block listing the three halt triggers) and ESCAPE HATCH (root-cause + corrective change + re-run from registered spec). Stress: re-running with 'the same intent but better data' is not permitted.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APPROVED (teal header), FAILED (gray header), DOUBLE DOWN vs ABANDON (dark header). Stress that the FAILED column items are all back-stops that the framework refuses — especially 'question moves after results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phase nodes on a horizontal axis. Build-focus bracket spans phases 1-5 — the subject of this roadmap. Phase 6+ inherits what is built here. If asked about timeline: phases are gated by completion of the previous phase's audit, not by calendar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pull-quote — restate that ORBIT is an instrument, not a system. Then walk the three guarantees: reproducibility, temporal honesty, rigorous falsification. End with the CTA — the research-integrity charter is the participation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24"/>
        </a:solidFill>
      </p:bgPr>
    </p:bg>
    <p:spTree>
      <p:nvGrpSpPr>
        <p:cNvPr id="1" name=""/>
        <p:cNvGrpSpPr/>
        <p:nvPr/>
      </p:nvGrpSpPr>
      <p:grpSpPr>
        <a:xfrm>
          <a:off x="0" y="0"/>
          <a:ext cx="0" cy="0"/>
          <a:chOff x="0" y="0"/>
          <a:chExt cx="0" cy="0"/>
        </a:xfrm>
      </p:grpSpPr>
      <p:sp>
        <p:nvSpPr>
          <p:cNvPr id="2" name="Shape 0"/>
          <p:cNvSpPr/>
          <p:nvPr/>
        </p:nvSpPr>
        <p:spPr>
          <a:xfrm>
            <a:off x="3337560" y="1280160"/>
            <a:ext cx="5486400" cy="4937760"/>
          </a:xfrm>
          <a:prstGeom prst="ellipse">
            <a:avLst/>
          </a:prstGeom>
          <a:ln w="9525">
            <a:solidFill>
              <a:srgbClr val="14B8A6">
                <a:alpha val="45000"/>
              </a:srgbClr>
            </a:solidFill>
            <a:prstDash val="solid"/>
          </a:ln>
        </p:spPr>
      </p:sp>
      <p:sp>
        <p:nvSpPr>
          <p:cNvPr id="3" name="Shape 1"/>
          <p:cNvSpPr/>
          <p:nvPr/>
        </p:nvSpPr>
        <p:spPr>
          <a:xfrm>
            <a:off x="4069080" y="2011680"/>
            <a:ext cx="4023360" cy="3474720"/>
          </a:xfrm>
          <a:prstGeom prst="ellipse">
            <a:avLst/>
          </a:prstGeom>
          <a:ln w="6350">
            <a:solidFill>
              <a:srgbClr val="5EEAD4">
                <a:alpha val="30000"/>
              </a:srgbClr>
            </a:solidFill>
            <a:prstDash val="solid"/>
          </a:ln>
        </p:spPr>
      </p:sp>
      <p:sp>
        <p:nvSpPr>
          <p:cNvPr id="4" name="Shape 2"/>
          <p:cNvSpPr/>
          <p:nvPr/>
        </p:nvSpPr>
        <p:spPr>
          <a:xfrm>
            <a:off x="8732520" y="1417320"/>
            <a:ext cx="164592" cy="164592"/>
          </a:xfrm>
          <a:prstGeom prst="ellipse">
            <a:avLst/>
          </a:prstGeom>
          <a:solidFill>
            <a:srgbClr val="5EEAD4"/>
          </a:solidFill>
          <a:ln w="12700">
            <a:solidFill>
              <a:srgbClr val="1A1F24"/>
            </a:solidFill>
            <a:prstDash val="solid"/>
          </a:ln>
        </p:spPr>
      </p:sp>
      <p:sp>
        <p:nvSpPr>
          <p:cNvPr id="5" name="Text 3"/>
          <p:cNvSpPr/>
          <p:nvPr/>
        </p:nvSpPr>
        <p:spPr>
          <a:xfrm>
            <a:off x="457200" y="1920240"/>
            <a:ext cx="11247120" cy="365760"/>
          </a:xfrm>
          <a:prstGeom prst="rect">
            <a:avLst/>
          </a:prstGeom>
          <a:noFill/>
          <a:ln/>
        </p:spPr>
        <p:txBody>
          <a:bodyPr wrap="square" lIns="0" tIns="0" rIns="0" bIns="0" rtlCol="0" anchor="ctr"/>
          <a:lstStyle/>
          <a:p>
            <a:pPr algn="ctr" indent="0" marL="0">
              <a:buNone/>
            </a:pPr>
            <a:r>
              <a:rPr lang="en-US" sz="1200" b="1" spc="800" kern="0" dirty="0">
                <a:solidFill>
                  <a:srgbClr val="14B8A6"/>
                </a:solidFill>
                <a:latin typeface="Calibri" pitchFamily="34" charset="0"/>
                <a:ea typeface="Calibri" pitchFamily="34" charset="-122"/>
                <a:cs typeface="Calibri" pitchFamily="34" charset="-120"/>
              </a:rPr>
              <a:t>TECHNICAL RESEARCH ROADMAP</a:t>
            </a:r>
            <a:endParaRPr lang="en-US" sz="1200" dirty="0"/>
          </a:p>
        </p:txBody>
      </p:sp>
      <p:sp>
        <p:nvSpPr>
          <p:cNvPr id="6" name="Text 4"/>
          <p:cNvSpPr/>
          <p:nvPr/>
        </p:nvSpPr>
        <p:spPr>
          <a:xfrm>
            <a:off x="457200" y="2377440"/>
            <a:ext cx="11247120" cy="1280160"/>
          </a:xfrm>
          <a:prstGeom prst="rect">
            <a:avLst/>
          </a:prstGeom>
          <a:noFill/>
          <a:ln/>
        </p:spPr>
        <p:txBody>
          <a:bodyPr wrap="square" lIns="0" tIns="0" rIns="0" bIns="0" rtlCol="0" anchor="ctr"/>
          <a:lstStyle/>
          <a:p>
            <a:pPr algn="ctr" indent="0" marL="0">
              <a:buNone/>
            </a:pPr>
            <a:r>
              <a:rPr lang="en-US" sz="8800" b="1" spc="400" kern="0" dirty="0">
                <a:solidFill>
                  <a:srgbClr val="F2F2F2"/>
                </a:solidFill>
                <a:latin typeface="Cambria" pitchFamily="34" charset="0"/>
                <a:ea typeface="Cambria" pitchFamily="34" charset="-122"/>
                <a:cs typeface="Cambria" pitchFamily="34" charset="-120"/>
              </a:rPr>
              <a:t>ORBIT</a:t>
            </a:r>
            <a:endParaRPr lang="en-US" sz="8800" dirty="0"/>
          </a:p>
        </p:txBody>
      </p:sp>
      <p:sp>
        <p:nvSpPr>
          <p:cNvPr id="7" name="Text 5"/>
          <p:cNvSpPr/>
          <p:nvPr/>
        </p:nvSpPr>
        <p:spPr>
          <a:xfrm>
            <a:off x="457200" y="3794760"/>
            <a:ext cx="11247120" cy="457200"/>
          </a:xfrm>
          <a:prstGeom prst="rect">
            <a:avLst/>
          </a:prstGeom>
          <a:noFill/>
          <a:ln/>
        </p:spPr>
        <p:txBody>
          <a:bodyPr wrap="square" lIns="0" tIns="0" rIns="0" bIns="0" rtlCol="0" anchor="ctr"/>
          <a:lstStyle/>
          <a:p>
            <a:pPr algn="ctr" indent="0" marL="0">
              <a:buNone/>
            </a:pPr>
            <a:r>
              <a:rPr lang="en-US" sz="2200" i="1" dirty="0">
                <a:solidFill>
                  <a:srgbClr val="F2F2F2"/>
                </a:solidFill>
                <a:latin typeface="Cambria" pitchFamily="34" charset="0"/>
                <a:ea typeface="Cambria" pitchFamily="34" charset="-122"/>
                <a:cs typeface="Cambria" pitchFamily="34" charset="-120"/>
              </a:rPr>
              <a:t>Optimized Research &amp; Behavioral Intelligence Trading</a:t>
            </a:r>
            <a:endParaRPr lang="en-US" sz="2200" dirty="0"/>
          </a:p>
        </p:txBody>
      </p:sp>
      <p:sp>
        <p:nvSpPr>
          <p:cNvPr id="8" name="Text 6"/>
          <p:cNvSpPr/>
          <p:nvPr/>
        </p:nvSpPr>
        <p:spPr>
          <a:xfrm>
            <a:off x="457200" y="4343400"/>
            <a:ext cx="11247120" cy="365760"/>
          </a:xfrm>
          <a:prstGeom prst="rect">
            <a:avLst/>
          </a:prstGeom>
          <a:noFill/>
          <a:ln/>
        </p:spPr>
        <p:txBody>
          <a:bodyPr wrap="square" lIns="0" tIns="0" rIns="0" bIns="0" rtlCol="0" anchor="ctr"/>
          <a:lstStyle/>
          <a:p>
            <a:pPr algn="ctr" indent="0" marL="0">
              <a:buNone/>
            </a:pPr>
            <a:r>
              <a:rPr lang="en-US" sz="1500" spc="200" kern="0" dirty="0">
                <a:solidFill>
                  <a:srgbClr val="5EEAD4"/>
                </a:solidFill>
                <a:latin typeface="Calibri" pitchFamily="34" charset="0"/>
                <a:ea typeface="Calibri" pitchFamily="34" charset="-122"/>
                <a:cs typeface="Calibri" pitchFamily="34" charset="-120"/>
              </a:rPr>
              <a:t>Master Technical Roadmap  ·  Version 1.0  ·  August 2026</a:t>
            </a:r>
            <a:endParaRPr lang="en-US" sz="1500" dirty="0"/>
          </a:p>
        </p:txBody>
      </p:sp>
      <p:sp>
        <p:nvSpPr>
          <p:cNvPr id="9" name="Text 7"/>
          <p:cNvSpPr/>
          <p:nvPr/>
        </p:nvSpPr>
        <p:spPr>
          <a:xfrm>
            <a:off x="457200" y="6263640"/>
            <a:ext cx="11247120" cy="274320"/>
          </a:xfrm>
          <a:prstGeom prst="rect">
            <a:avLst/>
          </a:prstGeom>
          <a:noFill/>
          <a:ln/>
        </p:spPr>
        <p:txBody>
          <a:bodyPr wrap="square" lIns="0" tIns="0" rIns="0" bIns="0" rtlCol="0" anchor="ctr"/>
          <a:lstStyle/>
          <a:p>
            <a:pPr algn="ctr" indent="0" marL="0">
              <a:buNone/>
            </a:pPr>
            <a:r>
              <a:rPr lang="en-US" sz="1100" spc="200" kern="0" dirty="0">
                <a:solidFill>
                  <a:srgbClr val="9CA3AF"/>
                </a:solidFill>
                <a:latin typeface="Calibri" pitchFamily="34" charset="0"/>
                <a:ea typeface="Calibri" pitchFamily="34" charset="-122"/>
                <a:cs typeface="Calibri" pitchFamily="34" charset="-120"/>
              </a:rPr>
              <a:t>Quantitative Research Platform  ·  Internal Engineering Audience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Mission &amp; Core Philosophy</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What ORBIT is, the principle it defends, and the 13-step loop every hypothesis must traverse</a:t>
            </a:r>
            <a:endParaRPr lang="en-US" sz="1100" dirty="0"/>
          </a:p>
        </p:txBody>
      </p:sp>
      <p:sp>
        <p:nvSpPr>
          <p:cNvPr id="4" name="Shape 2"/>
          <p:cNvSpPr/>
          <p:nvPr/>
        </p:nvSpPr>
        <p:spPr>
          <a:xfrm>
            <a:off x="457200" y="1234440"/>
            <a:ext cx="5486400" cy="1508760"/>
          </a:xfrm>
          <a:prstGeom prst="roundRect">
            <a:avLst>
              <a:gd name="adj" fmla="val 4848"/>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217920" y="1234440"/>
            <a:ext cx="5486400" cy="1508760"/>
          </a:xfrm>
          <a:prstGeom prst="roundRect">
            <a:avLst>
              <a:gd name="adj" fmla="val 4848"/>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685800" y="1399032"/>
            <a:ext cx="5029200" cy="274320"/>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MISSION</a:t>
            </a:r>
            <a:endParaRPr lang="en-US" sz="1100" dirty="0"/>
          </a:p>
        </p:txBody>
      </p:sp>
      <p:sp>
        <p:nvSpPr>
          <p:cNvPr id="7" name="Text 5"/>
          <p:cNvSpPr/>
          <p:nvPr/>
        </p:nvSpPr>
        <p:spPr>
          <a:xfrm>
            <a:off x="685800" y="1691640"/>
            <a:ext cx="5029200" cy="914400"/>
          </a:xfrm>
          <a:prstGeom prst="rect">
            <a:avLst/>
          </a:prstGeom>
          <a:noFill/>
          <a:ln/>
        </p:spPr>
        <p:txBody>
          <a:bodyPr wrap="square" lIns="0" tIns="0" rIns="0" bIns="0" rtlCol="0" anchor="t"/>
          <a:lstStyle/>
          <a:p>
            <a:pPr algn="l" indent="0" marL="0">
              <a:spcAft>
                <a:spcPts val="600"/>
              </a:spcAft>
              <a:buNone/>
            </a:pPr>
            <a:r>
              <a:rPr lang="en-US" sz="1250" dirty="0">
                <a:solidFill>
                  <a:srgbClr val="1F2937"/>
                </a:solidFill>
                <a:latin typeface="Calibri" pitchFamily="34" charset="0"/>
                <a:ea typeface="Calibri" pitchFamily="34" charset="-122"/>
                <a:cs typeface="Calibri" pitchFamily="34" charset="-120"/>
              </a:rPr>
              <a:t>ORBIT is a reproducible scientific instrument for discovering, testing, falsifying, explaining, and replaying trading hypotheses.</a:t>
            </a:r>
            <a:endParaRPr lang="en-US" sz="1250" dirty="0"/>
          </a:p>
          <a:p>
            <a:pPr algn="l" indent="0" marL="0">
              <a:buNone/>
            </a:pPr>
            <a:r>
              <a:rPr lang="en-US" sz="1200" i="1" dirty="0">
                <a:solidFill>
                  <a:srgbClr val="6B7280"/>
                </a:solidFill>
                <a:latin typeface="Calibri" pitchFamily="34" charset="0"/>
                <a:ea typeface="Calibri" pitchFamily="34" charset="-122"/>
                <a:cs typeface="Calibri" pitchFamily="34" charset="-120"/>
              </a:rPr>
              <a:t>It is not a trading system that happens to do research; it is a research instrument whose byproduct happens to be tradeable exposure.</a:t>
            </a:r>
            <a:endParaRPr lang="en-US" sz="1250" dirty="0"/>
          </a:p>
        </p:txBody>
      </p:sp>
      <p:sp>
        <p:nvSpPr>
          <p:cNvPr id="8" name="Text 6"/>
          <p:cNvSpPr/>
          <p:nvPr/>
        </p:nvSpPr>
        <p:spPr>
          <a:xfrm>
            <a:off x="6446520" y="1399032"/>
            <a:ext cx="5029200" cy="274320"/>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KEY PRINCIPLE</a:t>
            </a:r>
            <a:endParaRPr lang="en-US" sz="1100" dirty="0"/>
          </a:p>
        </p:txBody>
      </p:sp>
      <p:sp>
        <p:nvSpPr>
          <p:cNvPr id="9" name="Text 7"/>
          <p:cNvSpPr/>
          <p:nvPr/>
        </p:nvSpPr>
        <p:spPr>
          <a:xfrm>
            <a:off x="6446520" y="1691640"/>
            <a:ext cx="5029200" cy="914400"/>
          </a:xfrm>
          <a:prstGeom prst="rect">
            <a:avLst/>
          </a:prstGeom>
          <a:noFill/>
          <a:ln/>
        </p:spPr>
        <p:txBody>
          <a:bodyPr wrap="square" lIns="0" tIns="0" rIns="0" bIns="0" rtlCol="0" anchor="t"/>
          <a:lstStyle/>
          <a:p>
            <a:pPr algn="l" indent="0" marL="0">
              <a:spcAft>
                <a:spcPts val="600"/>
              </a:spcAft>
              <a:buNone/>
            </a:pPr>
            <a:r>
              <a:rPr lang="en-US" sz="1250" b="1" dirty="0">
                <a:solidFill>
                  <a:srgbClr val="0F766E"/>
                </a:solidFill>
                <a:latin typeface="Calibri" pitchFamily="34" charset="0"/>
                <a:ea typeface="Calibri" pitchFamily="34" charset="-122"/>
                <a:cs typeface="Calibri" pitchFamily="34" charset="-120"/>
              </a:rPr>
              <a:t>The model is replaceable; the evidence chain is the product.</a:t>
            </a:r>
            <a:endParaRPr lang="en-US" sz="1250" dirty="0"/>
          </a:p>
          <a:p>
            <a:pPr algn="l" indent="0" marL="0">
              <a:buNone/>
            </a:pPr>
            <a:r>
              <a:rPr lang="en-US" sz="1200" dirty="0">
                <a:solidFill>
                  <a:srgbClr val="1F2937"/>
                </a:solidFill>
                <a:latin typeface="Calibri" pitchFamily="34" charset="0"/>
                <a:ea typeface="Calibri" pitchFamily="34" charset="-122"/>
                <a:cs typeface="Calibri" pitchFamily="34" charset="-120"/>
              </a:rPr>
              <a:t>Every other design choice in ORBIT - from point-in-time discipline to promotion gates - exists to protect the integrity of that chain, not to defend any particular model.</a:t>
            </a:r>
            <a:endParaRPr lang="en-US" sz="1250" dirty="0"/>
          </a:p>
        </p:txBody>
      </p:sp>
      <p:sp>
        <p:nvSpPr>
          <p:cNvPr id="10" name="Text 8"/>
          <p:cNvSpPr/>
          <p:nvPr/>
        </p:nvSpPr>
        <p:spPr>
          <a:xfrm>
            <a:off x="457200" y="2971800"/>
            <a:ext cx="11247120" cy="274320"/>
          </a:xfrm>
          <a:prstGeom prst="rect">
            <a:avLst/>
          </a:prstGeom>
          <a:noFill/>
          <a:ln/>
        </p:spPr>
        <p:txBody>
          <a:bodyPr wrap="square" lIns="0" tIns="0" rIns="0" bIns="0" rtlCol="0" anchor="ctr"/>
          <a:lstStyle/>
          <a:p>
            <a:pPr algn="l" indent="0" marL="0">
              <a:buNone/>
            </a:pPr>
            <a:r>
              <a:rPr lang="en-US" sz="1050" b="1" spc="400" kern="0" dirty="0">
                <a:solidFill>
                  <a:srgbClr val="0F766E"/>
                </a:solidFill>
                <a:latin typeface="Calibri" pitchFamily="34" charset="0"/>
                <a:ea typeface="Calibri" pitchFamily="34" charset="-122"/>
                <a:cs typeface="Calibri" pitchFamily="34" charset="-120"/>
              </a:rPr>
              <a:t>THE CORE LOOP</a:t>
            </a:r>
            <a:endParaRPr lang="en-US" sz="1050" dirty="0"/>
          </a:p>
        </p:txBody>
      </p:sp>
      <p:sp>
        <p:nvSpPr>
          <p:cNvPr id="11" name="Shape 9"/>
          <p:cNvSpPr/>
          <p:nvPr/>
        </p:nvSpPr>
        <p:spPr>
          <a:xfrm>
            <a:off x="466344" y="3383280"/>
            <a:ext cx="1463040" cy="502920"/>
          </a:xfrm>
          <a:prstGeom prst="roundRect">
            <a:avLst>
              <a:gd name="adj" fmla="val 18182"/>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12" name="Text 10"/>
          <p:cNvSpPr/>
          <p:nvPr/>
        </p:nvSpPr>
        <p:spPr>
          <a:xfrm>
            <a:off x="466344" y="3383280"/>
            <a:ext cx="1463040" cy="502920"/>
          </a:xfrm>
          <a:prstGeom prst="rect">
            <a:avLst/>
          </a:prstGeom>
          <a:noFill/>
          <a:ln/>
        </p:spPr>
        <p:txBody>
          <a:bodyPr wrap="square" lIns="0" tIns="0" rIns="0" bIns="0" rtlCol="0" anchor="ctr"/>
          <a:lstStyle/>
          <a:p>
            <a:pPr algn="ctr" indent="0" marL="0">
              <a:buNone/>
            </a:pPr>
            <a:r>
              <a:rPr lang="en-US" sz="1050" b="1" spc="100" kern="0" dirty="0">
                <a:solidFill>
                  <a:srgbClr val="1F2937"/>
                </a:solidFill>
                <a:latin typeface="Calibri" pitchFamily="34" charset="0"/>
                <a:ea typeface="Calibri" pitchFamily="34" charset="-122"/>
                <a:cs typeface="Calibri" pitchFamily="34" charset="-120"/>
              </a:rPr>
              <a:t>OBSERVE</a:t>
            </a:r>
            <a:endParaRPr lang="en-US" sz="1050" dirty="0"/>
          </a:p>
        </p:txBody>
      </p:sp>
      <p:sp>
        <p:nvSpPr>
          <p:cNvPr id="13" name="Shape 11"/>
          <p:cNvSpPr/>
          <p:nvPr/>
        </p:nvSpPr>
        <p:spPr>
          <a:xfrm>
            <a:off x="2093976" y="3383280"/>
            <a:ext cx="1463040" cy="502920"/>
          </a:xfrm>
          <a:prstGeom prst="roundRect">
            <a:avLst>
              <a:gd name="adj" fmla="val 18182"/>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14" name="Text 12"/>
          <p:cNvSpPr/>
          <p:nvPr/>
        </p:nvSpPr>
        <p:spPr>
          <a:xfrm>
            <a:off x="2093976" y="3383280"/>
            <a:ext cx="1463040" cy="502920"/>
          </a:xfrm>
          <a:prstGeom prst="rect">
            <a:avLst/>
          </a:prstGeom>
          <a:noFill/>
          <a:ln/>
        </p:spPr>
        <p:txBody>
          <a:bodyPr wrap="square" lIns="0" tIns="0" rIns="0" bIns="0" rtlCol="0" anchor="ctr"/>
          <a:lstStyle/>
          <a:p>
            <a:pPr algn="ctr" indent="0" marL="0">
              <a:buNone/>
            </a:pPr>
            <a:r>
              <a:rPr lang="en-US" sz="1050" b="1" spc="100" kern="0" dirty="0">
                <a:solidFill>
                  <a:srgbClr val="1F2937"/>
                </a:solidFill>
                <a:latin typeface="Calibri" pitchFamily="34" charset="0"/>
                <a:ea typeface="Calibri" pitchFamily="34" charset="-122"/>
                <a:cs typeface="Calibri" pitchFamily="34" charset="-120"/>
              </a:rPr>
              <a:t>HYPOTHESIZE</a:t>
            </a:r>
            <a:endParaRPr lang="en-US" sz="1050" dirty="0"/>
          </a:p>
        </p:txBody>
      </p:sp>
      <p:sp>
        <p:nvSpPr>
          <p:cNvPr id="15" name="Shape 13"/>
          <p:cNvSpPr/>
          <p:nvPr/>
        </p:nvSpPr>
        <p:spPr>
          <a:xfrm>
            <a:off x="3721608" y="3383280"/>
            <a:ext cx="1463040" cy="502920"/>
          </a:xfrm>
          <a:prstGeom prst="roundRect">
            <a:avLst>
              <a:gd name="adj" fmla="val 18182"/>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16" name="Text 14"/>
          <p:cNvSpPr/>
          <p:nvPr/>
        </p:nvSpPr>
        <p:spPr>
          <a:xfrm>
            <a:off x="3721608" y="3383280"/>
            <a:ext cx="1463040" cy="502920"/>
          </a:xfrm>
          <a:prstGeom prst="rect">
            <a:avLst/>
          </a:prstGeom>
          <a:noFill/>
          <a:ln/>
        </p:spPr>
        <p:txBody>
          <a:bodyPr wrap="square" lIns="0" tIns="0" rIns="0" bIns="0" rtlCol="0" anchor="ctr"/>
          <a:lstStyle/>
          <a:p>
            <a:pPr algn="ctr" indent="0" marL="0">
              <a:buNone/>
            </a:pPr>
            <a:r>
              <a:rPr lang="en-US" sz="1050" b="1" spc="100" kern="0" dirty="0">
                <a:solidFill>
                  <a:srgbClr val="1F2937"/>
                </a:solidFill>
                <a:latin typeface="Calibri" pitchFamily="34" charset="0"/>
                <a:ea typeface="Calibri" pitchFamily="34" charset="-122"/>
                <a:cs typeface="Calibri" pitchFamily="34" charset="-120"/>
              </a:rPr>
              <a:t>DEFINE LABEL</a:t>
            </a:r>
            <a:endParaRPr lang="en-US" sz="1050" dirty="0"/>
          </a:p>
        </p:txBody>
      </p:sp>
      <p:sp>
        <p:nvSpPr>
          <p:cNvPr id="17" name="Shape 15"/>
          <p:cNvSpPr/>
          <p:nvPr/>
        </p:nvSpPr>
        <p:spPr>
          <a:xfrm>
            <a:off x="5349240" y="3383280"/>
            <a:ext cx="1463040" cy="502920"/>
          </a:xfrm>
          <a:prstGeom prst="roundRect">
            <a:avLst>
              <a:gd name="adj" fmla="val 18182"/>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18" name="Text 16"/>
          <p:cNvSpPr/>
          <p:nvPr/>
        </p:nvSpPr>
        <p:spPr>
          <a:xfrm>
            <a:off x="5349240" y="3383280"/>
            <a:ext cx="1463040" cy="502920"/>
          </a:xfrm>
          <a:prstGeom prst="rect">
            <a:avLst/>
          </a:prstGeom>
          <a:noFill/>
          <a:ln/>
        </p:spPr>
        <p:txBody>
          <a:bodyPr wrap="square" lIns="0" tIns="0" rIns="0" bIns="0" rtlCol="0" anchor="ctr"/>
          <a:lstStyle/>
          <a:p>
            <a:pPr algn="ctr" indent="0" marL="0">
              <a:buNone/>
            </a:pPr>
            <a:r>
              <a:rPr lang="en-US" sz="1050" b="1" spc="100" kern="0" dirty="0">
                <a:solidFill>
                  <a:srgbClr val="1F2937"/>
                </a:solidFill>
                <a:latin typeface="Calibri" pitchFamily="34" charset="0"/>
                <a:ea typeface="Calibri" pitchFamily="34" charset="-122"/>
                <a:cs typeface="Calibri" pitchFamily="34" charset="-120"/>
              </a:rPr>
              <a:t>BUILD FEATURES</a:t>
            </a:r>
            <a:endParaRPr lang="en-US" sz="1050" dirty="0"/>
          </a:p>
        </p:txBody>
      </p:sp>
      <p:sp>
        <p:nvSpPr>
          <p:cNvPr id="19" name="Shape 17"/>
          <p:cNvSpPr/>
          <p:nvPr/>
        </p:nvSpPr>
        <p:spPr>
          <a:xfrm>
            <a:off x="6976872" y="3383280"/>
            <a:ext cx="1463040" cy="502920"/>
          </a:xfrm>
          <a:prstGeom prst="roundRect">
            <a:avLst>
              <a:gd name="adj" fmla="val 18182"/>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20" name="Text 18"/>
          <p:cNvSpPr/>
          <p:nvPr/>
        </p:nvSpPr>
        <p:spPr>
          <a:xfrm>
            <a:off x="6976872" y="3383280"/>
            <a:ext cx="1463040" cy="502920"/>
          </a:xfrm>
          <a:prstGeom prst="rect">
            <a:avLst/>
          </a:prstGeom>
          <a:noFill/>
          <a:ln/>
        </p:spPr>
        <p:txBody>
          <a:bodyPr wrap="square" lIns="0" tIns="0" rIns="0" bIns="0" rtlCol="0" anchor="ctr"/>
          <a:lstStyle/>
          <a:p>
            <a:pPr algn="ctr" indent="0" marL="0">
              <a:buNone/>
            </a:pPr>
            <a:r>
              <a:rPr lang="en-US" sz="1050" b="1" spc="100" kern="0" dirty="0">
                <a:solidFill>
                  <a:srgbClr val="1F2937"/>
                </a:solidFill>
                <a:latin typeface="Calibri" pitchFamily="34" charset="0"/>
                <a:ea typeface="Calibri" pitchFamily="34" charset="-122"/>
                <a:cs typeface="Calibri" pitchFamily="34" charset="-120"/>
              </a:rPr>
              <a:t>TRAIN</a:t>
            </a:r>
            <a:endParaRPr lang="en-US" sz="1050" dirty="0"/>
          </a:p>
        </p:txBody>
      </p:sp>
      <p:sp>
        <p:nvSpPr>
          <p:cNvPr id="21" name="Shape 19"/>
          <p:cNvSpPr/>
          <p:nvPr/>
        </p:nvSpPr>
        <p:spPr>
          <a:xfrm>
            <a:off x="8604504" y="3383280"/>
            <a:ext cx="1463040" cy="502920"/>
          </a:xfrm>
          <a:prstGeom prst="roundRect">
            <a:avLst>
              <a:gd name="adj" fmla="val 18182"/>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22" name="Text 20"/>
          <p:cNvSpPr/>
          <p:nvPr/>
        </p:nvSpPr>
        <p:spPr>
          <a:xfrm>
            <a:off x="8604504" y="3383280"/>
            <a:ext cx="1463040" cy="502920"/>
          </a:xfrm>
          <a:prstGeom prst="rect">
            <a:avLst/>
          </a:prstGeom>
          <a:noFill/>
          <a:ln/>
        </p:spPr>
        <p:txBody>
          <a:bodyPr wrap="square" lIns="0" tIns="0" rIns="0" bIns="0" rtlCol="0" anchor="ctr"/>
          <a:lstStyle/>
          <a:p>
            <a:pPr algn="ctr" indent="0" marL="0">
              <a:buNone/>
            </a:pPr>
            <a:r>
              <a:rPr lang="en-US" sz="1050" b="1" spc="100" kern="0" dirty="0">
                <a:solidFill>
                  <a:srgbClr val="1F2937"/>
                </a:solidFill>
                <a:latin typeface="Calibri" pitchFamily="34" charset="0"/>
                <a:ea typeface="Calibri" pitchFamily="34" charset="-122"/>
                <a:cs typeface="Calibri" pitchFamily="34" charset="-120"/>
              </a:rPr>
              <a:t>TEST</a:t>
            </a:r>
            <a:endParaRPr lang="en-US" sz="1050" dirty="0"/>
          </a:p>
        </p:txBody>
      </p:sp>
      <p:sp>
        <p:nvSpPr>
          <p:cNvPr id="23" name="Shape 21"/>
          <p:cNvSpPr/>
          <p:nvPr/>
        </p:nvSpPr>
        <p:spPr>
          <a:xfrm>
            <a:off x="10232136" y="3383280"/>
            <a:ext cx="1463040" cy="502920"/>
          </a:xfrm>
          <a:prstGeom prst="roundRect">
            <a:avLst>
              <a:gd name="adj" fmla="val 18182"/>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24" name="Text 22"/>
          <p:cNvSpPr/>
          <p:nvPr/>
        </p:nvSpPr>
        <p:spPr>
          <a:xfrm>
            <a:off x="10232136" y="3383280"/>
            <a:ext cx="1463040" cy="502920"/>
          </a:xfrm>
          <a:prstGeom prst="rect">
            <a:avLst/>
          </a:prstGeom>
          <a:noFill/>
          <a:ln/>
        </p:spPr>
        <p:txBody>
          <a:bodyPr wrap="square" lIns="0" tIns="0" rIns="0" bIns="0" rtlCol="0" anchor="ctr"/>
          <a:lstStyle/>
          <a:p>
            <a:pPr algn="ctr" indent="0" marL="0">
              <a:buNone/>
            </a:pPr>
            <a:r>
              <a:rPr lang="en-US" sz="1050" b="1" spc="100" kern="0" dirty="0">
                <a:solidFill>
                  <a:srgbClr val="1F2937"/>
                </a:solidFill>
                <a:latin typeface="Calibri" pitchFamily="34" charset="0"/>
                <a:ea typeface="Calibri" pitchFamily="34" charset="-122"/>
                <a:cs typeface="Calibri" pitchFamily="34" charset="-120"/>
              </a:rPr>
              <a:t>FALSIFY</a:t>
            </a:r>
            <a:endParaRPr lang="en-US" sz="1050" dirty="0"/>
          </a:p>
        </p:txBody>
      </p:sp>
      <p:sp>
        <p:nvSpPr>
          <p:cNvPr id="25" name="Shape 23"/>
          <p:cNvSpPr/>
          <p:nvPr/>
        </p:nvSpPr>
        <p:spPr>
          <a:xfrm>
            <a:off x="1883664" y="3634740"/>
            <a:ext cx="256032" cy="0"/>
          </a:xfrm>
          <a:prstGeom prst="line">
            <a:avLst/>
          </a:prstGeom>
          <a:noFill/>
          <a:ln w="19050">
            <a:solidFill>
              <a:srgbClr val="14B8A6"/>
            </a:solidFill>
            <a:prstDash val="solid"/>
            <a:headEnd type="none"/>
            <a:tailEnd type="triangle"/>
          </a:ln>
        </p:spPr>
      </p:sp>
      <p:sp>
        <p:nvSpPr>
          <p:cNvPr id="26" name="Shape 24"/>
          <p:cNvSpPr/>
          <p:nvPr/>
        </p:nvSpPr>
        <p:spPr>
          <a:xfrm>
            <a:off x="3511296" y="3634740"/>
            <a:ext cx="256032" cy="0"/>
          </a:xfrm>
          <a:prstGeom prst="line">
            <a:avLst/>
          </a:prstGeom>
          <a:noFill/>
          <a:ln w="19050">
            <a:solidFill>
              <a:srgbClr val="14B8A6"/>
            </a:solidFill>
            <a:prstDash val="solid"/>
            <a:headEnd type="none"/>
            <a:tailEnd type="triangle"/>
          </a:ln>
        </p:spPr>
      </p:sp>
      <p:sp>
        <p:nvSpPr>
          <p:cNvPr id="27" name="Shape 25"/>
          <p:cNvSpPr/>
          <p:nvPr/>
        </p:nvSpPr>
        <p:spPr>
          <a:xfrm>
            <a:off x="5138928" y="3634740"/>
            <a:ext cx="256032" cy="0"/>
          </a:xfrm>
          <a:prstGeom prst="line">
            <a:avLst/>
          </a:prstGeom>
          <a:noFill/>
          <a:ln w="19050">
            <a:solidFill>
              <a:srgbClr val="14B8A6"/>
            </a:solidFill>
            <a:prstDash val="solid"/>
            <a:headEnd type="none"/>
            <a:tailEnd type="triangle"/>
          </a:ln>
        </p:spPr>
      </p:sp>
      <p:sp>
        <p:nvSpPr>
          <p:cNvPr id="28" name="Shape 26"/>
          <p:cNvSpPr/>
          <p:nvPr/>
        </p:nvSpPr>
        <p:spPr>
          <a:xfrm>
            <a:off x="6766560" y="3634740"/>
            <a:ext cx="256032" cy="0"/>
          </a:xfrm>
          <a:prstGeom prst="line">
            <a:avLst/>
          </a:prstGeom>
          <a:noFill/>
          <a:ln w="19050">
            <a:solidFill>
              <a:srgbClr val="14B8A6"/>
            </a:solidFill>
            <a:prstDash val="solid"/>
            <a:headEnd type="none"/>
            <a:tailEnd type="triangle"/>
          </a:ln>
        </p:spPr>
      </p:sp>
      <p:sp>
        <p:nvSpPr>
          <p:cNvPr id="29" name="Shape 27"/>
          <p:cNvSpPr/>
          <p:nvPr/>
        </p:nvSpPr>
        <p:spPr>
          <a:xfrm>
            <a:off x="8394192" y="3634740"/>
            <a:ext cx="256032" cy="0"/>
          </a:xfrm>
          <a:prstGeom prst="line">
            <a:avLst/>
          </a:prstGeom>
          <a:noFill/>
          <a:ln w="19050">
            <a:solidFill>
              <a:srgbClr val="14B8A6"/>
            </a:solidFill>
            <a:prstDash val="solid"/>
            <a:headEnd type="none"/>
            <a:tailEnd type="triangle"/>
          </a:ln>
        </p:spPr>
      </p:sp>
      <p:sp>
        <p:nvSpPr>
          <p:cNvPr id="30" name="Shape 28"/>
          <p:cNvSpPr/>
          <p:nvPr/>
        </p:nvSpPr>
        <p:spPr>
          <a:xfrm>
            <a:off x="10021824" y="3634740"/>
            <a:ext cx="256032" cy="0"/>
          </a:xfrm>
          <a:prstGeom prst="line">
            <a:avLst/>
          </a:prstGeom>
          <a:noFill/>
          <a:ln w="19050">
            <a:solidFill>
              <a:srgbClr val="14B8A6"/>
            </a:solidFill>
            <a:prstDash val="solid"/>
            <a:headEnd type="none"/>
            <a:tailEnd type="triangle"/>
          </a:ln>
        </p:spPr>
      </p:sp>
      <p:sp>
        <p:nvSpPr>
          <p:cNvPr id="31" name="Shape 29"/>
          <p:cNvSpPr/>
          <p:nvPr/>
        </p:nvSpPr>
        <p:spPr>
          <a:xfrm>
            <a:off x="10232136" y="4389120"/>
            <a:ext cx="1463040" cy="502920"/>
          </a:xfrm>
          <a:prstGeom prst="roundRect">
            <a:avLst>
              <a:gd name="adj" fmla="val 18182"/>
            </a:avLst>
          </a:prstGeom>
          <a:solidFill>
            <a:srgbClr val="1A1F24"/>
          </a:solidFill>
          <a:ln w="12700">
            <a:solidFill>
              <a:srgbClr val="0F766E"/>
            </a:solidFill>
            <a:prstDash val="solid"/>
          </a:ln>
          <a:effectLst>
            <a:outerShdw sx="100000" sy="100000" kx="0" ky="0" algn="bl" rotWithShape="0" blurRad="127000" dist="38100" dir="5400000">
              <a:srgbClr val="000000">
                <a:alpha val="8000"/>
              </a:srgbClr>
            </a:outerShdw>
          </a:effectLst>
        </p:spPr>
      </p:sp>
      <p:sp>
        <p:nvSpPr>
          <p:cNvPr id="32" name="Text 30"/>
          <p:cNvSpPr/>
          <p:nvPr/>
        </p:nvSpPr>
        <p:spPr>
          <a:xfrm>
            <a:off x="10232136" y="4389120"/>
            <a:ext cx="1463040" cy="502920"/>
          </a:xfrm>
          <a:prstGeom prst="rect">
            <a:avLst/>
          </a:prstGeom>
          <a:noFill/>
          <a:ln/>
        </p:spPr>
        <p:txBody>
          <a:bodyPr wrap="square" lIns="0" tIns="0" rIns="0" bIns="0" rtlCol="0" anchor="ctr"/>
          <a:lstStyle/>
          <a:p>
            <a:pPr algn="ctr" indent="0" marL="0">
              <a:buNone/>
            </a:pPr>
            <a:r>
              <a:rPr lang="en-US" sz="1050" b="1" spc="100" kern="0" dirty="0">
                <a:solidFill>
                  <a:srgbClr val="F2F2F2"/>
                </a:solidFill>
                <a:latin typeface="Calibri" pitchFamily="34" charset="0"/>
                <a:ea typeface="Calibri" pitchFamily="34" charset="-122"/>
                <a:cs typeface="Calibri" pitchFamily="34" charset="-120"/>
              </a:rPr>
              <a:t>UPDATE</a:t>
            </a:r>
            <a:endParaRPr lang="en-US" sz="1050" dirty="0"/>
          </a:p>
        </p:txBody>
      </p:sp>
      <p:sp>
        <p:nvSpPr>
          <p:cNvPr id="33" name="Shape 31"/>
          <p:cNvSpPr/>
          <p:nvPr/>
        </p:nvSpPr>
        <p:spPr>
          <a:xfrm>
            <a:off x="8604504" y="4389120"/>
            <a:ext cx="1463040" cy="502920"/>
          </a:xfrm>
          <a:prstGeom prst="roundRect">
            <a:avLst>
              <a:gd name="adj" fmla="val 18182"/>
            </a:avLst>
          </a:prstGeom>
          <a:solidFill>
            <a:srgbClr val="1A1F24"/>
          </a:solidFill>
          <a:ln w="12700">
            <a:solidFill>
              <a:srgbClr val="0F766E"/>
            </a:solidFill>
            <a:prstDash val="solid"/>
          </a:ln>
          <a:effectLst>
            <a:outerShdw sx="100000" sy="100000" kx="0" ky="0" algn="bl" rotWithShape="0" blurRad="127000" dist="38100" dir="5400000">
              <a:srgbClr val="000000">
                <a:alpha val="8000"/>
              </a:srgbClr>
            </a:outerShdw>
          </a:effectLst>
        </p:spPr>
      </p:sp>
      <p:sp>
        <p:nvSpPr>
          <p:cNvPr id="34" name="Text 32"/>
          <p:cNvSpPr/>
          <p:nvPr/>
        </p:nvSpPr>
        <p:spPr>
          <a:xfrm>
            <a:off x="8604504" y="4389120"/>
            <a:ext cx="1463040" cy="502920"/>
          </a:xfrm>
          <a:prstGeom prst="rect">
            <a:avLst/>
          </a:prstGeom>
          <a:noFill/>
          <a:ln/>
        </p:spPr>
        <p:txBody>
          <a:bodyPr wrap="square" lIns="0" tIns="0" rIns="0" bIns="0" rtlCol="0" anchor="ctr"/>
          <a:lstStyle/>
          <a:p>
            <a:pPr algn="ctr" indent="0" marL="0">
              <a:buNone/>
            </a:pPr>
            <a:r>
              <a:rPr lang="en-US" sz="1050" b="1" spc="100" kern="0" dirty="0">
                <a:solidFill>
                  <a:srgbClr val="F2F2F2"/>
                </a:solidFill>
                <a:latin typeface="Calibri" pitchFamily="34" charset="0"/>
                <a:ea typeface="Calibri" pitchFamily="34" charset="-122"/>
                <a:cs typeface="Calibri" pitchFamily="34" charset="-120"/>
              </a:rPr>
              <a:t>DIAGNOSE</a:t>
            </a:r>
            <a:endParaRPr lang="en-US" sz="1050" dirty="0"/>
          </a:p>
        </p:txBody>
      </p:sp>
      <p:sp>
        <p:nvSpPr>
          <p:cNvPr id="35" name="Shape 33"/>
          <p:cNvSpPr/>
          <p:nvPr/>
        </p:nvSpPr>
        <p:spPr>
          <a:xfrm>
            <a:off x="6976872" y="4389120"/>
            <a:ext cx="1463040" cy="502920"/>
          </a:xfrm>
          <a:prstGeom prst="roundRect">
            <a:avLst>
              <a:gd name="adj" fmla="val 18182"/>
            </a:avLst>
          </a:prstGeom>
          <a:solidFill>
            <a:srgbClr val="1A1F24"/>
          </a:solidFill>
          <a:ln w="12700">
            <a:solidFill>
              <a:srgbClr val="0F766E"/>
            </a:solidFill>
            <a:prstDash val="solid"/>
          </a:ln>
          <a:effectLst>
            <a:outerShdw sx="100000" sy="100000" kx="0" ky="0" algn="bl" rotWithShape="0" blurRad="127000" dist="38100" dir="5400000">
              <a:srgbClr val="000000">
                <a:alpha val="8000"/>
              </a:srgbClr>
            </a:outerShdw>
          </a:effectLst>
        </p:spPr>
      </p:sp>
      <p:sp>
        <p:nvSpPr>
          <p:cNvPr id="36" name="Text 34"/>
          <p:cNvSpPr/>
          <p:nvPr/>
        </p:nvSpPr>
        <p:spPr>
          <a:xfrm>
            <a:off x="6976872" y="4389120"/>
            <a:ext cx="1463040" cy="502920"/>
          </a:xfrm>
          <a:prstGeom prst="rect">
            <a:avLst/>
          </a:prstGeom>
          <a:noFill/>
          <a:ln/>
        </p:spPr>
        <p:txBody>
          <a:bodyPr wrap="square" lIns="0" tIns="0" rIns="0" bIns="0" rtlCol="0" anchor="ctr"/>
          <a:lstStyle/>
          <a:p>
            <a:pPr algn="ctr" indent="0" marL="0">
              <a:buNone/>
            </a:pPr>
            <a:r>
              <a:rPr lang="en-US" sz="1050" b="1" spc="100" kern="0" dirty="0">
                <a:solidFill>
                  <a:srgbClr val="F2F2F2"/>
                </a:solidFill>
                <a:latin typeface="Calibri" pitchFamily="34" charset="0"/>
                <a:ea typeface="Calibri" pitchFamily="34" charset="-122"/>
                <a:cs typeface="Calibri" pitchFamily="34" charset="-120"/>
              </a:rPr>
              <a:t>PAPER</a:t>
            </a:r>
            <a:endParaRPr lang="en-US" sz="1050" dirty="0"/>
          </a:p>
        </p:txBody>
      </p:sp>
      <p:sp>
        <p:nvSpPr>
          <p:cNvPr id="37" name="Shape 35"/>
          <p:cNvSpPr/>
          <p:nvPr/>
        </p:nvSpPr>
        <p:spPr>
          <a:xfrm>
            <a:off x="5349240" y="4389120"/>
            <a:ext cx="1463040" cy="502920"/>
          </a:xfrm>
          <a:prstGeom prst="roundRect">
            <a:avLst>
              <a:gd name="adj" fmla="val 18182"/>
            </a:avLst>
          </a:prstGeom>
          <a:solidFill>
            <a:srgbClr val="1A1F24"/>
          </a:solidFill>
          <a:ln w="12700">
            <a:solidFill>
              <a:srgbClr val="0F766E"/>
            </a:solidFill>
            <a:prstDash val="solid"/>
          </a:ln>
          <a:effectLst>
            <a:outerShdw sx="100000" sy="100000" kx="0" ky="0" algn="bl" rotWithShape="0" blurRad="127000" dist="38100" dir="5400000">
              <a:srgbClr val="000000">
                <a:alpha val="8000"/>
              </a:srgbClr>
            </a:outerShdw>
          </a:effectLst>
        </p:spPr>
      </p:sp>
      <p:sp>
        <p:nvSpPr>
          <p:cNvPr id="38" name="Text 36"/>
          <p:cNvSpPr/>
          <p:nvPr/>
        </p:nvSpPr>
        <p:spPr>
          <a:xfrm>
            <a:off x="5349240" y="4389120"/>
            <a:ext cx="1463040" cy="502920"/>
          </a:xfrm>
          <a:prstGeom prst="rect">
            <a:avLst/>
          </a:prstGeom>
          <a:noFill/>
          <a:ln/>
        </p:spPr>
        <p:txBody>
          <a:bodyPr wrap="square" lIns="0" tIns="0" rIns="0" bIns="0" rtlCol="0" anchor="ctr"/>
          <a:lstStyle/>
          <a:p>
            <a:pPr algn="ctr" indent="0" marL="0">
              <a:buNone/>
            </a:pPr>
            <a:r>
              <a:rPr lang="en-US" sz="1050" b="1" spc="100" kern="0" dirty="0">
                <a:solidFill>
                  <a:srgbClr val="F2F2F2"/>
                </a:solidFill>
                <a:latin typeface="Calibri" pitchFamily="34" charset="0"/>
                <a:ea typeface="Calibri" pitchFamily="34" charset="-122"/>
                <a:cs typeface="Calibri" pitchFamily="34" charset="-120"/>
              </a:rPr>
              <a:t>RISK</a:t>
            </a:r>
            <a:endParaRPr lang="en-US" sz="1050" dirty="0"/>
          </a:p>
        </p:txBody>
      </p:sp>
      <p:sp>
        <p:nvSpPr>
          <p:cNvPr id="39" name="Shape 37"/>
          <p:cNvSpPr/>
          <p:nvPr/>
        </p:nvSpPr>
        <p:spPr>
          <a:xfrm>
            <a:off x="3721608" y="4389120"/>
            <a:ext cx="1463040" cy="502920"/>
          </a:xfrm>
          <a:prstGeom prst="roundRect">
            <a:avLst>
              <a:gd name="adj" fmla="val 18182"/>
            </a:avLst>
          </a:prstGeom>
          <a:solidFill>
            <a:srgbClr val="1A1F24"/>
          </a:solidFill>
          <a:ln w="12700">
            <a:solidFill>
              <a:srgbClr val="0F766E"/>
            </a:solidFill>
            <a:prstDash val="solid"/>
          </a:ln>
          <a:effectLst>
            <a:outerShdw sx="100000" sy="100000" kx="0" ky="0" algn="bl" rotWithShape="0" blurRad="127000" dist="38100" dir="5400000">
              <a:srgbClr val="000000">
                <a:alpha val="8000"/>
              </a:srgbClr>
            </a:outerShdw>
          </a:effectLst>
        </p:spPr>
      </p:sp>
      <p:sp>
        <p:nvSpPr>
          <p:cNvPr id="40" name="Text 38"/>
          <p:cNvSpPr/>
          <p:nvPr/>
        </p:nvSpPr>
        <p:spPr>
          <a:xfrm>
            <a:off x="3721608" y="4389120"/>
            <a:ext cx="1463040" cy="502920"/>
          </a:xfrm>
          <a:prstGeom prst="rect">
            <a:avLst/>
          </a:prstGeom>
          <a:noFill/>
          <a:ln/>
        </p:spPr>
        <p:txBody>
          <a:bodyPr wrap="square" lIns="0" tIns="0" rIns="0" bIns="0" rtlCol="0" anchor="ctr"/>
          <a:lstStyle/>
          <a:p>
            <a:pPr algn="ctr" indent="0" marL="0">
              <a:buNone/>
            </a:pPr>
            <a:r>
              <a:rPr lang="en-US" sz="1050" b="1" spc="100" kern="0" dirty="0">
                <a:solidFill>
                  <a:srgbClr val="F2F2F2"/>
                </a:solidFill>
                <a:latin typeface="Calibri" pitchFamily="34" charset="0"/>
                <a:ea typeface="Calibri" pitchFamily="34" charset="-122"/>
                <a:cs typeface="Calibri" pitchFamily="34" charset="-120"/>
              </a:rPr>
              <a:t>PORTFOLIO</a:t>
            </a:r>
            <a:endParaRPr lang="en-US" sz="1050" dirty="0"/>
          </a:p>
        </p:txBody>
      </p:sp>
      <p:sp>
        <p:nvSpPr>
          <p:cNvPr id="41" name="Shape 39"/>
          <p:cNvSpPr/>
          <p:nvPr/>
        </p:nvSpPr>
        <p:spPr>
          <a:xfrm>
            <a:off x="2093976" y="4389120"/>
            <a:ext cx="1463040" cy="502920"/>
          </a:xfrm>
          <a:prstGeom prst="roundRect">
            <a:avLst>
              <a:gd name="adj" fmla="val 18182"/>
            </a:avLst>
          </a:prstGeom>
          <a:solidFill>
            <a:srgbClr val="1A1F24"/>
          </a:solidFill>
          <a:ln w="12700">
            <a:solidFill>
              <a:srgbClr val="0F766E"/>
            </a:solidFill>
            <a:prstDash val="solid"/>
          </a:ln>
          <a:effectLst>
            <a:outerShdw sx="100000" sy="100000" kx="0" ky="0" algn="bl" rotWithShape="0" blurRad="127000" dist="38100" dir="5400000">
              <a:srgbClr val="000000">
                <a:alpha val="8000"/>
              </a:srgbClr>
            </a:outerShdw>
          </a:effectLst>
        </p:spPr>
      </p:sp>
      <p:sp>
        <p:nvSpPr>
          <p:cNvPr id="42" name="Text 40"/>
          <p:cNvSpPr/>
          <p:nvPr/>
        </p:nvSpPr>
        <p:spPr>
          <a:xfrm>
            <a:off x="2093976" y="4389120"/>
            <a:ext cx="1463040" cy="502920"/>
          </a:xfrm>
          <a:prstGeom prst="rect">
            <a:avLst/>
          </a:prstGeom>
          <a:noFill/>
          <a:ln/>
        </p:spPr>
        <p:txBody>
          <a:bodyPr wrap="square" lIns="0" tIns="0" rIns="0" bIns="0" rtlCol="0" anchor="ctr"/>
          <a:lstStyle/>
          <a:p>
            <a:pPr algn="ctr" indent="0" marL="0">
              <a:buNone/>
            </a:pPr>
            <a:r>
              <a:rPr lang="en-US" sz="1050" b="1" spc="100" kern="0" dirty="0">
                <a:solidFill>
                  <a:srgbClr val="F2F2F2"/>
                </a:solidFill>
                <a:latin typeface="Calibri" pitchFamily="34" charset="0"/>
                <a:ea typeface="Calibri" pitchFamily="34" charset="-122"/>
                <a:cs typeface="Calibri" pitchFamily="34" charset="-120"/>
              </a:rPr>
              <a:t>ROBUSTNESS</a:t>
            </a:r>
            <a:endParaRPr lang="en-US" sz="1050" dirty="0"/>
          </a:p>
        </p:txBody>
      </p:sp>
      <p:sp>
        <p:nvSpPr>
          <p:cNvPr id="43" name="Shape 41"/>
          <p:cNvSpPr/>
          <p:nvPr/>
        </p:nvSpPr>
        <p:spPr>
          <a:xfrm>
            <a:off x="10067544" y="4640580"/>
            <a:ext cx="256032" cy="0"/>
          </a:xfrm>
          <a:prstGeom prst="line">
            <a:avLst/>
          </a:prstGeom>
          <a:noFill/>
          <a:ln w="19050">
            <a:solidFill>
              <a:srgbClr val="5EEAD4"/>
            </a:solidFill>
            <a:prstDash val="solid"/>
            <a:headEnd type="triangle"/>
            <a:tailEnd type="none"/>
          </a:ln>
        </p:spPr>
      </p:sp>
      <p:sp>
        <p:nvSpPr>
          <p:cNvPr id="44" name="Shape 42"/>
          <p:cNvSpPr/>
          <p:nvPr/>
        </p:nvSpPr>
        <p:spPr>
          <a:xfrm>
            <a:off x="8439912" y="4640580"/>
            <a:ext cx="256032" cy="0"/>
          </a:xfrm>
          <a:prstGeom prst="line">
            <a:avLst/>
          </a:prstGeom>
          <a:noFill/>
          <a:ln w="19050">
            <a:solidFill>
              <a:srgbClr val="5EEAD4"/>
            </a:solidFill>
            <a:prstDash val="solid"/>
            <a:headEnd type="triangle"/>
            <a:tailEnd type="none"/>
          </a:ln>
        </p:spPr>
      </p:sp>
      <p:sp>
        <p:nvSpPr>
          <p:cNvPr id="45" name="Shape 43"/>
          <p:cNvSpPr/>
          <p:nvPr/>
        </p:nvSpPr>
        <p:spPr>
          <a:xfrm>
            <a:off x="6812280" y="4640580"/>
            <a:ext cx="256032" cy="0"/>
          </a:xfrm>
          <a:prstGeom prst="line">
            <a:avLst/>
          </a:prstGeom>
          <a:noFill/>
          <a:ln w="19050">
            <a:solidFill>
              <a:srgbClr val="5EEAD4"/>
            </a:solidFill>
            <a:prstDash val="solid"/>
            <a:headEnd type="triangle"/>
            <a:tailEnd type="none"/>
          </a:ln>
        </p:spPr>
      </p:sp>
      <p:sp>
        <p:nvSpPr>
          <p:cNvPr id="46" name="Shape 44"/>
          <p:cNvSpPr/>
          <p:nvPr/>
        </p:nvSpPr>
        <p:spPr>
          <a:xfrm>
            <a:off x="5184648" y="4640580"/>
            <a:ext cx="256032" cy="0"/>
          </a:xfrm>
          <a:prstGeom prst="line">
            <a:avLst/>
          </a:prstGeom>
          <a:noFill/>
          <a:ln w="19050">
            <a:solidFill>
              <a:srgbClr val="5EEAD4"/>
            </a:solidFill>
            <a:prstDash val="solid"/>
            <a:headEnd type="triangle"/>
            <a:tailEnd type="none"/>
          </a:ln>
        </p:spPr>
      </p:sp>
      <p:sp>
        <p:nvSpPr>
          <p:cNvPr id="47" name="Shape 45"/>
          <p:cNvSpPr/>
          <p:nvPr/>
        </p:nvSpPr>
        <p:spPr>
          <a:xfrm>
            <a:off x="3557016" y="4640580"/>
            <a:ext cx="256032" cy="0"/>
          </a:xfrm>
          <a:prstGeom prst="line">
            <a:avLst/>
          </a:prstGeom>
          <a:noFill/>
          <a:ln w="19050">
            <a:solidFill>
              <a:srgbClr val="5EEAD4"/>
            </a:solidFill>
            <a:prstDash val="solid"/>
            <a:headEnd type="triangle"/>
            <a:tailEnd type="none"/>
          </a:ln>
        </p:spPr>
      </p:sp>
      <p:sp>
        <p:nvSpPr>
          <p:cNvPr id="48" name="Shape 46"/>
          <p:cNvSpPr/>
          <p:nvPr/>
        </p:nvSpPr>
        <p:spPr>
          <a:xfrm>
            <a:off x="10963656" y="3886200"/>
            <a:ext cx="0" cy="502920"/>
          </a:xfrm>
          <a:prstGeom prst="line">
            <a:avLst/>
          </a:prstGeom>
          <a:noFill/>
          <a:ln w="19050">
            <a:solidFill>
              <a:srgbClr val="14B8A6"/>
            </a:solidFill>
            <a:prstDash val="solid"/>
            <a:tailEnd type="triangle"/>
          </a:ln>
        </p:spPr>
      </p:sp>
      <p:sp>
        <p:nvSpPr>
          <p:cNvPr id="49" name="Shape 47"/>
          <p:cNvSpPr/>
          <p:nvPr/>
        </p:nvSpPr>
        <p:spPr>
          <a:xfrm>
            <a:off x="2825496" y="4389120"/>
            <a:ext cx="0" cy="-251460"/>
          </a:xfrm>
          <a:prstGeom prst="line">
            <a:avLst/>
          </a:prstGeom>
          <a:noFill/>
          <a:ln w="19050">
            <a:solidFill>
              <a:srgbClr val="5EEAD4"/>
            </a:solidFill>
            <a:prstDash val="solid"/>
          </a:ln>
        </p:spPr>
      </p:sp>
      <p:sp>
        <p:nvSpPr>
          <p:cNvPr id="50" name="Shape 48"/>
          <p:cNvSpPr/>
          <p:nvPr/>
        </p:nvSpPr>
        <p:spPr>
          <a:xfrm>
            <a:off x="1197864" y="4137660"/>
            <a:ext cx="1627632" cy="0"/>
          </a:xfrm>
          <a:prstGeom prst="line">
            <a:avLst/>
          </a:prstGeom>
          <a:noFill/>
          <a:ln w="19050">
            <a:solidFill>
              <a:srgbClr val="5EEAD4"/>
            </a:solidFill>
            <a:prstDash val="solid"/>
          </a:ln>
        </p:spPr>
      </p:sp>
      <p:sp>
        <p:nvSpPr>
          <p:cNvPr id="51" name="Shape 49"/>
          <p:cNvSpPr/>
          <p:nvPr/>
        </p:nvSpPr>
        <p:spPr>
          <a:xfrm>
            <a:off x="1197864" y="4137660"/>
            <a:ext cx="0" cy="-251460"/>
          </a:xfrm>
          <a:prstGeom prst="line">
            <a:avLst/>
          </a:prstGeom>
          <a:noFill/>
          <a:ln w="19050">
            <a:solidFill>
              <a:srgbClr val="5EEAD4"/>
            </a:solidFill>
            <a:prstDash val="solid"/>
            <a:tailEnd type="triangle"/>
          </a:ln>
        </p:spPr>
      </p:sp>
      <p:sp>
        <p:nvSpPr>
          <p:cNvPr id="52" name="Text 50"/>
          <p:cNvSpPr/>
          <p:nvPr/>
        </p:nvSpPr>
        <p:spPr>
          <a:xfrm>
            <a:off x="457200" y="5029200"/>
            <a:ext cx="11247120" cy="27432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Each step produces a registry artifact; no step may be skipped or reordered.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Scope &amp; Universe Philosophy</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The empirical scope and the survivorship-aware universe principle that anchors every downstream measurement</a:t>
            </a:r>
            <a:endParaRPr lang="en-US" sz="1100" dirty="0"/>
          </a:p>
        </p:txBody>
      </p:sp>
      <p:sp>
        <p:nvSpPr>
          <p:cNvPr id="4" name="Text 2"/>
          <p:cNvSpPr/>
          <p:nvPr/>
        </p:nvSpPr>
        <p:spPr>
          <a:xfrm>
            <a:off x="457200" y="1216152"/>
            <a:ext cx="5120640" cy="274320"/>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SCOPE FACTS</a:t>
            </a:r>
            <a:endParaRPr lang="en-US" sz="1100" dirty="0"/>
          </a:p>
        </p:txBody>
      </p:sp>
      <p:sp>
        <p:nvSpPr>
          <p:cNvPr id="5" name="Shape 3"/>
          <p:cNvSpPr/>
          <p:nvPr/>
        </p:nvSpPr>
        <p:spPr>
          <a:xfrm>
            <a:off x="457200" y="1490472"/>
            <a:ext cx="5120640" cy="868680"/>
          </a:xfrm>
          <a:prstGeom prst="roundRect">
            <a:avLst>
              <a:gd name="adj" fmla="val 842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640080" y="1609344"/>
            <a:ext cx="1371600" cy="685800"/>
          </a:xfrm>
          <a:prstGeom prst="rect">
            <a:avLst/>
          </a:prstGeom>
          <a:noFill/>
          <a:ln/>
        </p:spPr>
        <p:txBody>
          <a:bodyPr wrap="square" lIns="0" tIns="0" rIns="0" bIns="0" rtlCol="0" anchor="ctr"/>
          <a:lstStyle/>
          <a:p>
            <a:pPr algn="l" indent="0" marL="0">
              <a:buNone/>
            </a:pPr>
            <a:r>
              <a:rPr lang="en-US" sz="1100" b="1" spc="100" kern="0" dirty="0">
                <a:solidFill>
                  <a:srgbClr val="0F766E"/>
                </a:solidFill>
                <a:latin typeface="Calibri" pitchFamily="34" charset="0"/>
                <a:ea typeface="Calibri" pitchFamily="34" charset="-122"/>
                <a:cs typeface="Calibri" pitchFamily="34" charset="-120"/>
              </a:rPr>
              <a:t>Market</a:t>
            </a:r>
            <a:endParaRPr lang="en-US" sz="1100" dirty="0"/>
          </a:p>
        </p:txBody>
      </p:sp>
      <p:sp>
        <p:nvSpPr>
          <p:cNvPr id="7" name="Text 5"/>
          <p:cNvSpPr/>
          <p:nvPr/>
        </p:nvSpPr>
        <p:spPr>
          <a:xfrm>
            <a:off x="2057400" y="1609344"/>
            <a:ext cx="3337560" cy="685800"/>
          </a:xfrm>
          <a:prstGeom prst="rect">
            <a:avLst/>
          </a:prstGeom>
          <a:noFill/>
          <a:ln/>
        </p:spPr>
        <p:txBody>
          <a:bodyPr wrap="square" lIns="0" tIns="0" rIns="0" bIns="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US equities — NYSE, NYSE American, NASDAQ listings</a:t>
            </a:r>
            <a:endParaRPr lang="en-US" sz="1200" dirty="0"/>
          </a:p>
        </p:txBody>
      </p:sp>
      <p:sp>
        <p:nvSpPr>
          <p:cNvPr id="8" name="Shape 6"/>
          <p:cNvSpPr/>
          <p:nvPr/>
        </p:nvSpPr>
        <p:spPr>
          <a:xfrm>
            <a:off x="457200" y="2450592"/>
            <a:ext cx="5120640" cy="868680"/>
          </a:xfrm>
          <a:prstGeom prst="roundRect">
            <a:avLst>
              <a:gd name="adj" fmla="val 842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640080" y="2569464"/>
            <a:ext cx="1371600" cy="685800"/>
          </a:xfrm>
          <a:prstGeom prst="rect">
            <a:avLst/>
          </a:prstGeom>
          <a:noFill/>
          <a:ln/>
        </p:spPr>
        <p:txBody>
          <a:bodyPr wrap="square" lIns="0" tIns="0" rIns="0" bIns="0" rtlCol="0" anchor="ctr"/>
          <a:lstStyle/>
          <a:p>
            <a:pPr algn="l" indent="0" marL="0">
              <a:buNone/>
            </a:pPr>
            <a:r>
              <a:rPr lang="en-US" sz="1100" b="1" spc="100" kern="0" dirty="0">
                <a:solidFill>
                  <a:srgbClr val="0F766E"/>
                </a:solidFill>
                <a:latin typeface="Calibri" pitchFamily="34" charset="0"/>
                <a:ea typeface="Calibri" pitchFamily="34" charset="-122"/>
                <a:cs typeface="Calibri" pitchFamily="34" charset="-120"/>
              </a:rPr>
              <a:t>Frequency</a:t>
            </a:r>
            <a:endParaRPr lang="en-US" sz="1100" dirty="0"/>
          </a:p>
        </p:txBody>
      </p:sp>
      <p:sp>
        <p:nvSpPr>
          <p:cNvPr id="10" name="Text 8"/>
          <p:cNvSpPr/>
          <p:nvPr/>
        </p:nvSpPr>
        <p:spPr>
          <a:xfrm>
            <a:off x="2057400" y="2569464"/>
            <a:ext cx="3337560" cy="685800"/>
          </a:xfrm>
          <a:prstGeom prst="rect">
            <a:avLst/>
          </a:prstGeom>
          <a:noFill/>
          <a:ln/>
        </p:spPr>
        <p:txBody>
          <a:bodyPr wrap="square" lIns="0" tIns="0" rIns="0" bIns="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Daily / End-of-day bars; no intraday in Phases 1–5</a:t>
            </a:r>
            <a:endParaRPr lang="en-US" sz="1200" dirty="0"/>
          </a:p>
        </p:txBody>
      </p:sp>
      <p:sp>
        <p:nvSpPr>
          <p:cNvPr id="11" name="Shape 9"/>
          <p:cNvSpPr/>
          <p:nvPr/>
        </p:nvSpPr>
        <p:spPr>
          <a:xfrm>
            <a:off x="457200" y="3410712"/>
            <a:ext cx="5120640" cy="868680"/>
          </a:xfrm>
          <a:prstGeom prst="roundRect">
            <a:avLst>
              <a:gd name="adj" fmla="val 842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2" name="Text 10"/>
          <p:cNvSpPr/>
          <p:nvPr/>
        </p:nvSpPr>
        <p:spPr>
          <a:xfrm>
            <a:off x="640080" y="3529584"/>
            <a:ext cx="1371600" cy="685800"/>
          </a:xfrm>
          <a:prstGeom prst="rect">
            <a:avLst/>
          </a:prstGeom>
          <a:noFill/>
          <a:ln/>
        </p:spPr>
        <p:txBody>
          <a:bodyPr wrap="square" lIns="0" tIns="0" rIns="0" bIns="0" rtlCol="0" anchor="ctr"/>
          <a:lstStyle/>
          <a:p>
            <a:pPr algn="l" indent="0" marL="0">
              <a:buNone/>
            </a:pPr>
            <a:r>
              <a:rPr lang="en-US" sz="1100" b="1" spc="100" kern="0" dirty="0">
                <a:solidFill>
                  <a:srgbClr val="0F766E"/>
                </a:solidFill>
                <a:latin typeface="Calibri" pitchFamily="34" charset="0"/>
                <a:ea typeface="Calibri" pitchFamily="34" charset="-122"/>
                <a:cs typeface="Calibri" pitchFamily="34" charset="-120"/>
              </a:rPr>
              <a:t>Universe size</a:t>
            </a:r>
            <a:endParaRPr lang="en-US" sz="1100" dirty="0"/>
          </a:p>
        </p:txBody>
      </p:sp>
      <p:sp>
        <p:nvSpPr>
          <p:cNvPr id="13" name="Text 11"/>
          <p:cNvSpPr/>
          <p:nvPr/>
        </p:nvSpPr>
        <p:spPr>
          <a:xfrm>
            <a:off x="2057400" y="3529584"/>
            <a:ext cx="3337560" cy="685800"/>
          </a:xfrm>
          <a:prstGeom prst="rect">
            <a:avLst/>
          </a:prstGeom>
          <a:noFill/>
          <a:ln/>
        </p:spPr>
        <p:txBody>
          <a:bodyPr wrap="square" lIns="0" tIns="0" rIns="0" bIns="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50–100 highly liquid names plus broad &amp; sector ETFs</a:t>
            </a:r>
            <a:endParaRPr lang="en-US" sz="1200" dirty="0"/>
          </a:p>
        </p:txBody>
      </p:sp>
      <p:sp>
        <p:nvSpPr>
          <p:cNvPr id="14" name="Shape 12"/>
          <p:cNvSpPr/>
          <p:nvPr/>
        </p:nvSpPr>
        <p:spPr>
          <a:xfrm>
            <a:off x="457200" y="4370832"/>
            <a:ext cx="5120640" cy="868680"/>
          </a:xfrm>
          <a:prstGeom prst="roundRect">
            <a:avLst>
              <a:gd name="adj" fmla="val 842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5" name="Text 13"/>
          <p:cNvSpPr/>
          <p:nvPr/>
        </p:nvSpPr>
        <p:spPr>
          <a:xfrm>
            <a:off x="640080" y="4489704"/>
            <a:ext cx="1371600" cy="685800"/>
          </a:xfrm>
          <a:prstGeom prst="rect">
            <a:avLst/>
          </a:prstGeom>
          <a:noFill/>
          <a:ln/>
        </p:spPr>
        <p:txBody>
          <a:bodyPr wrap="square" lIns="0" tIns="0" rIns="0" bIns="0" rtlCol="0" anchor="ctr"/>
          <a:lstStyle/>
          <a:p>
            <a:pPr algn="l" indent="0" marL="0">
              <a:buNone/>
            </a:pPr>
            <a:r>
              <a:rPr lang="en-US" sz="1100" b="1" spc="100" kern="0" dirty="0">
                <a:solidFill>
                  <a:srgbClr val="0F766E"/>
                </a:solidFill>
                <a:latin typeface="Calibri" pitchFamily="34" charset="0"/>
                <a:ea typeface="Calibri" pitchFamily="34" charset="-122"/>
                <a:cs typeface="Calibri" pitchFamily="34" charset="-120"/>
              </a:rPr>
              <a:t>Coverage span</a:t>
            </a:r>
            <a:endParaRPr lang="en-US" sz="1100" dirty="0"/>
          </a:p>
        </p:txBody>
      </p:sp>
      <p:sp>
        <p:nvSpPr>
          <p:cNvPr id="16" name="Text 14"/>
          <p:cNvSpPr/>
          <p:nvPr/>
        </p:nvSpPr>
        <p:spPr>
          <a:xfrm>
            <a:off x="2057400" y="4489704"/>
            <a:ext cx="3337560" cy="685800"/>
          </a:xfrm>
          <a:prstGeom prst="rect">
            <a:avLst/>
          </a:prstGeom>
          <a:noFill/>
          <a:ln/>
        </p:spPr>
        <p:txBody>
          <a:bodyPr wrap="square" lIns="0" tIns="0" rIns="0" bIns="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Reconstructed historically, point-in-time, delisting-aware</a:t>
            </a:r>
            <a:endParaRPr lang="en-US" sz="1200" dirty="0"/>
          </a:p>
        </p:txBody>
      </p:sp>
      <p:sp>
        <p:nvSpPr>
          <p:cNvPr id="17" name="Shape 15"/>
          <p:cNvSpPr/>
          <p:nvPr/>
        </p:nvSpPr>
        <p:spPr>
          <a:xfrm>
            <a:off x="5943600" y="1234440"/>
            <a:ext cx="5760720" cy="2286000"/>
          </a:xfrm>
          <a:prstGeom prst="roundRect">
            <a:avLst>
              <a:gd name="adj" fmla="val 3200"/>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8" name="Text 16"/>
          <p:cNvSpPr/>
          <p:nvPr/>
        </p:nvSpPr>
        <p:spPr>
          <a:xfrm>
            <a:off x="6172200" y="1399032"/>
            <a:ext cx="5303520" cy="274320"/>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UNIVERSE PRINCIPLE</a:t>
            </a:r>
            <a:endParaRPr lang="en-US" sz="1100" dirty="0"/>
          </a:p>
        </p:txBody>
      </p:sp>
      <p:sp>
        <p:nvSpPr>
          <p:cNvPr id="19" name="Text 17"/>
          <p:cNvSpPr/>
          <p:nvPr/>
        </p:nvSpPr>
        <p:spPr>
          <a:xfrm>
            <a:off x="6172200" y="1691640"/>
            <a:ext cx="5303520" cy="1691640"/>
          </a:xfrm>
          <a:prstGeom prst="rect">
            <a:avLst/>
          </a:prstGeom>
          <a:noFill/>
          <a:ln/>
        </p:spPr>
        <p:txBody>
          <a:bodyPr wrap="square" lIns="0" tIns="0" rIns="0" bIns="0" rtlCol="0" anchor="t"/>
          <a:lstStyle/>
          <a:p>
            <a:pPr algn="l" indent="0" marL="0">
              <a:spcAft>
                <a:spcPts val="600"/>
              </a:spcAft>
              <a:buNone/>
            </a:pPr>
            <a:r>
              <a:rPr lang="en-US" sz="1250" b="1" dirty="0">
                <a:solidFill>
                  <a:srgbClr val="0F766E"/>
                </a:solidFill>
                <a:latin typeface="Calibri" pitchFamily="34" charset="0"/>
                <a:ea typeface="Calibri" pitchFamily="34" charset="-122"/>
                <a:cs typeface="Calibri" pitchFamily="34" charset="-120"/>
              </a:rPr>
              <a:t>Universe membership is a historical fact, not a today-snapshot fact.</a:t>
            </a:r>
            <a:endParaRPr lang="en-US" sz="1250" dirty="0"/>
          </a:p>
          <a:p>
            <a:pPr algn="l" indent="0" marL="0">
              <a:spcAft>
                <a:spcPts val="600"/>
              </a:spcAft>
              <a:buNone/>
            </a:pPr>
            <a:r>
              <a:rPr lang="en-US" sz="1150" dirty="0">
                <a:solidFill>
                  <a:srgbClr val="1F2937"/>
                </a:solidFill>
                <a:latin typeface="Calibri" pitchFamily="34" charset="0"/>
                <a:ea typeface="Calibri" pitchFamily="34" charset="-122"/>
                <a:cs typeface="Calibri" pitchFamily="34" charset="-120"/>
              </a:rPr>
              <a:t>A name that joined the S&amp;P 500 in 2018 appears in the 2018 universe; a name delisted in 2014 leaves the universe on its delisting date, not retroactively.</a:t>
            </a:r>
            <a:endParaRPr lang="en-US" sz="1250" dirty="0"/>
          </a:p>
          <a:p>
            <a:pPr algn="l" indent="0" marL="0">
              <a:buNone/>
            </a:pPr>
            <a:r>
              <a:rPr lang="en-US" sz="1150" dirty="0">
                <a:solidFill>
                  <a:srgbClr val="1F2937"/>
                </a:solidFill>
                <a:latin typeface="Calibri" pitchFamily="34" charset="0"/>
                <a:ea typeface="Calibri" pitchFamily="34" charset="-122"/>
                <a:cs typeface="Calibri" pitchFamily="34" charset="-120"/>
              </a:rPr>
              <a:t>All measures, all label computations, and all backtests are evaluated against the universe that would have been computable on that historical date, with only the data that would have been published by that date.</a:t>
            </a:r>
            <a:endParaRPr lang="en-US" sz="1250" dirty="0"/>
          </a:p>
        </p:txBody>
      </p:sp>
      <p:sp>
        <p:nvSpPr>
          <p:cNvPr id="20" name="Shape 18"/>
          <p:cNvSpPr/>
          <p:nvPr/>
        </p:nvSpPr>
        <p:spPr>
          <a:xfrm>
            <a:off x="5943600" y="3749040"/>
            <a:ext cx="5760720" cy="1691640"/>
          </a:xfrm>
          <a:prstGeom prst="roundRect">
            <a:avLst>
              <a:gd name="adj" fmla="val 4324"/>
            </a:avLst>
          </a:prstGeom>
          <a:solidFill>
            <a:srgbClr val="111827"/>
          </a:solidFill>
          <a:ln w="6350">
            <a:solidFill>
              <a:srgbClr val="030712"/>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6108192" y="3858768"/>
            <a:ext cx="109728" cy="109728"/>
          </a:xfrm>
          <a:prstGeom prst="ellipse">
            <a:avLst/>
          </a:prstGeom>
          <a:solidFill>
            <a:srgbClr val="EF4444"/>
          </a:solidFill>
          <a:ln w="12700">
            <a:solidFill>
              <a:srgbClr val="111827"/>
            </a:solidFill>
            <a:prstDash val="solid"/>
          </a:ln>
        </p:spPr>
      </p:sp>
      <p:sp>
        <p:nvSpPr>
          <p:cNvPr id="22" name="Shape 20"/>
          <p:cNvSpPr/>
          <p:nvPr/>
        </p:nvSpPr>
        <p:spPr>
          <a:xfrm>
            <a:off x="6272784" y="3858768"/>
            <a:ext cx="109728" cy="109728"/>
          </a:xfrm>
          <a:prstGeom prst="ellipse">
            <a:avLst/>
          </a:prstGeom>
          <a:solidFill>
            <a:srgbClr val="F59E0B"/>
          </a:solidFill>
          <a:ln w="12700">
            <a:solidFill>
              <a:srgbClr val="111827"/>
            </a:solidFill>
            <a:prstDash val="solid"/>
          </a:ln>
        </p:spPr>
      </p:sp>
      <p:sp>
        <p:nvSpPr>
          <p:cNvPr id="23" name="Shape 21"/>
          <p:cNvSpPr/>
          <p:nvPr/>
        </p:nvSpPr>
        <p:spPr>
          <a:xfrm>
            <a:off x="6437376" y="3858768"/>
            <a:ext cx="109728" cy="109728"/>
          </a:xfrm>
          <a:prstGeom prst="ellipse">
            <a:avLst/>
          </a:prstGeom>
          <a:solidFill>
            <a:srgbClr val="10B981"/>
          </a:solidFill>
          <a:ln w="12700">
            <a:solidFill>
              <a:srgbClr val="111827"/>
            </a:solidFill>
            <a:prstDash val="solid"/>
          </a:ln>
        </p:spPr>
      </p:sp>
      <p:sp>
        <p:nvSpPr>
          <p:cNvPr id="24" name="Text 22"/>
          <p:cNvSpPr/>
          <p:nvPr/>
        </p:nvSpPr>
        <p:spPr>
          <a:xfrm>
            <a:off x="6126480" y="4096512"/>
            <a:ext cx="5394960" cy="1234440"/>
          </a:xfrm>
          <a:prstGeom prst="rect">
            <a:avLst/>
          </a:prstGeom>
          <a:noFill/>
          <a:ln/>
        </p:spPr>
        <p:txBody>
          <a:bodyPr wrap="square" lIns="0" tIns="0" rIns="0" bIns="0" rtlCol="0" anchor="t"/>
          <a:lstStyle/>
          <a:p>
            <a:pPr algn="l" indent="0" marL="0">
              <a:spcAft>
                <a:spcPts val="200"/>
              </a:spcAft>
              <a:buNone/>
            </a:pPr>
            <a:r>
              <a:rPr lang="en-US" sz="1200" dirty="0">
                <a:solidFill>
                  <a:srgbClr val="6B7280"/>
                </a:solidFill>
                <a:latin typeface="Courier New" pitchFamily="34" charset="0"/>
                <a:ea typeface="Courier New" pitchFamily="34" charset="-122"/>
                <a:cs typeface="Courier New" pitchFamily="34" charset="-120"/>
              </a:rPr>
              <a:t>// stable instrument identity</a:t>
            </a:r>
            <a:endParaRPr lang="en-US" sz="1200" dirty="0"/>
          </a:p>
          <a:p>
            <a:pPr algn="l" indent="0" marL="0">
              <a:spcAft>
                <a:spcPts val="200"/>
              </a:spcAft>
              <a:buNone/>
            </a:pPr>
            <a:r>
              <a:rPr lang="en-US" sz="1200" b="1" dirty="0">
                <a:solidFill>
                  <a:srgbClr val="5EEAD4"/>
                </a:solidFill>
                <a:latin typeface="Courier New" pitchFamily="34" charset="0"/>
                <a:ea typeface="Courier New" pitchFamily="34" charset="-122"/>
                <a:cs typeface="Courier New" pitchFamily="34" charset="-120"/>
              </a:rPr>
              <a:t>INS-xxxxxx</a:t>
            </a:r>
            <a:endParaRPr lang="en-US" sz="1200" dirty="0"/>
          </a:p>
          <a:p>
            <a:pPr algn="l" indent="0" marL="0">
              <a:spcAft>
                <a:spcPts val="200"/>
              </a:spcAft>
              <a:buNone/>
            </a:pPr>
            <a:endParaRPr lang="en-US" sz="1200" dirty="0"/>
          </a:p>
          <a:p>
            <a:pPr algn="l" indent="0" marL="0">
              <a:spcAft>
                <a:spcPts val="200"/>
              </a:spcAft>
              <a:buNone/>
            </a:pPr>
            <a:r>
              <a:rPr lang="en-US" sz="1200" dirty="0">
                <a:solidFill>
                  <a:srgbClr val="6B7280"/>
                </a:solidFill>
                <a:latin typeface="Courier New" pitchFamily="34" charset="0"/>
                <a:ea typeface="Courier New" pitchFamily="34" charset="-122"/>
                <a:cs typeface="Courier New" pitchFamily="34" charset="-120"/>
              </a:rPr>
              <a:t>// ticker is merely a symbol under which</a:t>
            </a:r>
            <a:endParaRPr lang="en-US" sz="1200" dirty="0"/>
          </a:p>
          <a:p>
            <a:pPr algn="l" indent="0" marL="0">
              <a:spcAft>
                <a:spcPts val="200"/>
              </a:spcAft>
              <a:buNone/>
            </a:pPr>
            <a:r>
              <a:rPr lang="en-US" sz="1200" dirty="0">
                <a:solidFill>
                  <a:srgbClr val="6B7280"/>
                </a:solidFill>
                <a:latin typeface="Courier New" pitchFamily="34" charset="0"/>
                <a:ea typeface="Courier New" pitchFamily="34" charset="-122"/>
                <a:cs typeface="Courier New" pitchFamily="34" charset="-120"/>
              </a:rPr>
              <a:t>// an instrument traded during a window</a:t>
            </a:r>
            <a:endParaRPr lang="en-US" sz="1200" dirty="0"/>
          </a:p>
          <a:p>
            <a:pPr algn="l" indent="0" marL="0">
              <a:spcAft>
                <a:spcPts val="200"/>
              </a:spcAft>
              <a:buNone/>
            </a:pPr>
            <a:r>
              <a:rPr lang="en-US" sz="1200" dirty="0">
                <a:solidFill>
                  <a:srgbClr val="5EEAD4"/>
                </a:solidFill>
                <a:latin typeface="Courier New" pitchFamily="34" charset="0"/>
                <a:ea typeface="Courier New" pitchFamily="34" charset="-122"/>
                <a:cs typeface="Courier New" pitchFamily="34" charset="-120"/>
              </a:rPr>
              <a:t>ticker     -&gt;  INS-xxxxxx</a:t>
            </a:r>
            <a:endParaRPr lang="en-US" sz="1200" dirty="0"/>
          </a:p>
        </p:txBody>
      </p:sp>
      <p:sp>
        <p:nvSpPr>
          <p:cNvPr id="25" name="Text 23"/>
          <p:cNvSpPr/>
          <p:nvPr/>
        </p:nvSpPr>
        <p:spPr>
          <a:xfrm>
            <a:off x="5943600" y="5532120"/>
            <a:ext cx="5760720" cy="502920"/>
          </a:xfrm>
          <a:prstGeom prst="rect">
            <a:avLst/>
          </a:prstGeom>
          <a:noFill/>
          <a:ln/>
        </p:spPr>
        <p:txBody>
          <a:bodyPr wrap="square" lIns="0" tIns="0" rIns="0" bIns="0" rtlCol="0" anchor="t"/>
          <a:lstStyle/>
          <a:p>
            <a:pPr algn="l" indent="0" marL="0">
              <a:buNone/>
            </a:pPr>
            <a:r>
              <a:rPr lang="en-US" sz="1050" i="1" dirty="0">
                <a:solidFill>
                  <a:srgbClr val="6B7280"/>
                </a:solidFill>
                <a:latin typeface="Calibri" pitchFamily="34" charset="0"/>
                <a:ea typeface="Calibri" pitchFamily="34" charset="-122"/>
                <a:cs typeface="Calibri" pitchFamily="34" charset="-120"/>
              </a:rPr>
              <a:t>Survivorship bias is controlled by reconstructing historical membership lists from exchange and index archives — not by querying today's constituents and projecting backward.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Temporal Truth &amp; Point-in-Time Discipline</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The single invariant that protects every measurement, mapped onto a five-field timeline</a:t>
            </a:r>
            <a:endParaRPr lang="en-US" sz="1100" dirty="0"/>
          </a:p>
        </p:txBody>
      </p:sp>
      <p:sp>
        <p:nvSpPr>
          <p:cNvPr id="4" name="Shape 2"/>
          <p:cNvSpPr/>
          <p:nvPr/>
        </p:nvSpPr>
        <p:spPr>
          <a:xfrm>
            <a:off x="457200" y="1234440"/>
            <a:ext cx="11247120" cy="1143000"/>
          </a:xfrm>
          <a:prstGeom prst="roundRect">
            <a:avLst>
              <a:gd name="adj" fmla="val 6400"/>
            </a:avLst>
          </a:prstGeom>
          <a:solidFill>
            <a:srgbClr val="111827"/>
          </a:solidFill>
          <a:ln w="6350">
            <a:solidFill>
              <a:srgbClr val="030712"/>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21792" y="1344168"/>
            <a:ext cx="109728" cy="109728"/>
          </a:xfrm>
          <a:prstGeom prst="ellipse">
            <a:avLst/>
          </a:prstGeom>
          <a:solidFill>
            <a:srgbClr val="EF4444"/>
          </a:solidFill>
          <a:ln w="12700">
            <a:solidFill>
              <a:srgbClr val="111827"/>
            </a:solidFill>
            <a:prstDash val="solid"/>
          </a:ln>
        </p:spPr>
      </p:sp>
      <p:sp>
        <p:nvSpPr>
          <p:cNvPr id="6" name="Shape 4"/>
          <p:cNvSpPr/>
          <p:nvPr/>
        </p:nvSpPr>
        <p:spPr>
          <a:xfrm>
            <a:off x="786384" y="1344168"/>
            <a:ext cx="109728" cy="109728"/>
          </a:xfrm>
          <a:prstGeom prst="ellipse">
            <a:avLst/>
          </a:prstGeom>
          <a:solidFill>
            <a:srgbClr val="F59E0B"/>
          </a:solidFill>
          <a:ln w="12700">
            <a:solidFill>
              <a:srgbClr val="111827"/>
            </a:solidFill>
            <a:prstDash val="solid"/>
          </a:ln>
        </p:spPr>
      </p:sp>
      <p:sp>
        <p:nvSpPr>
          <p:cNvPr id="7" name="Shape 5"/>
          <p:cNvSpPr/>
          <p:nvPr/>
        </p:nvSpPr>
        <p:spPr>
          <a:xfrm>
            <a:off x="950976" y="1344168"/>
            <a:ext cx="109728" cy="109728"/>
          </a:xfrm>
          <a:prstGeom prst="ellipse">
            <a:avLst/>
          </a:prstGeom>
          <a:solidFill>
            <a:srgbClr val="10B981"/>
          </a:solidFill>
          <a:ln w="12700">
            <a:solidFill>
              <a:srgbClr val="111827"/>
            </a:solidFill>
            <a:prstDash val="solid"/>
          </a:ln>
        </p:spPr>
      </p:sp>
      <p:sp>
        <p:nvSpPr>
          <p:cNvPr id="8" name="Text 6"/>
          <p:cNvSpPr/>
          <p:nvPr/>
        </p:nvSpPr>
        <p:spPr>
          <a:xfrm>
            <a:off x="640080" y="1581912"/>
            <a:ext cx="10881360" cy="685800"/>
          </a:xfrm>
          <a:prstGeom prst="rect">
            <a:avLst/>
          </a:prstGeom>
          <a:noFill/>
          <a:ln/>
        </p:spPr>
        <p:txBody>
          <a:bodyPr wrap="square" lIns="0" tIns="0" rIns="0" bIns="0" rtlCol="0" anchor="t"/>
          <a:lstStyle/>
          <a:p>
            <a:pPr algn="l" indent="0" marL="0">
              <a:spcAft>
                <a:spcPts val="200"/>
              </a:spcAft>
              <a:buNone/>
            </a:pPr>
            <a:r>
              <a:rPr lang="en-US" sz="1200" dirty="0">
                <a:solidFill>
                  <a:srgbClr val="6B7280"/>
                </a:solidFill>
                <a:latin typeface="Courier New" pitchFamily="34" charset="0"/>
                <a:ea typeface="Courier New" pitchFamily="34" charset="-122"/>
                <a:cs typeface="Courier New" pitchFamily="34" charset="-120"/>
              </a:rPr>
              <a:t>// the single invariant that protects every measurement</a:t>
            </a:r>
            <a:endParaRPr lang="en-US" sz="1200" dirty="0"/>
          </a:p>
          <a:p>
            <a:pPr algn="l" indent="0" marL="0">
              <a:spcAft>
                <a:spcPts val="200"/>
              </a:spcAft>
              <a:buNone/>
            </a:pPr>
            <a:r>
              <a:rPr lang="en-US" sz="1200" b="1" dirty="0">
                <a:solidFill>
                  <a:srgbClr val="5EEAD4"/>
                </a:solidFill>
                <a:latin typeface="Courier New" pitchFamily="34" charset="0"/>
                <a:ea typeface="Courier New" pitchFamily="34" charset="-122"/>
                <a:cs typeface="Courier New" pitchFamily="34" charset="-120"/>
              </a:rPr>
              <a:t>allowed(x, t)  &lt;=&gt;  publication_time(x) &lt; t</a:t>
            </a:r>
            <a:endParaRPr lang="en-US" sz="1200" dirty="0"/>
          </a:p>
          <a:p>
            <a:pPr algn="l" indent="0" marL="0">
              <a:spcAft>
                <a:spcPts val="200"/>
              </a:spcAft>
              <a:buNone/>
            </a:pPr>
            <a:endParaRPr lang="en-US" sz="1200" dirty="0"/>
          </a:p>
          <a:p>
            <a:pPr algn="l" indent="0" marL="0">
              <a:spcAft>
                <a:spcPts val="200"/>
              </a:spcAft>
              <a:buNone/>
            </a:pPr>
            <a:r>
              <a:rPr lang="en-US" sz="1200" dirty="0">
                <a:solidFill>
                  <a:srgbClr val="6B7280"/>
                </a:solidFill>
                <a:latin typeface="Courier New" pitchFamily="34" charset="0"/>
                <a:ea typeface="Courier New" pitchFamily="34" charset="-122"/>
                <a:cs typeface="Courier New" pitchFamily="34" charset="-120"/>
              </a:rPr>
              <a:t>// STRICT — exact ties rejected; no exceptions, no overrides</a:t>
            </a:r>
            <a:endParaRPr lang="en-US" sz="1200" dirty="0"/>
          </a:p>
        </p:txBody>
      </p:sp>
      <p:sp>
        <p:nvSpPr>
          <p:cNvPr id="9" name="Text 7"/>
          <p:cNvSpPr/>
          <p:nvPr/>
        </p:nvSpPr>
        <p:spPr>
          <a:xfrm>
            <a:off x="457200" y="2743200"/>
            <a:ext cx="11247120" cy="274320"/>
          </a:xfrm>
          <a:prstGeom prst="rect">
            <a:avLst/>
          </a:prstGeom>
          <a:noFill/>
          <a:ln/>
        </p:spPr>
        <p:txBody>
          <a:bodyPr wrap="square" lIns="0" tIns="0" rIns="0" bIns="0" rtlCol="0" anchor="ctr"/>
          <a:lstStyle/>
          <a:p>
            <a:pPr algn="l" indent="0" marL="0">
              <a:buNone/>
            </a:pPr>
            <a:r>
              <a:rPr lang="en-US" sz="1050" b="1" spc="300" kern="0" dirty="0">
                <a:solidFill>
                  <a:srgbClr val="0F766E"/>
                </a:solidFill>
                <a:latin typeface="Calibri" pitchFamily="34" charset="0"/>
                <a:ea typeface="Calibri" pitchFamily="34" charset="-122"/>
                <a:cs typeface="Calibri" pitchFamily="34" charset="-120"/>
              </a:rPr>
              <a:t>TEMPORAL FLOW — five fields on a single decision axis</a:t>
            </a:r>
            <a:endParaRPr lang="en-US" sz="1050" dirty="0"/>
          </a:p>
        </p:txBody>
      </p:sp>
      <p:sp>
        <p:nvSpPr>
          <p:cNvPr id="10" name="Shape 8"/>
          <p:cNvSpPr/>
          <p:nvPr/>
        </p:nvSpPr>
        <p:spPr>
          <a:xfrm>
            <a:off x="1005840" y="4023360"/>
            <a:ext cx="10149840" cy="0"/>
          </a:xfrm>
          <a:prstGeom prst="line">
            <a:avLst/>
          </a:prstGeom>
          <a:noFill/>
          <a:ln w="15875">
            <a:solidFill>
              <a:srgbClr val="1F2937"/>
            </a:solidFill>
            <a:prstDash val="solid"/>
          </a:ln>
        </p:spPr>
      </p:sp>
      <p:sp>
        <p:nvSpPr>
          <p:cNvPr id="11" name="Shape 9"/>
          <p:cNvSpPr/>
          <p:nvPr/>
        </p:nvSpPr>
        <p:spPr>
          <a:xfrm>
            <a:off x="1005840" y="3931920"/>
            <a:ext cx="0" cy="182880"/>
          </a:xfrm>
          <a:prstGeom prst="line">
            <a:avLst/>
          </a:prstGeom>
          <a:noFill/>
          <a:ln w="12700">
            <a:solidFill>
              <a:srgbClr val="1F2937"/>
            </a:solidFill>
            <a:prstDash val="solid"/>
          </a:ln>
        </p:spPr>
      </p:sp>
      <p:sp>
        <p:nvSpPr>
          <p:cNvPr id="12" name="Text 10"/>
          <p:cNvSpPr/>
          <p:nvPr/>
        </p:nvSpPr>
        <p:spPr>
          <a:xfrm>
            <a:off x="91440" y="3520440"/>
            <a:ext cx="1828800" cy="365760"/>
          </a:xfrm>
          <a:prstGeom prst="rect">
            <a:avLst/>
          </a:prstGeom>
          <a:noFill/>
          <a:ln/>
        </p:spPr>
        <p:txBody>
          <a:bodyPr wrap="square" lIns="0" tIns="0" rIns="0" bIns="0" rtlCol="0" anchor="ctr"/>
          <a:lstStyle/>
          <a:p>
            <a:pPr algn="ctr" indent="0" marL="0">
              <a:buNone/>
            </a:pPr>
            <a:r>
              <a:rPr lang="en-US" sz="1100" b="1" dirty="0">
                <a:solidFill>
                  <a:srgbClr val="0F766E"/>
                </a:solidFill>
                <a:latin typeface="Courier New" pitchFamily="34" charset="0"/>
                <a:ea typeface="Courier New" pitchFamily="34" charset="-122"/>
                <a:cs typeface="Courier New" pitchFamily="34" charset="-120"/>
              </a:rPr>
              <a:t>event_time</a:t>
            </a:r>
            <a:endParaRPr lang="en-US" sz="1100" dirty="0"/>
          </a:p>
        </p:txBody>
      </p:sp>
      <p:sp>
        <p:nvSpPr>
          <p:cNvPr id="13" name="Text 11"/>
          <p:cNvSpPr/>
          <p:nvPr/>
        </p:nvSpPr>
        <p:spPr>
          <a:xfrm>
            <a:off x="91440" y="4187952"/>
            <a:ext cx="1828800" cy="640080"/>
          </a:xfrm>
          <a:prstGeom prst="rect">
            <a:avLst/>
          </a:prstGeom>
          <a:noFill/>
          <a:ln/>
        </p:spPr>
        <p:txBody>
          <a:bodyPr wrap="square" lIns="0" tIns="0" rIns="0" bIns="0"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real-world occurrence</a:t>
            </a:r>
            <a:endParaRPr lang="en-US" sz="950" dirty="0"/>
          </a:p>
          <a:p>
            <a:pPr algn="ctr" indent="0" marL="0">
              <a:buNone/>
            </a:pPr>
            <a:r>
              <a:rPr lang="en-US" sz="950" dirty="0">
                <a:solidFill>
                  <a:srgbClr val="6B7280"/>
                </a:solidFill>
                <a:latin typeface="Calibri" pitchFamily="34" charset="0"/>
                <a:ea typeface="Calibri" pitchFamily="34" charset="-122"/>
                <a:cs typeface="Calibri" pitchFamily="34" charset="-120"/>
              </a:rPr>
              <a:t>(earnings release event)</a:t>
            </a:r>
            <a:endParaRPr lang="en-US" sz="950" dirty="0"/>
          </a:p>
        </p:txBody>
      </p:sp>
      <p:sp>
        <p:nvSpPr>
          <p:cNvPr id="14" name="Shape 12"/>
          <p:cNvSpPr/>
          <p:nvPr/>
        </p:nvSpPr>
        <p:spPr>
          <a:xfrm>
            <a:off x="937260" y="3954780"/>
            <a:ext cx="137160" cy="137160"/>
          </a:xfrm>
          <a:prstGeom prst="ellipse">
            <a:avLst/>
          </a:prstGeom>
          <a:solidFill>
            <a:srgbClr val="14B8A6"/>
          </a:solidFill>
          <a:ln w="19050">
            <a:solidFill>
              <a:srgbClr val="FFFFFF"/>
            </a:solidFill>
            <a:prstDash val="solid"/>
          </a:ln>
        </p:spPr>
      </p:sp>
      <p:sp>
        <p:nvSpPr>
          <p:cNvPr id="15" name="Shape 13"/>
          <p:cNvSpPr/>
          <p:nvPr/>
        </p:nvSpPr>
        <p:spPr>
          <a:xfrm>
            <a:off x="3543300" y="3931920"/>
            <a:ext cx="0" cy="182880"/>
          </a:xfrm>
          <a:prstGeom prst="line">
            <a:avLst/>
          </a:prstGeom>
          <a:noFill/>
          <a:ln w="12700">
            <a:solidFill>
              <a:srgbClr val="1F2937"/>
            </a:solidFill>
            <a:prstDash val="solid"/>
          </a:ln>
        </p:spPr>
      </p:sp>
      <p:sp>
        <p:nvSpPr>
          <p:cNvPr id="16" name="Text 14"/>
          <p:cNvSpPr/>
          <p:nvPr/>
        </p:nvSpPr>
        <p:spPr>
          <a:xfrm>
            <a:off x="2628900" y="3520440"/>
            <a:ext cx="1828800" cy="365760"/>
          </a:xfrm>
          <a:prstGeom prst="rect">
            <a:avLst/>
          </a:prstGeom>
          <a:noFill/>
          <a:ln/>
        </p:spPr>
        <p:txBody>
          <a:bodyPr wrap="square" lIns="0" tIns="0" rIns="0" bIns="0" rtlCol="0" anchor="ctr"/>
          <a:lstStyle/>
          <a:p>
            <a:pPr algn="ctr" indent="0" marL="0">
              <a:buNone/>
            </a:pPr>
            <a:r>
              <a:rPr lang="en-US" sz="1100" b="1" dirty="0">
                <a:solidFill>
                  <a:srgbClr val="0F766E"/>
                </a:solidFill>
                <a:latin typeface="Courier New" pitchFamily="34" charset="0"/>
                <a:ea typeface="Courier New" pitchFamily="34" charset="-122"/>
                <a:cs typeface="Courier New" pitchFamily="34" charset="-120"/>
              </a:rPr>
              <a:t>publication_time</a:t>
            </a:r>
            <a:endParaRPr lang="en-US" sz="1100" dirty="0"/>
          </a:p>
        </p:txBody>
      </p:sp>
      <p:sp>
        <p:nvSpPr>
          <p:cNvPr id="17" name="Text 15"/>
          <p:cNvSpPr/>
          <p:nvPr/>
        </p:nvSpPr>
        <p:spPr>
          <a:xfrm>
            <a:off x="2628900" y="4187952"/>
            <a:ext cx="1828800" cy="640080"/>
          </a:xfrm>
          <a:prstGeom prst="rect">
            <a:avLst/>
          </a:prstGeom>
          <a:noFill/>
          <a:ln/>
        </p:spPr>
        <p:txBody>
          <a:bodyPr wrap="square" lIns="0" tIns="0" rIns="0" bIns="0"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when info became available</a:t>
            </a:r>
            <a:endParaRPr lang="en-US" sz="950" dirty="0"/>
          </a:p>
          <a:p>
            <a:pPr algn="ctr" indent="0" marL="0">
              <a:buNone/>
            </a:pPr>
            <a:r>
              <a:rPr lang="en-US" sz="950" dirty="0">
                <a:solidFill>
                  <a:srgbClr val="6B7280"/>
                </a:solidFill>
                <a:latin typeface="Calibri" pitchFamily="34" charset="0"/>
                <a:ea typeface="Calibri" pitchFamily="34" charset="-122"/>
                <a:cs typeface="Calibri" pitchFamily="34" charset="-120"/>
              </a:rPr>
              <a:t>(next-day 00:00 UTC for date-precision)</a:t>
            </a:r>
            <a:endParaRPr lang="en-US" sz="950" dirty="0"/>
          </a:p>
        </p:txBody>
      </p:sp>
      <p:sp>
        <p:nvSpPr>
          <p:cNvPr id="18" name="Shape 16"/>
          <p:cNvSpPr/>
          <p:nvPr/>
        </p:nvSpPr>
        <p:spPr>
          <a:xfrm>
            <a:off x="3474720" y="3954780"/>
            <a:ext cx="137160" cy="137160"/>
          </a:xfrm>
          <a:prstGeom prst="ellipse">
            <a:avLst/>
          </a:prstGeom>
          <a:solidFill>
            <a:srgbClr val="14B8A6"/>
          </a:solidFill>
          <a:ln w="19050">
            <a:solidFill>
              <a:srgbClr val="FFFFFF"/>
            </a:solidFill>
            <a:prstDash val="solid"/>
          </a:ln>
        </p:spPr>
      </p:sp>
      <p:sp>
        <p:nvSpPr>
          <p:cNvPr id="19" name="Shape 17"/>
          <p:cNvSpPr/>
          <p:nvPr/>
        </p:nvSpPr>
        <p:spPr>
          <a:xfrm>
            <a:off x="6080760" y="3931920"/>
            <a:ext cx="0" cy="182880"/>
          </a:xfrm>
          <a:prstGeom prst="line">
            <a:avLst/>
          </a:prstGeom>
          <a:noFill/>
          <a:ln w="12700">
            <a:solidFill>
              <a:srgbClr val="1F2937"/>
            </a:solidFill>
            <a:prstDash val="solid"/>
          </a:ln>
        </p:spPr>
      </p:sp>
      <p:sp>
        <p:nvSpPr>
          <p:cNvPr id="20" name="Text 18"/>
          <p:cNvSpPr/>
          <p:nvPr/>
        </p:nvSpPr>
        <p:spPr>
          <a:xfrm>
            <a:off x="5166360" y="3520440"/>
            <a:ext cx="1828800" cy="365760"/>
          </a:xfrm>
          <a:prstGeom prst="rect">
            <a:avLst/>
          </a:prstGeom>
          <a:noFill/>
          <a:ln/>
        </p:spPr>
        <p:txBody>
          <a:bodyPr wrap="square" lIns="0" tIns="0" rIns="0" bIns="0" rtlCol="0" anchor="ctr"/>
          <a:lstStyle/>
          <a:p>
            <a:pPr algn="ctr" indent="0" marL="0">
              <a:buNone/>
            </a:pPr>
            <a:r>
              <a:rPr lang="en-US" sz="1100" b="1" dirty="0">
                <a:solidFill>
                  <a:srgbClr val="0F766E"/>
                </a:solidFill>
                <a:latin typeface="Courier New" pitchFamily="34" charset="0"/>
                <a:ea typeface="Courier New" pitchFamily="34" charset="-122"/>
                <a:cs typeface="Courier New" pitchFamily="34" charset="-120"/>
              </a:rPr>
              <a:t>effective_time</a:t>
            </a:r>
            <a:endParaRPr lang="en-US" sz="1100" dirty="0"/>
          </a:p>
        </p:txBody>
      </p:sp>
      <p:sp>
        <p:nvSpPr>
          <p:cNvPr id="21" name="Text 19"/>
          <p:cNvSpPr/>
          <p:nvPr/>
        </p:nvSpPr>
        <p:spPr>
          <a:xfrm>
            <a:off x="5166360" y="4187952"/>
            <a:ext cx="1828800" cy="640080"/>
          </a:xfrm>
          <a:prstGeom prst="rect">
            <a:avLst/>
          </a:prstGeom>
          <a:noFill/>
          <a:ln/>
        </p:spPr>
        <p:txBody>
          <a:bodyPr wrap="square" lIns="0" tIns="0" rIns="0" bIns="0"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date to which data refers</a:t>
            </a:r>
            <a:endParaRPr lang="en-US" sz="950" dirty="0"/>
          </a:p>
          <a:p>
            <a:pPr algn="ctr" indent="0" marL="0">
              <a:buNone/>
            </a:pPr>
            <a:r>
              <a:rPr lang="en-US" sz="950" dirty="0">
                <a:solidFill>
                  <a:srgbClr val="6B7280"/>
                </a:solidFill>
                <a:latin typeface="Calibri" pitchFamily="34" charset="0"/>
                <a:ea typeface="Calibri" pitchFamily="34" charset="-122"/>
                <a:cs typeface="Calibri" pitchFamily="34" charset="-120"/>
              </a:rPr>
              <a:t>(balance-sheet date, etc.)</a:t>
            </a:r>
            <a:endParaRPr lang="en-US" sz="950" dirty="0"/>
          </a:p>
        </p:txBody>
      </p:sp>
      <p:sp>
        <p:nvSpPr>
          <p:cNvPr id="22" name="Shape 20"/>
          <p:cNvSpPr/>
          <p:nvPr/>
        </p:nvSpPr>
        <p:spPr>
          <a:xfrm>
            <a:off x="6012180" y="3954780"/>
            <a:ext cx="137160" cy="137160"/>
          </a:xfrm>
          <a:prstGeom prst="ellipse">
            <a:avLst/>
          </a:prstGeom>
          <a:solidFill>
            <a:srgbClr val="14B8A6"/>
          </a:solidFill>
          <a:ln w="19050">
            <a:solidFill>
              <a:srgbClr val="FFFFFF"/>
            </a:solidFill>
            <a:prstDash val="solid"/>
          </a:ln>
        </p:spPr>
      </p:sp>
      <p:sp>
        <p:nvSpPr>
          <p:cNvPr id="23" name="Shape 21"/>
          <p:cNvSpPr/>
          <p:nvPr/>
        </p:nvSpPr>
        <p:spPr>
          <a:xfrm>
            <a:off x="8618220" y="3931920"/>
            <a:ext cx="0" cy="182880"/>
          </a:xfrm>
          <a:prstGeom prst="line">
            <a:avLst/>
          </a:prstGeom>
          <a:noFill/>
          <a:ln w="12700">
            <a:solidFill>
              <a:srgbClr val="1F2937"/>
            </a:solidFill>
            <a:prstDash val="solid"/>
          </a:ln>
        </p:spPr>
      </p:sp>
      <p:sp>
        <p:nvSpPr>
          <p:cNvPr id="24" name="Text 22"/>
          <p:cNvSpPr/>
          <p:nvPr/>
        </p:nvSpPr>
        <p:spPr>
          <a:xfrm>
            <a:off x="7703820" y="3520440"/>
            <a:ext cx="1828800" cy="365760"/>
          </a:xfrm>
          <a:prstGeom prst="rect">
            <a:avLst/>
          </a:prstGeom>
          <a:noFill/>
          <a:ln/>
        </p:spPr>
        <p:txBody>
          <a:bodyPr wrap="square" lIns="0" tIns="0" rIns="0" bIns="0" rtlCol="0" anchor="ctr"/>
          <a:lstStyle/>
          <a:p>
            <a:pPr algn="ctr" indent="0" marL="0">
              <a:buNone/>
            </a:pPr>
            <a:r>
              <a:rPr lang="en-US" sz="1100" b="1" dirty="0">
                <a:solidFill>
                  <a:srgbClr val="0F766E"/>
                </a:solidFill>
                <a:latin typeface="Courier New" pitchFamily="34" charset="0"/>
                <a:ea typeface="Courier New" pitchFamily="34" charset="-122"/>
                <a:cs typeface="Courier New" pitchFamily="34" charset="-120"/>
              </a:rPr>
              <a:t>ingestion_time</a:t>
            </a:r>
            <a:endParaRPr lang="en-US" sz="1100" dirty="0"/>
          </a:p>
        </p:txBody>
      </p:sp>
      <p:sp>
        <p:nvSpPr>
          <p:cNvPr id="25" name="Text 23"/>
          <p:cNvSpPr/>
          <p:nvPr/>
        </p:nvSpPr>
        <p:spPr>
          <a:xfrm>
            <a:off x="7703820" y="4187952"/>
            <a:ext cx="1828800" cy="640080"/>
          </a:xfrm>
          <a:prstGeom prst="rect">
            <a:avLst/>
          </a:prstGeom>
          <a:noFill/>
          <a:ln/>
        </p:spPr>
        <p:txBody>
          <a:bodyPr wrap="square" lIns="0" tIns="0" rIns="0" bIns="0"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when ORBIT received the data</a:t>
            </a:r>
            <a:endParaRPr lang="en-US" sz="950" dirty="0"/>
          </a:p>
          <a:p>
            <a:pPr algn="ctr" indent="0" marL="0">
              <a:buNone/>
            </a:pPr>
            <a:r>
              <a:rPr lang="en-US" sz="950" dirty="0">
                <a:solidFill>
                  <a:srgbClr val="6B7280"/>
                </a:solidFill>
                <a:latin typeface="Calibri" pitchFamily="34" charset="0"/>
                <a:ea typeface="Calibri" pitchFamily="34" charset="-122"/>
                <a:cs typeface="Calibri" pitchFamily="34" charset="-120"/>
              </a:rPr>
              <a:t>(must be &gt; publication_time)</a:t>
            </a:r>
            <a:endParaRPr lang="en-US" sz="950" dirty="0"/>
          </a:p>
        </p:txBody>
      </p:sp>
      <p:sp>
        <p:nvSpPr>
          <p:cNvPr id="26" name="Shape 24"/>
          <p:cNvSpPr/>
          <p:nvPr/>
        </p:nvSpPr>
        <p:spPr>
          <a:xfrm>
            <a:off x="8549640" y="3954780"/>
            <a:ext cx="137160" cy="137160"/>
          </a:xfrm>
          <a:prstGeom prst="ellipse">
            <a:avLst/>
          </a:prstGeom>
          <a:solidFill>
            <a:srgbClr val="14B8A6"/>
          </a:solidFill>
          <a:ln w="19050">
            <a:solidFill>
              <a:srgbClr val="FFFFFF"/>
            </a:solidFill>
            <a:prstDash val="solid"/>
          </a:ln>
        </p:spPr>
      </p:sp>
      <p:sp>
        <p:nvSpPr>
          <p:cNvPr id="27" name="Shape 25"/>
          <p:cNvSpPr/>
          <p:nvPr/>
        </p:nvSpPr>
        <p:spPr>
          <a:xfrm>
            <a:off x="11155680" y="3931920"/>
            <a:ext cx="0" cy="182880"/>
          </a:xfrm>
          <a:prstGeom prst="line">
            <a:avLst/>
          </a:prstGeom>
          <a:noFill/>
          <a:ln w="12700">
            <a:solidFill>
              <a:srgbClr val="1F2937"/>
            </a:solidFill>
            <a:prstDash val="solid"/>
          </a:ln>
        </p:spPr>
      </p:sp>
      <p:sp>
        <p:nvSpPr>
          <p:cNvPr id="28" name="Text 26"/>
          <p:cNvSpPr/>
          <p:nvPr/>
        </p:nvSpPr>
        <p:spPr>
          <a:xfrm>
            <a:off x="10241280" y="3520440"/>
            <a:ext cx="1828800" cy="365760"/>
          </a:xfrm>
          <a:prstGeom prst="rect">
            <a:avLst/>
          </a:prstGeom>
          <a:noFill/>
          <a:ln/>
        </p:spPr>
        <p:txBody>
          <a:bodyPr wrap="square" lIns="0" tIns="0" rIns="0" bIns="0" rtlCol="0" anchor="ctr"/>
          <a:lstStyle/>
          <a:p>
            <a:pPr algn="ctr" indent="0" marL="0">
              <a:buNone/>
            </a:pPr>
            <a:r>
              <a:rPr lang="en-US" sz="1100" b="1" dirty="0">
                <a:solidFill>
                  <a:srgbClr val="0F766E"/>
                </a:solidFill>
                <a:latin typeface="Courier New" pitchFamily="34" charset="0"/>
                <a:ea typeface="Courier New" pitchFamily="34" charset="-122"/>
                <a:cs typeface="Courier New" pitchFamily="34" charset="-120"/>
              </a:rPr>
              <a:t>decision_time</a:t>
            </a:r>
            <a:endParaRPr lang="en-US" sz="1100" dirty="0"/>
          </a:p>
        </p:txBody>
      </p:sp>
      <p:sp>
        <p:nvSpPr>
          <p:cNvPr id="29" name="Text 27"/>
          <p:cNvSpPr/>
          <p:nvPr/>
        </p:nvSpPr>
        <p:spPr>
          <a:xfrm>
            <a:off x="10241280" y="4187952"/>
            <a:ext cx="1828800" cy="640080"/>
          </a:xfrm>
          <a:prstGeom prst="rect">
            <a:avLst/>
          </a:prstGeom>
          <a:noFill/>
          <a:ln/>
        </p:spPr>
        <p:txBody>
          <a:bodyPr wrap="square" lIns="0" tIns="0" rIns="0" bIns="0"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model decision instant</a:t>
            </a:r>
            <a:endParaRPr lang="en-US" sz="950" dirty="0"/>
          </a:p>
          <a:p>
            <a:pPr algn="ctr" indent="0" marL="0">
              <a:buNone/>
            </a:pPr>
            <a:r>
              <a:rPr lang="en-US" sz="950" dirty="0">
                <a:solidFill>
                  <a:srgbClr val="6B7280"/>
                </a:solidFill>
                <a:latin typeface="Calibri" pitchFamily="34" charset="0"/>
                <a:ea typeface="Calibri" pitchFamily="34" charset="-122"/>
                <a:cs typeface="Calibri" pitchFamily="34" charset="-120"/>
              </a:rPr>
              <a:t>(bars only after session close)</a:t>
            </a:r>
            <a:endParaRPr lang="en-US" sz="950" dirty="0"/>
          </a:p>
        </p:txBody>
      </p:sp>
      <p:sp>
        <p:nvSpPr>
          <p:cNvPr id="30" name="Shape 28"/>
          <p:cNvSpPr/>
          <p:nvPr/>
        </p:nvSpPr>
        <p:spPr>
          <a:xfrm>
            <a:off x="11087100" y="3954780"/>
            <a:ext cx="137160" cy="137160"/>
          </a:xfrm>
          <a:prstGeom prst="ellipse">
            <a:avLst/>
          </a:prstGeom>
          <a:solidFill>
            <a:srgbClr val="14B8A6"/>
          </a:solidFill>
          <a:ln w="19050">
            <a:solidFill>
              <a:srgbClr val="FFFFFF"/>
            </a:solidFill>
            <a:prstDash val="solid"/>
          </a:ln>
        </p:spPr>
      </p:sp>
      <p:sp>
        <p:nvSpPr>
          <p:cNvPr id="31" name="Shape 29"/>
          <p:cNvSpPr/>
          <p:nvPr/>
        </p:nvSpPr>
        <p:spPr>
          <a:xfrm>
            <a:off x="4431411" y="3730752"/>
            <a:ext cx="6724269" cy="585216"/>
          </a:xfrm>
          <a:prstGeom prst="rect">
            <a:avLst/>
          </a:prstGeom>
          <a:solidFill>
            <a:srgbClr val="14B8A6">
              <a:alpha val="20000"/>
            </a:srgbClr>
          </a:solidFill>
          <a:ln w="6350">
            <a:solidFill>
              <a:srgbClr val="14B8A6">
                <a:alpha val="40000"/>
              </a:srgbClr>
            </a:solidFill>
            <a:prstDash val="dash"/>
          </a:ln>
        </p:spPr>
      </p:sp>
      <p:sp>
        <p:nvSpPr>
          <p:cNvPr id="32" name="Shape 30"/>
          <p:cNvSpPr/>
          <p:nvPr/>
        </p:nvSpPr>
        <p:spPr>
          <a:xfrm>
            <a:off x="4431411" y="3520440"/>
            <a:ext cx="0" cy="1005840"/>
          </a:xfrm>
          <a:prstGeom prst="line">
            <a:avLst/>
          </a:prstGeom>
          <a:noFill/>
          <a:ln w="28575">
            <a:solidFill>
              <a:srgbClr val="14B8A6"/>
            </a:solidFill>
            <a:prstDash val="solid"/>
          </a:ln>
        </p:spPr>
      </p:sp>
      <p:sp>
        <p:nvSpPr>
          <p:cNvPr id="33" name="Shape 31"/>
          <p:cNvSpPr/>
          <p:nvPr/>
        </p:nvSpPr>
        <p:spPr>
          <a:xfrm>
            <a:off x="3014091" y="2971800"/>
            <a:ext cx="2834640" cy="502920"/>
          </a:xfrm>
          <a:prstGeom prst="roundRect">
            <a:avLst>
              <a:gd name="adj" fmla="val 10909"/>
            </a:avLst>
          </a:prstGeom>
          <a:solidFill>
            <a:srgbClr val="FFFFFF"/>
          </a:solidFill>
          <a:ln w="9525">
            <a:solidFill>
              <a:srgbClr val="14B8A6"/>
            </a:solidFill>
            <a:prstDash val="solid"/>
          </a:ln>
          <a:effectLst>
            <a:outerShdw sx="100000" sy="100000" kx="0" ky="0" algn="bl" rotWithShape="0" blurRad="127000" dist="38100" dir="5400000">
              <a:srgbClr val="000000">
                <a:alpha val="8000"/>
              </a:srgbClr>
            </a:outerShdw>
          </a:effectLst>
        </p:spPr>
      </p:sp>
      <p:sp>
        <p:nvSpPr>
          <p:cNvPr id="34" name="Text 32"/>
          <p:cNvSpPr/>
          <p:nvPr/>
        </p:nvSpPr>
        <p:spPr>
          <a:xfrm>
            <a:off x="3059811" y="3017520"/>
            <a:ext cx="2743200" cy="411480"/>
          </a:xfrm>
          <a:prstGeom prst="rect">
            <a:avLst/>
          </a:prstGeom>
          <a:noFill/>
          <a:ln/>
        </p:spPr>
        <p:txBody>
          <a:bodyPr wrap="square" lIns="0" tIns="0" rIns="0" bIns="0" rtlCol="0" anchor="ctr"/>
          <a:lstStyle/>
          <a:p>
            <a:pPr algn="ctr" indent="0" marL="0">
              <a:spcAft>
                <a:spcPts val="200"/>
              </a:spcAft>
              <a:buNone/>
            </a:pPr>
            <a:r>
              <a:rPr lang="en-US" sz="1100" b="1" dirty="0">
                <a:solidFill>
                  <a:srgbClr val="0F766E"/>
                </a:solidFill>
                <a:latin typeface="Courier New" pitchFamily="34" charset="0"/>
                <a:ea typeface="Courier New" pitchFamily="34" charset="-122"/>
                <a:cs typeface="Courier New" pitchFamily="34" charset="-120"/>
              </a:rPr>
              <a:t>publication_time  &lt;  decision_time</a:t>
            </a:r>
            <a:endParaRPr lang="en-US" sz="1100" dirty="0"/>
          </a:p>
          <a:p>
            <a:pPr algn="ctr" indent="0" marL="0">
              <a:buNone/>
            </a:pPr>
            <a:r>
              <a:rPr lang="en-US" sz="950" i="1" dirty="0">
                <a:solidFill>
                  <a:srgbClr val="6B7280"/>
                </a:solidFill>
                <a:latin typeface="Calibri" pitchFamily="34" charset="0"/>
                <a:ea typeface="Calibri" pitchFamily="34" charset="-122"/>
                <a:cs typeface="Calibri" pitchFamily="34" charset="-120"/>
              </a:rPr>
              <a:t>exact ties rejected</a:t>
            </a:r>
            <a:endParaRPr lang="en-US" sz="1100" dirty="0"/>
          </a:p>
        </p:txBody>
      </p:sp>
      <p:sp>
        <p:nvSpPr>
          <p:cNvPr id="35" name="Shape 33"/>
          <p:cNvSpPr/>
          <p:nvPr/>
        </p:nvSpPr>
        <p:spPr>
          <a:xfrm>
            <a:off x="457200" y="4983480"/>
            <a:ext cx="11247120" cy="868680"/>
          </a:xfrm>
          <a:prstGeom prst="roundRect">
            <a:avLst>
              <a:gd name="adj" fmla="val 842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36" name="Text 34"/>
          <p:cNvSpPr/>
          <p:nvPr/>
        </p:nvSpPr>
        <p:spPr>
          <a:xfrm>
            <a:off x="685800" y="5102352"/>
            <a:ext cx="10789920" cy="685800"/>
          </a:xfrm>
          <a:prstGeom prst="rect">
            <a:avLst/>
          </a:prstGeom>
          <a:noFill/>
          <a:ln/>
        </p:spPr>
        <p:txBody>
          <a:bodyPr wrap="square" lIns="0" tIns="0" rIns="0" bIns="0" rtlCol="0" anchor="t"/>
          <a:lstStyle/>
          <a:p>
            <a:pPr algn="l" marL="152400" indent="-1524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All timestamps normalized to naive UTC; market bars (16:00 America/New_York) converted to UTC at session close.</a:t>
            </a:r>
            <a:endParaRPr lang="en-US" sz="1050" dirty="0"/>
          </a:p>
          <a:p>
            <a:pPr algn="l" marL="152400" indent="-152400">
              <a:buSzPct val="100000"/>
              <a:buChar char="•"/>
            </a:pPr>
            <a:r>
              <a:rPr lang="en-US" sz="1050" dirty="0">
                <a:solidFill>
                  <a:srgbClr val="1F2937"/>
                </a:solidFill>
                <a:latin typeface="Calibri" pitchFamily="34" charset="0"/>
                <a:ea typeface="Calibri" pitchFamily="34" charset="-122"/>
                <a:cs typeface="Calibri" pitchFamily="34" charset="-120"/>
              </a:rPr>
              <a:t>Date-precision publications become available at next-day 00:00 UTC; the invariant treats ties as forbidden either way.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Labeling &amp; Outcome Engine (Phase 5)</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Every prediction is an immutable, versioned LabelContract</a:t>
            </a:r>
            <a:endParaRPr lang="en-US" sz="1100" dirty="0"/>
          </a:p>
        </p:txBody>
      </p:sp>
      <p:sp>
        <p:nvSpPr>
          <p:cNvPr id="4" name="Text 2"/>
          <p:cNvSpPr/>
          <p:nvPr/>
        </p:nvSpPr>
        <p:spPr>
          <a:xfrm>
            <a:off x="457200" y="1234440"/>
            <a:ext cx="5852160" cy="1371600"/>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Every prediction ORBIT makes is materialized as an immutable, versioned LabelContract. The contract binds a hypothesis identifier, an instrument, a decision instant, an anchor mode, a horizon, and an outcome definition. Once written, the contract and its computed outcome never change; subsequent revisions produce a new contract version, leaving the original reproducible. This is what makes every backtest number re-runnable years later.</a:t>
            </a:r>
            <a:endParaRPr lang="en-US" sz="1150" dirty="0"/>
          </a:p>
        </p:txBody>
      </p:sp>
      <p:sp>
        <p:nvSpPr>
          <p:cNvPr id="5" name="Shape 3"/>
          <p:cNvSpPr/>
          <p:nvPr/>
        </p:nvSpPr>
        <p:spPr>
          <a:xfrm>
            <a:off x="457200" y="2697480"/>
            <a:ext cx="5852160" cy="3246120"/>
          </a:xfrm>
          <a:prstGeom prst="roundRect">
            <a:avLst>
              <a:gd name="adj" fmla="val 2254"/>
            </a:avLst>
          </a:prstGeom>
          <a:solidFill>
            <a:srgbClr val="111827"/>
          </a:solidFill>
          <a:ln w="6350">
            <a:solidFill>
              <a:srgbClr val="030712"/>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621792" y="2807208"/>
            <a:ext cx="109728" cy="109728"/>
          </a:xfrm>
          <a:prstGeom prst="ellipse">
            <a:avLst/>
          </a:prstGeom>
          <a:solidFill>
            <a:srgbClr val="EF4444"/>
          </a:solidFill>
          <a:ln w="12700">
            <a:solidFill>
              <a:srgbClr val="111827"/>
            </a:solidFill>
            <a:prstDash val="solid"/>
          </a:ln>
        </p:spPr>
      </p:sp>
      <p:sp>
        <p:nvSpPr>
          <p:cNvPr id="7" name="Shape 5"/>
          <p:cNvSpPr/>
          <p:nvPr/>
        </p:nvSpPr>
        <p:spPr>
          <a:xfrm>
            <a:off x="786384" y="2807208"/>
            <a:ext cx="109728" cy="109728"/>
          </a:xfrm>
          <a:prstGeom prst="ellipse">
            <a:avLst/>
          </a:prstGeom>
          <a:solidFill>
            <a:srgbClr val="F59E0B"/>
          </a:solidFill>
          <a:ln w="12700">
            <a:solidFill>
              <a:srgbClr val="111827"/>
            </a:solidFill>
            <a:prstDash val="solid"/>
          </a:ln>
        </p:spPr>
      </p:sp>
      <p:sp>
        <p:nvSpPr>
          <p:cNvPr id="8" name="Shape 6"/>
          <p:cNvSpPr/>
          <p:nvPr/>
        </p:nvSpPr>
        <p:spPr>
          <a:xfrm>
            <a:off x="950976" y="2807208"/>
            <a:ext cx="109728" cy="109728"/>
          </a:xfrm>
          <a:prstGeom prst="ellipse">
            <a:avLst/>
          </a:prstGeom>
          <a:solidFill>
            <a:srgbClr val="10B981"/>
          </a:solidFill>
          <a:ln w="12700">
            <a:solidFill>
              <a:srgbClr val="111827"/>
            </a:solidFill>
            <a:prstDash val="solid"/>
          </a:ln>
        </p:spPr>
      </p:sp>
      <p:sp>
        <p:nvSpPr>
          <p:cNvPr id="9" name="Text 7"/>
          <p:cNvSpPr/>
          <p:nvPr/>
        </p:nvSpPr>
        <p:spPr>
          <a:xfrm>
            <a:off x="640080" y="3044952"/>
            <a:ext cx="5486400" cy="2788920"/>
          </a:xfrm>
          <a:prstGeom prst="rect">
            <a:avLst/>
          </a:prstGeom>
          <a:noFill/>
          <a:ln/>
        </p:spPr>
        <p:txBody>
          <a:bodyPr wrap="square" lIns="0" tIns="0" rIns="0" bIns="0" rtlCol="0" anchor="t"/>
          <a:lstStyle/>
          <a:p>
            <a:pPr algn="l" indent="0" marL="0">
              <a:spcAft>
                <a:spcPts val="200"/>
              </a:spcAft>
              <a:buNone/>
            </a:pPr>
            <a:r>
              <a:rPr lang="en-US" sz="1200" b="1" dirty="0">
                <a:solidFill>
                  <a:srgbClr val="5EEAD4"/>
                </a:solidFill>
                <a:latin typeface="Courier New" pitchFamily="34" charset="0"/>
                <a:ea typeface="Courier New" pitchFamily="34" charset="-122"/>
                <a:cs typeface="Courier New" pitchFamily="34" charset="-120"/>
              </a:rPr>
              <a:t>LabelContract {</a:t>
            </a:r>
            <a:endParaRPr lang="en-US" sz="1200" dirty="0"/>
          </a:p>
          <a:p>
            <a:pPr algn="l" indent="0" marL="0">
              <a:spcAft>
                <a:spcPts val="200"/>
              </a:spcAft>
              <a:buNone/>
            </a:pPr>
            <a:r>
              <a:rPr lang="en-US" sz="1200" dirty="0">
                <a:solidFill>
                  <a:srgbClr val="5EEAD4"/>
                </a:solidFill>
                <a:latin typeface="Courier New" pitchFamily="34" charset="0"/>
                <a:ea typeface="Courier New" pitchFamily="34" charset="-122"/>
                <a:cs typeface="Courier New" pitchFamily="34" charset="-120"/>
              </a:rPr>
              <a:t>  hypothesis_id  : "H-001"</a:t>
            </a:r>
            <a:endParaRPr lang="en-US" sz="1200" dirty="0"/>
          </a:p>
          <a:p>
            <a:pPr algn="l" indent="0" marL="0">
              <a:spcAft>
                <a:spcPts val="200"/>
              </a:spcAft>
              <a:buNone/>
            </a:pPr>
            <a:r>
              <a:rPr lang="en-US" sz="1200" dirty="0">
                <a:solidFill>
                  <a:srgbClr val="5EEAD4"/>
                </a:solidFill>
                <a:latin typeface="Courier New" pitchFamily="34" charset="0"/>
                <a:ea typeface="Courier New" pitchFamily="34" charset="-122"/>
                <a:cs typeface="Courier New" pitchFamily="34" charset="-120"/>
              </a:rPr>
              <a:t>  instrument     : "INS-012345"     // stable identity, not ticker</a:t>
            </a:r>
            <a:endParaRPr lang="en-US" sz="1200" dirty="0"/>
          </a:p>
          <a:p>
            <a:pPr algn="l" indent="0" marL="0">
              <a:spcAft>
                <a:spcPts val="200"/>
              </a:spcAft>
              <a:buNone/>
            </a:pPr>
            <a:r>
              <a:rPr lang="en-US" sz="1200" dirty="0">
                <a:solidFill>
                  <a:srgbClr val="5EEAD4"/>
                </a:solidFill>
                <a:latin typeface="Courier New" pitchFamily="34" charset="0"/>
                <a:ea typeface="Courier New" pitchFamily="34" charset="-122"/>
                <a:cs typeface="Courier New" pitchFamily="34" charset="-120"/>
              </a:rPr>
              <a:t>  decision_time  : 2018-03-15T20:00:00Z</a:t>
            </a:r>
            <a:endParaRPr lang="en-US" sz="1200" dirty="0"/>
          </a:p>
          <a:p>
            <a:pPr algn="l" indent="0" marL="0">
              <a:spcAft>
                <a:spcPts val="200"/>
              </a:spcAft>
              <a:buNone/>
            </a:pPr>
            <a:r>
              <a:rPr lang="en-US" sz="1200" dirty="0">
                <a:solidFill>
                  <a:srgbClr val="5EEAD4"/>
                </a:solidFill>
                <a:latin typeface="Courier New" pitchFamily="34" charset="0"/>
                <a:ea typeface="Courier New" pitchFamily="34" charset="-122"/>
                <a:cs typeface="Courier New" pitchFamily="34" charset="-120"/>
              </a:rPr>
              <a:t>  anchor_mode    : "decision_instant"  // or "post_event"</a:t>
            </a:r>
            <a:endParaRPr lang="en-US" sz="1200" dirty="0"/>
          </a:p>
          <a:p>
            <a:pPr algn="l" indent="0" marL="0">
              <a:spcAft>
                <a:spcPts val="200"/>
              </a:spcAft>
              <a:buNone/>
            </a:pPr>
            <a:r>
              <a:rPr lang="en-US" sz="1200" dirty="0">
                <a:solidFill>
                  <a:srgbClr val="5EEAD4"/>
                </a:solidFill>
                <a:latin typeface="Courier New" pitchFamily="34" charset="0"/>
                <a:ea typeface="Courier New" pitchFamily="34" charset="-122"/>
                <a:cs typeface="Courier New" pitchFamily="34" charset="-120"/>
              </a:rPr>
              <a:t>  horizon        : 5                     // trading sessions</a:t>
            </a:r>
            <a:endParaRPr lang="en-US" sz="1200" dirty="0"/>
          </a:p>
          <a:p>
            <a:pPr algn="l" indent="0" marL="0">
              <a:spcAft>
                <a:spcPts val="200"/>
              </a:spcAft>
              <a:buNone/>
            </a:pPr>
            <a:r>
              <a:rPr lang="en-US" sz="1200" dirty="0">
                <a:solidFill>
                  <a:srgbClr val="5EEAD4"/>
                </a:solidFill>
                <a:latin typeface="Courier New" pitchFamily="34" charset="0"/>
                <a:ea typeface="Courier New" pitchFamily="34" charset="-122"/>
                <a:cs typeface="Courier New" pitchFamily="34" charset="-120"/>
              </a:rPr>
              <a:t>  outcome_def    : "forward_excess_return_vs_SPY"</a:t>
            </a:r>
            <a:endParaRPr lang="en-US" sz="1200" dirty="0"/>
          </a:p>
          <a:p>
            <a:pPr algn="l" indent="0" marL="0">
              <a:spcAft>
                <a:spcPts val="200"/>
              </a:spcAft>
              <a:buNone/>
            </a:pPr>
            <a:r>
              <a:rPr lang="en-US" sz="1200" dirty="0">
                <a:solidFill>
                  <a:srgbClr val="5EEAD4"/>
                </a:solidFill>
                <a:latin typeface="Courier New" pitchFamily="34" charset="0"/>
                <a:ea typeface="Courier New" pitchFamily="34" charset="-122"/>
                <a:cs typeface="Courier New" pitchFamily="34" charset="-120"/>
              </a:rPr>
              <a:t>  version        : 3                     // immutable once written</a:t>
            </a:r>
            <a:endParaRPr lang="en-US" sz="1200" dirty="0"/>
          </a:p>
          <a:p>
            <a:pPr algn="l" indent="0" marL="0">
              <a:spcAft>
                <a:spcPts val="200"/>
              </a:spcAft>
              <a:buNone/>
            </a:pPr>
            <a:r>
              <a:rPr lang="en-US" sz="1200" b="1" dirty="0">
                <a:solidFill>
                  <a:srgbClr val="5EEAD4"/>
                </a:solidFill>
                <a:latin typeface="Courier New" pitchFamily="34" charset="0"/>
                <a:ea typeface="Courier New" pitchFamily="34" charset="-122"/>
                <a:cs typeface="Courier New" pitchFamily="34" charset="-120"/>
              </a:rPr>
              <a:t>}</a:t>
            </a:r>
            <a:endParaRPr lang="en-US" sz="1200" dirty="0"/>
          </a:p>
        </p:txBody>
      </p:sp>
      <p:sp>
        <p:nvSpPr>
          <p:cNvPr id="10" name="Shape 8"/>
          <p:cNvSpPr/>
          <p:nvPr/>
        </p:nvSpPr>
        <p:spPr>
          <a:xfrm>
            <a:off x="6675120" y="1234440"/>
            <a:ext cx="5029200" cy="1051560"/>
          </a:xfrm>
          <a:prstGeom prst="roundRect">
            <a:avLst>
              <a:gd name="adj" fmla="val 6957"/>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6903720" y="1371600"/>
            <a:ext cx="45720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LABEL TYPES</a:t>
            </a:r>
            <a:endParaRPr lang="en-US" sz="1100" dirty="0"/>
          </a:p>
        </p:txBody>
      </p:sp>
      <p:sp>
        <p:nvSpPr>
          <p:cNvPr id="12" name="Text 10"/>
          <p:cNvSpPr/>
          <p:nvPr/>
        </p:nvSpPr>
        <p:spPr>
          <a:xfrm>
            <a:off x="6903720" y="1691640"/>
            <a:ext cx="4572000" cy="457200"/>
          </a:xfrm>
          <a:prstGeom prst="rect">
            <a:avLst/>
          </a:prstGeom>
          <a:noFill/>
          <a:ln/>
        </p:spPr>
        <p:txBody>
          <a:bodyPr wrap="square" lIns="0" tIns="0" rIns="0" bIns="0" rtlCol="0" anchor="ctr"/>
          <a:lstStyle/>
          <a:p>
            <a:pPr algn="l" indent="0" marL="0">
              <a:buNone/>
            </a:pPr>
            <a:r>
              <a:rPr lang="en-US" sz="1300" b="1" dirty="0">
                <a:solidFill>
                  <a:srgbClr val="0F766E"/>
                </a:solidFill>
                <a:latin typeface="Courier New" pitchFamily="34" charset="0"/>
                <a:ea typeface="Courier New" pitchFamily="34" charset="-122"/>
                <a:cs typeface="Courier New" pitchFamily="34" charset="-120"/>
              </a:rPr>
              <a:t>forward_return</a:t>
            </a:r>
            <a:pPr algn="l" indent="0" marL="0">
              <a:buNone/>
            </a:pPr>
            <a:r>
              <a:rPr lang="en-US" sz="1300" dirty="0">
                <a:solidFill>
                  <a:srgbClr val="000000"/>
                </a:solidFill>
              </a:rPr>
              <a:t>    </a:t>
            </a:r>
            <a:pPr algn="l" indent="0" marL="0">
              <a:buNone/>
            </a:pPr>
            <a:r>
              <a:rPr lang="en-US" sz="1300" b="1" dirty="0">
                <a:solidFill>
                  <a:srgbClr val="0F766E"/>
                </a:solidFill>
                <a:latin typeface="Courier New" pitchFamily="34" charset="0"/>
                <a:ea typeface="Courier New" pitchFamily="34" charset="-122"/>
                <a:cs typeface="Courier New" pitchFamily="34" charset="-120"/>
              </a:rPr>
              <a:t>excess_return</a:t>
            </a:r>
            <a:pPr algn="l" indent="0" marL="0">
              <a:buNone/>
            </a:pPr>
            <a:r>
              <a:rPr lang="en-US" sz="1300" dirty="0">
                <a:solidFill>
                  <a:srgbClr val="000000"/>
                </a:solidFill>
              </a:rPr>
              <a:t>    </a:t>
            </a:r>
            <a:pPr algn="l" indent="0" marL="0">
              <a:buNone/>
            </a:pPr>
            <a:r>
              <a:rPr lang="en-US" sz="1300" b="1" dirty="0">
                <a:solidFill>
                  <a:srgbClr val="0F766E"/>
                </a:solidFill>
                <a:latin typeface="Courier New" pitchFamily="34" charset="0"/>
                <a:ea typeface="Courier New" pitchFamily="34" charset="-122"/>
                <a:cs typeface="Courier New" pitchFamily="34" charset="-120"/>
              </a:rPr>
              <a:t>volatility</a:t>
            </a:r>
            <a:pPr algn="l" indent="0" marL="0">
              <a:buNone/>
            </a:pPr>
            <a:r>
              <a:rPr lang="en-US" sz="1300" dirty="0">
                <a:solidFill>
                  <a:srgbClr val="000000"/>
                </a:solidFill>
              </a:rPr>
              <a:t>    </a:t>
            </a:r>
            <a:pPr algn="l" indent="0" marL="0">
              <a:buNone/>
            </a:pPr>
            <a:r>
              <a:rPr lang="en-US" sz="1300" b="1" dirty="0">
                <a:solidFill>
                  <a:srgbClr val="0F766E"/>
                </a:solidFill>
                <a:latin typeface="Courier New" pitchFamily="34" charset="0"/>
                <a:ea typeface="Courier New" pitchFamily="34" charset="-122"/>
                <a:cs typeface="Courier New" pitchFamily="34" charset="-120"/>
              </a:rPr>
              <a:t>drawdown</a:t>
            </a:r>
            <a:endParaRPr lang="en-US" sz="1300" dirty="0"/>
          </a:p>
        </p:txBody>
      </p:sp>
      <p:sp>
        <p:nvSpPr>
          <p:cNvPr id="13" name="Shape 11"/>
          <p:cNvSpPr/>
          <p:nvPr/>
        </p:nvSpPr>
        <p:spPr>
          <a:xfrm>
            <a:off x="6675120" y="2450592"/>
            <a:ext cx="5029200" cy="1051560"/>
          </a:xfrm>
          <a:prstGeom prst="roundRect">
            <a:avLst>
              <a:gd name="adj" fmla="val 6957"/>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6903720" y="2587752"/>
            <a:ext cx="45720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HORIZONS (trading sessions)</a:t>
            </a:r>
            <a:endParaRPr lang="en-US" sz="1100" dirty="0"/>
          </a:p>
        </p:txBody>
      </p:sp>
      <p:sp>
        <p:nvSpPr>
          <p:cNvPr id="15" name="Shape 13"/>
          <p:cNvSpPr/>
          <p:nvPr/>
        </p:nvSpPr>
        <p:spPr>
          <a:xfrm>
            <a:off x="6903720" y="2907792"/>
            <a:ext cx="1143000" cy="457200"/>
          </a:xfrm>
          <a:prstGeom prst="roundRect">
            <a:avLst>
              <a:gd name="adj" fmla="val 16000"/>
            </a:avLst>
          </a:prstGeom>
          <a:solidFill>
            <a:srgbClr val="1A1F24"/>
          </a:solidFill>
          <a:ln w="9525">
            <a:solidFill>
              <a:srgbClr val="14B8A6"/>
            </a:solidFill>
            <a:prstDash val="solid"/>
          </a:ln>
        </p:spPr>
      </p:sp>
      <p:sp>
        <p:nvSpPr>
          <p:cNvPr id="16" name="Text 14"/>
          <p:cNvSpPr/>
          <p:nvPr/>
        </p:nvSpPr>
        <p:spPr>
          <a:xfrm>
            <a:off x="6903720" y="2907792"/>
            <a:ext cx="1143000" cy="457200"/>
          </a:xfrm>
          <a:prstGeom prst="rect">
            <a:avLst/>
          </a:prstGeom>
          <a:noFill/>
          <a:ln/>
        </p:spPr>
        <p:txBody>
          <a:bodyPr wrap="square" lIns="0" tIns="0" rIns="0" bIns="0" rtlCol="0" anchor="ctr"/>
          <a:lstStyle/>
          <a:p>
            <a:pPr algn="ctr" indent="0" marL="0">
              <a:buNone/>
            </a:pPr>
            <a:r>
              <a:rPr lang="en-US" sz="1800" b="1" dirty="0">
                <a:solidFill>
                  <a:srgbClr val="5EEAD4"/>
                </a:solidFill>
                <a:latin typeface="Cambria" pitchFamily="34" charset="0"/>
                <a:ea typeface="Cambria" pitchFamily="34" charset="-122"/>
                <a:cs typeface="Cambria" pitchFamily="34" charset="-120"/>
              </a:rPr>
              <a:t>1</a:t>
            </a:r>
            <a:endParaRPr lang="en-US" sz="1800" dirty="0"/>
          </a:p>
        </p:txBody>
      </p:sp>
      <p:sp>
        <p:nvSpPr>
          <p:cNvPr id="17" name="Shape 15"/>
          <p:cNvSpPr/>
          <p:nvPr/>
        </p:nvSpPr>
        <p:spPr>
          <a:xfrm>
            <a:off x="8229600" y="2907792"/>
            <a:ext cx="1143000" cy="457200"/>
          </a:xfrm>
          <a:prstGeom prst="roundRect">
            <a:avLst>
              <a:gd name="adj" fmla="val 16000"/>
            </a:avLst>
          </a:prstGeom>
          <a:solidFill>
            <a:srgbClr val="1A1F24"/>
          </a:solidFill>
          <a:ln w="9525">
            <a:solidFill>
              <a:srgbClr val="14B8A6"/>
            </a:solidFill>
            <a:prstDash val="solid"/>
          </a:ln>
        </p:spPr>
      </p:sp>
      <p:sp>
        <p:nvSpPr>
          <p:cNvPr id="18" name="Text 16"/>
          <p:cNvSpPr/>
          <p:nvPr/>
        </p:nvSpPr>
        <p:spPr>
          <a:xfrm>
            <a:off x="8229600" y="2907792"/>
            <a:ext cx="1143000" cy="457200"/>
          </a:xfrm>
          <a:prstGeom prst="rect">
            <a:avLst/>
          </a:prstGeom>
          <a:noFill/>
          <a:ln/>
        </p:spPr>
        <p:txBody>
          <a:bodyPr wrap="square" lIns="0" tIns="0" rIns="0" bIns="0" rtlCol="0" anchor="ctr"/>
          <a:lstStyle/>
          <a:p>
            <a:pPr algn="ctr" indent="0" marL="0">
              <a:buNone/>
            </a:pPr>
            <a:r>
              <a:rPr lang="en-US" sz="1800" b="1" dirty="0">
                <a:solidFill>
                  <a:srgbClr val="5EEAD4"/>
                </a:solidFill>
                <a:latin typeface="Cambria" pitchFamily="34" charset="0"/>
                <a:ea typeface="Cambria" pitchFamily="34" charset="-122"/>
                <a:cs typeface="Cambria" pitchFamily="34" charset="-120"/>
              </a:rPr>
              <a:t>5</a:t>
            </a:r>
            <a:endParaRPr lang="en-US" sz="1800" dirty="0"/>
          </a:p>
        </p:txBody>
      </p:sp>
      <p:sp>
        <p:nvSpPr>
          <p:cNvPr id="19" name="Shape 17"/>
          <p:cNvSpPr/>
          <p:nvPr/>
        </p:nvSpPr>
        <p:spPr>
          <a:xfrm>
            <a:off x="9555480" y="2907792"/>
            <a:ext cx="1143000" cy="457200"/>
          </a:xfrm>
          <a:prstGeom prst="roundRect">
            <a:avLst>
              <a:gd name="adj" fmla="val 16000"/>
            </a:avLst>
          </a:prstGeom>
          <a:solidFill>
            <a:srgbClr val="1A1F24"/>
          </a:solidFill>
          <a:ln w="9525">
            <a:solidFill>
              <a:srgbClr val="14B8A6"/>
            </a:solidFill>
            <a:prstDash val="solid"/>
          </a:ln>
        </p:spPr>
      </p:sp>
      <p:sp>
        <p:nvSpPr>
          <p:cNvPr id="20" name="Text 18"/>
          <p:cNvSpPr/>
          <p:nvPr/>
        </p:nvSpPr>
        <p:spPr>
          <a:xfrm>
            <a:off x="9555480" y="2907792"/>
            <a:ext cx="1143000" cy="457200"/>
          </a:xfrm>
          <a:prstGeom prst="rect">
            <a:avLst/>
          </a:prstGeom>
          <a:noFill/>
          <a:ln/>
        </p:spPr>
        <p:txBody>
          <a:bodyPr wrap="square" lIns="0" tIns="0" rIns="0" bIns="0" rtlCol="0" anchor="ctr"/>
          <a:lstStyle/>
          <a:p>
            <a:pPr algn="ctr" indent="0" marL="0">
              <a:buNone/>
            </a:pPr>
            <a:r>
              <a:rPr lang="en-US" sz="1800" b="1" dirty="0">
                <a:solidFill>
                  <a:srgbClr val="5EEAD4"/>
                </a:solidFill>
                <a:latin typeface="Cambria" pitchFamily="34" charset="0"/>
                <a:ea typeface="Cambria" pitchFamily="34" charset="-122"/>
                <a:cs typeface="Cambria" pitchFamily="34" charset="-120"/>
              </a:rPr>
              <a:t>21</a:t>
            </a:r>
            <a:endParaRPr lang="en-US" sz="1800" dirty="0"/>
          </a:p>
        </p:txBody>
      </p:sp>
      <p:sp>
        <p:nvSpPr>
          <p:cNvPr id="21" name="Shape 19"/>
          <p:cNvSpPr/>
          <p:nvPr/>
        </p:nvSpPr>
        <p:spPr>
          <a:xfrm>
            <a:off x="10881360" y="2907792"/>
            <a:ext cx="1143000" cy="457200"/>
          </a:xfrm>
          <a:prstGeom prst="roundRect">
            <a:avLst>
              <a:gd name="adj" fmla="val 16000"/>
            </a:avLst>
          </a:prstGeom>
          <a:solidFill>
            <a:srgbClr val="1A1F24"/>
          </a:solidFill>
          <a:ln w="9525">
            <a:solidFill>
              <a:srgbClr val="14B8A6"/>
            </a:solidFill>
            <a:prstDash val="solid"/>
          </a:ln>
        </p:spPr>
      </p:sp>
      <p:sp>
        <p:nvSpPr>
          <p:cNvPr id="22" name="Text 20"/>
          <p:cNvSpPr/>
          <p:nvPr/>
        </p:nvSpPr>
        <p:spPr>
          <a:xfrm>
            <a:off x="10881360" y="2907792"/>
            <a:ext cx="1143000" cy="457200"/>
          </a:xfrm>
          <a:prstGeom prst="rect">
            <a:avLst/>
          </a:prstGeom>
          <a:noFill/>
          <a:ln/>
        </p:spPr>
        <p:txBody>
          <a:bodyPr wrap="square" lIns="0" tIns="0" rIns="0" bIns="0" rtlCol="0" anchor="ctr"/>
          <a:lstStyle/>
          <a:p>
            <a:pPr algn="ctr" indent="0" marL="0">
              <a:buNone/>
            </a:pPr>
            <a:r>
              <a:rPr lang="en-US" sz="1800" b="1" dirty="0">
                <a:solidFill>
                  <a:srgbClr val="5EEAD4"/>
                </a:solidFill>
                <a:latin typeface="Cambria" pitchFamily="34" charset="0"/>
                <a:ea typeface="Cambria" pitchFamily="34" charset="-122"/>
                <a:cs typeface="Cambria" pitchFamily="34" charset="-120"/>
              </a:rPr>
              <a:t>63</a:t>
            </a:r>
            <a:endParaRPr lang="en-US" sz="1800" dirty="0"/>
          </a:p>
        </p:txBody>
      </p:sp>
      <p:sp>
        <p:nvSpPr>
          <p:cNvPr id="23" name="Shape 21"/>
          <p:cNvSpPr/>
          <p:nvPr/>
        </p:nvSpPr>
        <p:spPr>
          <a:xfrm>
            <a:off x="6675120" y="3666744"/>
            <a:ext cx="5029200" cy="1051560"/>
          </a:xfrm>
          <a:prstGeom prst="roundRect">
            <a:avLst>
              <a:gd name="adj" fmla="val 6957"/>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24" name="Text 22"/>
          <p:cNvSpPr/>
          <p:nvPr/>
        </p:nvSpPr>
        <p:spPr>
          <a:xfrm>
            <a:off x="6903720" y="3803904"/>
            <a:ext cx="45720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ANCHOR MODES</a:t>
            </a:r>
            <a:endParaRPr lang="en-US" sz="1100" dirty="0"/>
          </a:p>
        </p:txBody>
      </p:sp>
      <p:sp>
        <p:nvSpPr>
          <p:cNvPr id="25" name="Text 23"/>
          <p:cNvSpPr/>
          <p:nvPr/>
        </p:nvSpPr>
        <p:spPr>
          <a:xfrm>
            <a:off x="6903720" y="4050792"/>
            <a:ext cx="4572000" cy="594360"/>
          </a:xfrm>
          <a:prstGeom prst="rect">
            <a:avLst/>
          </a:prstGeom>
          <a:noFill/>
          <a:ln/>
        </p:spPr>
        <p:txBody>
          <a:bodyPr wrap="square" lIns="0" tIns="0" rIns="0" bIns="0" rtlCol="0" anchor="t"/>
          <a:lstStyle/>
          <a:p>
            <a:pPr algn="l" indent="0" marL="0">
              <a:spcAft>
                <a:spcPts val="200"/>
              </a:spcAft>
              <a:buNone/>
            </a:pPr>
            <a:r>
              <a:rPr lang="en-US" sz="1050" dirty="0">
                <a:solidFill>
                  <a:srgbClr val="1F2937"/>
                </a:solidFill>
                <a:latin typeface="Calibri" pitchFamily="34" charset="0"/>
                <a:ea typeface="Calibri" pitchFamily="34" charset="-122"/>
                <a:cs typeface="Calibri" pitchFamily="34" charset="-120"/>
              </a:rPr>
              <a:t>decision_instant — last completed bar strictly before the decision instant</a:t>
            </a:r>
            <a:endParaRPr lang="en-US" sz="1050" dirty="0"/>
          </a:p>
          <a:p>
            <a:pPr algn="l" indent="0" marL="0">
              <a:buNone/>
            </a:pPr>
            <a:r>
              <a:rPr lang="en-US" sz="1050" dirty="0">
                <a:solidFill>
                  <a:srgbClr val="1F2937"/>
                </a:solidFill>
                <a:latin typeface="Calibri" pitchFamily="34" charset="0"/>
                <a:ea typeface="Calibri" pitchFamily="34" charset="-122"/>
                <a:cs typeface="Calibri" pitchFamily="34" charset="-120"/>
              </a:rPr>
              <a:t>post_event — first completed bar after the event's availability instant</a:t>
            </a:r>
            <a:endParaRPr lang="en-US" sz="1050" dirty="0"/>
          </a:p>
        </p:txBody>
      </p:sp>
      <p:sp>
        <p:nvSpPr>
          <p:cNvPr id="26" name="Shape 24"/>
          <p:cNvSpPr/>
          <p:nvPr/>
        </p:nvSpPr>
        <p:spPr>
          <a:xfrm>
            <a:off x="6675120" y="4882896"/>
            <a:ext cx="5029200" cy="457200"/>
          </a:xfrm>
          <a:prstGeom prst="rect">
            <a:avLst/>
          </a:prstGeom>
          <a:solidFill>
            <a:srgbClr val="1A1F24"/>
          </a:solidFill>
          <a:ln w="6350">
            <a:solidFill>
              <a:srgbClr val="0F766E"/>
            </a:solidFill>
            <a:prstDash val="solid"/>
          </a:ln>
        </p:spPr>
      </p:sp>
      <p:sp>
        <p:nvSpPr>
          <p:cNvPr id="27" name="Text 25"/>
          <p:cNvSpPr/>
          <p:nvPr/>
        </p:nvSpPr>
        <p:spPr>
          <a:xfrm>
            <a:off x="6812280" y="4882896"/>
            <a:ext cx="4754880" cy="457200"/>
          </a:xfrm>
          <a:prstGeom prst="rect">
            <a:avLst/>
          </a:prstGeom>
          <a:noFill/>
          <a:ln/>
        </p:spPr>
        <p:txBody>
          <a:bodyPr wrap="square" lIns="0" tIns="0" rIns="0" bIns="0" rtlCol="0" anchor="ctr"/>
          <a:lstStyle/>
          <a:p>
            <a:pPr algn="ctr" indent="0" marL="0">
              <a:buNone/>
            </a:pPr>
            <a:r>
              <a:rPr lang="en-US" sz="1000" b="1" spc="200" kern="0" dirty="0">
                <a:solidFill>
                  <a:srgbClr val="9CA3AF"/>
                </a:solidFill>
                <a:latin typeface="Calibri" pitchFamily="34" charset="0"/>
                <a:ea typeface="Calibri" pitchFamily="34" charset="-122"/>
                <a:cs typeface="Calibri" pitchFamily="34" charset="-120"/>
              </a:rPr>
              <a:t>SEED HYPOTHESES:  </a:t>
            </a:r>
            <a:pPr algn="ctr" indent="0" marL="0">
              <a:buNone/>
            </a:pPr>
            <a:r>
              <a:rPr lang="en-US" sz="1100" dirty="0">
                <a:solidFill>
                  <a:srgbClr val="5EEAD4"/>
                </a:solidFill>
                <a:latin typeface="Courier New" pitchFamily="34" charset="0"/>
                <a:ea typeface="Courier New" pitchFamily="34" charset="-122"/>
                <a:cs typeface="Courier New" pitchFamily="34" charset="-120"/>
              </a:rPr>
              <a:t>H-001 momentum</a:t>
            </a:r>
            <a:pPr algn="ctr" indent="0" marL="0">
              <a:buNone/>
            </a:pPr>
            <a:r>
              <a:rPr lang="en-US" sz="1000" dirty="0">
                <a:solidFill>
                  <a:srgbClr val="9CA3AF"/>
                </a:solidFill>
              </a:rPr>
              <a:t>   ·   </a:t>
            </a:r>
            <a:pPr algn="ctr" indent="0" marL="0">
              <a:buNone/>
            </a:pPr>
            <a:r>
              <a:rPr lang="en-US" sz="1100" dirty="0">
                <a:solidFill>
                  <a:srgbClr val="5EEAD4"/>
                </a:solidFill>
                <a:latin typeface="Courier New" pitchFamily="34" charset="0"/>
                <a:ea typeface="Courier New" pitchFamily="34" charset="-122"/>
                <a:cs typeface="Courier New" pitchFamily="34" charset="-120"/>
              </a:rPr>
              <a:t>H-002 volatility anomaly</a:t>
            </a:r>
            <a:pPr algn="ctr" indent="0" marL="0">
              <a:buNone/>
            </a:pPr>
            <a:r>
              <a:rPr lang="en-US" sz="1000" dirty="0">
                <a:solidFill>
                  <a:srgbClr val="9CA3AF"/>
                </a:solidFill>
              </a:rPr>
              <a:t>   ·   </a:t>
            </a:r>
            <a:pPr algn="ctr" indent="0" marL="0">
              <a:buNone/>
            </a:pPr>
            <a:r>
              <a:rPr lang="en-US" sz="1100" dirty="0">
                <a:solidFill>
                  <a:srgbClr val="5EEAD4"/>
                </a:solidFill>
                <a:latin typeface="Courier New" pitchFamily="34" charset="0"/>
                <a:ea typeface="Courier New" pitchFamily="34" charset="-122"/>
                <a:cs typeface="Courier New" pitchFamily="34" charset="-120"/>
              </a:rPr>
              <a:t>H-003 PEAD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Evaluation Windows &amp; Evidence</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The global evaluation period, walk-forward discipline, regime coverage, and cost defaults every OOS number must survive</a:t>
            </a:r>
            <a:endParaRPr lang="en-US" sz="1100" dirty="0"/>
          </a:p>
        </p:txBody>
      </p:sp>
      <p:sp>
        <p:nvSpPr>
          <p:cNvPr id="4" name="Shape 2"/>
          <p:cNvSpPr/>
          <p:nvPr/>
        </p:nvSpPr>
        <p:spPr>
          <a:xfrm>
            <a:off x="457200" y="1234440"/>
            <a:ext cx="5440680" cy="1691640"/>
          </a:xfrm>
          <a:prstGeom prst="roundRect">
            <a:avLst>
              <a:gd name="adj" fmla="val 4324"/>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685800" y="1399032"/>
            <a:ext cx="498348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GLOBAL EVALUATION PERIOD</a:t>
            </a:r>
            <a:endParaRPr lang="en-US" sz="1100" dirty="0"/>
          </a:p>
        </p:txBody>
      </p:sp>
      <p:sp>
        <p:nvSpPr>
          <p:cNvPr id="6" name="Text 4"/>
          <p:cNvSpPr/>
          <p:nvPr/>
        </p:nvSpPr>
        <p:spPr>
          <a:xfrm>
            <a:off x="685800" y="1691640"/>
            <a:ext cx="4983480" cy="502920"/>
          </a:xfrm>
          <a:prstGeom prst="rect">
            <a:avLst/>
          </a:prstGeom>
          <a:noFill/>
          <a:ln/>
        </p:spPr>
        <p:txBody>
          <a:bodyPr wrap="square" lIns="0" tIns="0" rIns="0" bIns="0" rtlCol="0" anchor="t"/>
          <a:lstStyle/>
          <a:p>
            <a:pPr algn="l" indent="0" marL="0">
              <a:buNone/>
            </a:pPr>
            <a:r>
              <a:rPr lang="en-US" sz="1300" b="1" dirty="0">
                <a:solidFill>
                  <a:srgbClr val="0F766E"/>
                </a:solidFill>
                <a:latin typeface="Courier New" pitchFamily="34" charset="0"/>
                <a:ea typeface="Courier New" pitchFamily="34" charset="-122"/>
                <a:cs typeface="Courier New" pitchFamily="34" charset="-120"/>
              </a:rPr>
              <a:t>2010-01-01  →  most recent completed quarter</a:t>
            </a:r>
            <a:endParaRPr lang="en-US" sz="1300" dirty="0"/>
          </a:p>
        </p:txBody>
      </p:sp>
      <p:sp>
        <p:nvSpPr>
          <p:cNvPr id="7" name="Text 5"/>
          <p:cNvSpPr/>
          <p:nvPr/>
        </p:nvSpPr>
        <p:spPr>
          <a:xfrm>
            <a:off x="685800" y="2194560"/>
            <a:ext cx="4983480" cy="68580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A single continuous evaluation window shared by every hypothesis. No cherry-picked sub-periods.</a:t>
            </a:r>
            <a:endParaRPr lang="en-US" sz="1100" dirty="0"/>
          </a:p>
        </p:txBody>
      </p:sp>
      <p:sp>
        <p:nvSpPr>
          <p:cNvPr id="8" name="Shape 6"/>
          <p:cNvSpPr/>
          <p:nvPr/>
        </p:nvSpPr>
        <p:spPr>
          <a:xfrm>
            <a:off x="6172200" y="1234440"/>
            <a:ext cx="5440680" cy="1691640"/>
          </a:xfrm>
          <a:prstGeom prst="roundRect">
            <a:avLst>
              <a:gd name="adj" fmla="val 4324"/>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6400800" y="1399032"/>
            <a:ext cx="498348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WALK-FORWARD OOS</a:t>
            </a:r>
            <a:endParaRPr lang="en-US" sz="1100" dirty="0"/>
          </a:p>
        </p:txBody>
      </p:sp>
      <p:sp>
        <p:nvSpPr>
          <p:cNvPr id="10" name="Text 8"/>
          <p:cNvSpPr/>
          <p:nvPr/>
        </p:nvSpPr>
        <p:spPr>
          <a:xfrm>
            <a:off x="6400800" y="1691640"/>
            <a:ext cx="4983480" cy="502920"/>
          </a:xfrm>
          <a:prstGeom prst="rect">
            <a:avLst/>
          </a:prstGeom>
          <a:noFill/>
          <a:ln/>
        </p:spPr>
        <p:txBody>
          <a:bodyPr wrap="square" lIns="0" tIns="0" rIns="0" bIns="0" rtlCol="0" anchor="t"/>
          <a:lstStyle/>
          <a:p>
            <a:pPr algn="l" indent="0" marL="0">
              <a:buNone/>
            </a:pPr>
            <a:r>
              <a:rPr lang="en-US" sz="1300" b="1" dirty="0">
                <a:solidFill>
                  <a:srgbClr val="0F766E"/>
                </a:solidFill>
                <a:latin typeface="Courier New" pitchFamily="34" charset="0"/>
                <a:ea typeface="Courier New" pitchFamily="34" charset="-122"/>
                <a:cs typeface="Courier New" pitchFamily="34" charset="-120"/>
              </a:rPr>
              <a:t>Sequential walk-forward out-of-sample windows</a:t>
            </a:r>
            <a:endParaRPr lang="en-US" sz="1300" dirty="0"/>
          </a:p>
        </p:txBody>
      </p:sp>
      <p:sp>
        <p:nvSpPr>
          <p:cNvPr id="11" name="Text 9"/>
          <p:cNvSpPr/>
          <p:nvPr/>
        </p:nvSpPr>
        <p:spPr>
          <a:xfrm>
            <a:off x="6400800" y="2194560"/>
            <a:ext cx="4983480" cy="68580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Minimum 4 OOS windows per hypothesis. Default thresholds per hypothesis family. No window is ever re-used for training.</a:t>
            </a:r>
            <a:endParaRPr lang="en-US" sz="1100" dirty="0"/>
          </a:p>
        </p:txBody>
      </p:sp>
      <p:sp>
        <p:nvSpPr>
          <p:cNvPr id="12" name="Shape 10"/>
          <p:cNvSpPr/>
          <p:nvPr/>
        </p:nvSpPr>
        <p:spPr>
          <a:xfrm>
            <a:off x="457200" y="3154680"/>
            <a:ext cx="5440680" cy="1691640"/>
          </a:xfrm>
          <a:prstGeom prst="roundRect">
            <a:avLst>
              <a:gd name="adj" fmla="val 4324"/>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3" name="Text 11"/>
          <p:cNvSpPr/>
          <p:nvPr/>
        </p:nvSpPr>
        <p:spPr>
          <a:xfrm>
            <a:off x="685800" y="3319272"/>
            <a:ext cx="498348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REGIME COVERAGE</a:t>
            </a:r>
            <a:endParaRPr lang="en-US" sz="1100" dirty="0"/>
          </a:p>
        </p:txBody>
      </p:sp>
      <p:sp>
        <p:nvSpPr>
          <p:cNvPr id="14" name="Text 12"/>
          <p:cNvSpPr/>
          <p:nvPr/>
        </p:nvSpPr>
        <p:spPr>
          <a:xfrm>
            <a:off x="685800" y="3611880"/>
            <a:ext cx="4983480" cy="502920"/>
          </a:xfrm>
          <a:prstGeom prst="rect">
            <a:avLst/>
          </a:prstGeom>
          <a:noFill/>
          <a:ln/>
        </p:spPr>
        <p:txBody>
          <a:bodyPr wrap="square" lIns="0" tIns="0" rIns="0" bIns="0" rtlCol="0" anchor="t"/>
          <a:lstStyle/>
          <a:p>
            <a:pPr algn="l" indent="0" marL="0">
              <a:buNone/>
            </a:pPr>
            <a:r>
              <a:rPr lang="en-US" sz="1300" b="1" dirty="0">
                <a:solidFill>
                  <a:srgbClr val="0F766E"/>
                </a:solidFill>
                <a:latin typeface="Courier New" pitchFamily="34" charset="0"/>
                <a:ea typeface="Courier New" pitchFamily="34" charset="-122"/>
                <a:cs typeface="Courier New" pitchFamily="34" charset="-120"/>
              </a:rPr>
              <a:t>Minimum 2–3 distinct market regimes per evaluation</a:t>
            </a:r>
            <a:endParaRPr lang="en-US" sz="1300" dirty="0"/>
          </a:p>
        </p:txBody>
      </p:sp>
      <p:sp>
        <p:nvSpPr>
          <p:cNvPr id="15" name="Text 13"/>
          <p:cNvSpPr/>
          <p:nvPr/>
        </p:nvSpPr>
        <p:spPr>
          <a:xfrm>
            <a:off x="685800" y="4114800"/>
            <a:ext cx="4983480" cy="68580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Regime classes: bull / bear / sideways, and high-vol / low-vol. A hypothesis that only works in one regime is not promotable.</a:t>
            </a:r>
            <a:endParaRPr lang="en-US" sz="1100" dirty="0"/>
          </a:p>
        </p:txBody>
      </p:sp>
      <p:sp>
        <p:nvSpPr>
          <p:cNvPr id="16" name="Shape 14"/>
          <p:cNvSpPr/>
          <p:nvPr/>
        </p:nvSpPr>
        <p:spPr>
          <a:xfrm>
            <a:off x="6172200" y="3154680"/>
            <a:ext cx="5440680" cy="1691640"/>
          </a:xfrm>
          <a:prstGeom prst="roundRect">
            <a:avLst>
              <a:gd name="adj" fmla="val 4324"/>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7" name="Text 15"/>
          <p:cNvSpPr/>
          <p:nvPr/>
        </p:nvSpPr>
        <p:spPr>
          <a:xfrm>
            <a:off x="6400800" y="3319272"/>
            <a:ext cx="498348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COST DEFAULTS (per side)</a:t>
            </a:r>
            <a:endParaRPr lang="en-US" sz="1100" dirty="0"/>
          </a:p>
        </p:txBody>
      </p:sp>
      <p:sp>
        <p:nvSpPr>
          <p:cNvPr id="18" name="Text 16"/>
          <p:cNvSpPr/>
          <p:nvPr/>
        </p:nvSpPr>
        <p:spPr>
          <a:xfrm>
            <a:off x="6400800" y="3611880"/>
            <a:ext cx="4983480" cy="502920"/>
          </a:xfrm>
          <a:prstGeom prst="rect">
            <a:avLst/>
          </a:prstGeom>
          <a:noFill/>
          <a:ln/>
        </p:spPr>
        <p:txBody>
          <a:bodyPr wrap="square" lIns="0" tIns="0" rIns="0" bIns="0" rtlCol="0" anchor="t"/>
          <a:lstStyle/>
          <a:p>
            <a:pPr algn="l" indent="0" marL="0">
              <a:buNone/>
            </a:pPr>
            <a:r>
              <a:rPr lang="en-US" sz="1300" b="1" dirty="0">
                <a:solidFill>
                  <a:srgbClr val="0F766E"/>
                </a:solidFill>
                <a:latin typeface="Courier New" pitchFamily="34" charset="0"/>
                <a:ea typeface="Courier New" pitchFamily="34" charset="-122"/>
                <a:cs typeface="Courier New" pitchFamily="34" charset="-120"/>
              </a:rPr>
              <a:t>2.0 bps spread  +  1.0 bps fees  +  2.0 bps slippage  =  5.0 bps round-trip</a:t>
            </a:r>
            <a:endParaRPr lang="en-US" sz="1300" dirty="0"/>
          </a:p>
        </p:txBody>
      </p:sp>
      <p:sp>
        <p:nvSpPr>
          <p:cNvPr id="19" name="Text 17"/>
          <p:cNvSpPr/>
          <p:nvPr/>
        </p:nvSpPr>
        <p:spPr>
          <a:xfrm>
            <a:off x="6400800" y="4114800"/>
            <a:ext cx="4983480" cy="68580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Research-quality evidence: survives weaker cost assumptions. Economic evidence: survives these defaults.</a:t>
            </a:r>
            <a:endParaRPr lang="en-US" sz="1100" dirty="0"/>
          </a:p>
        </p:txBody>
      </p:sp>
      <p:sp>
        <p:nvSpPr>
          <p:cNvPr id="20" name="Shape 18"/>
          <p:cNvSpPr/>
          <p:nvPr/>
        </p:nvSpPr>
        <p:spPr>
          <a:xfrm>
            <a:off x="457200" y="5166360"/>
            <a:ext cx="11247120" cy="548640"/>
          </a:xfrm>
          <a:prstGeom prst="rect">
            <a:avLst/>
          </a:prstGeom>
          <a:solidFill>
            <a:srgbClr val="1A1F24"/>
          </a:solidFill>
          <a:ln w="6350">
            <a:solidFill>
              <a:srgbClr val="0F766E"/>
            </a:solidFill>
            <a:prstDash val="solid"/>
          </a:ln>
        </p:spPr>
      </p:sp>
      <p:sp>
        <p:nvSpPr>
          <p:cNvPr id="21" name="Text 19"/>
          <p:cNvSpPr/>
          <p:nvPr/>
        </p:nvSpPr>
        <p:spPr>
          <a:xfrm>
            <a:off x="685800" y="5166360"/>
            <a:ext cx="10789920" cy="548640"/>
          </a:xfrm>
          <a:prstGeom prst="rect">
            <a:avLst/>
          </a:prstGeom>
          <a:noFill/>
          <a:ln/>
        </p:spPr>
        <p:txBody>
          <a:bodyPr wrap="square" lIns="0" tIns="0" rIns="0" bIns="0" rtlCol="0" anchor="ctr"/>
          <a:lstStyle/>
          <a:p>
            <a:pPr algn="l" indent="0" marL="0">
              <a:buNone/>
            </a:pPr>
            <a:r>
              <a:rPr lang="en-US" sz="1050" b="1" spc="200" kern="0" dirty="0">
                <a:solidFill>
                  <a:srgbClr val="9CA3AF"/>
                </a:solidFill>
                <a:latin typeface="Calibri" pitchFamily="34" charset="0"/>
                <a:ea typeface="Calibri" pitchFamily="34" charset="-122"/>
                <a:cs typeface="Calibri" pitchFamily="34" charset="-120"/>
              </a:rPr>
              <a:t>EVIDENCE TIERS:  </a:t>
            </a:r>
            <a:pPr algn="l" indent="0" marL="0">
              <a:buNone/>
            </a:pPr>
            <a:r>
              <a:rPr lang="en-US" sz="1100" b="1" dirty="0">
                <a:solidFill>
                  <a:srgbClr val="5EEAD4"/>
                </a:solidFill>
                <a:latin typeface="Courier New" pitchFamily="34" charset="0"/>
                <a:ea typeface="Courier New" pitchFamily="34" charset="-122"/>
                <a:cs typeface="Courier New" pitchFamily="34" charset="-120"/>
              </a:rPr>
              <a:t>Research-quality</a:t>
            </a:r>
            <a:pPr algn="l" indent="0" marL="0">
              <a:buNone/>
            </a:pPr>
            <a:r>
              <a:rPr lang="en-US" sz="1050" dirty="0">
                <a:solidFill>
                  <a:srgbClr val="9CA3AF"/>
                </a:solidFill>
                <a:latin typeface="Calibri" pitchFamily="34" charset="0"/>
                <a:ea typeface="Calibri" pitchFamily="34" charset="-122"/>
                <a:cs typeface="Calibri" pitchFamily="34" charset="-120"/>
              </a:rPr>
              <a:t> (robust to relaxed costs)    &gt;    </a:t>
            </a:r>
            <a:pPr algn="l" indent="0" marL="0">
              <a:buNone/>
            </a:pPr>
            <a:r>
              <a:rPr lang="en-US" sz="1100" b="1" dirty="0">
                <a:solidFill>
                  <a:srgbClr val="5EEAD4"/>
                </a:solidFill>
                <a:latin typeface="Courier New" pitchFamily="34" charset="0"/>
                <a:ea typeface="Courier New" pitchFamily="34" charset="-122"/>
                <a:cs typeface="Courier New" pitchFamily="34" charset="-120"/>
              </a:rPr>
              <a:t>Economic</a:t>
            </a:r>
            <a:pPr algn="l" indent="0" marL="0">
              <a:buNone/>
            </a:pPr>
            <a:r>
              <a:rPr lang="en-US" sz="1050" dirty="0">
                <a:solidFill>
                  <a:srgbClr val="9CA3AF"/>
                </a:solidFill>
                <a:latin typeface="Calibri" pitchFamily="34" charset="0"/>
                <a:ea typeface="Calibri" pitchFamily="34" charset="-122"/>
                <a:cs typeface="Calibri" pitchFamily="34" charset="-120"/>
              </a:rPr>
              <a:t> (survives default cost stack). Promotion requires Economic evidence at the hypothesis-specific threshold.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Promotion Gates &amp; Research Policy</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Eleven gates, A through K, from research integrity to the strategic decision to go live on paper</a:t>
            </a:r>
            <a:endParaRPr lang="en-US" sz="1100" dirty="0"/>
          </a:p>
        </p:txBody>
      </p:sp>
      <p:sp>
        <p:nvSpPr>
          <p:cNvPr id="4" name="Shape 2"/>
          <p:cNvSpPr/>
          <p:nvPr/>
        </p:nvSpPr>
        <p:spPr>
          <a:xfrm>
            <a:off x="694944" y="1234440"/>
            <a:ext cx="1627632" cy="685800"/>
          </a:xfrm>
          <a:prstGeom prst="roundRect">
            <a:avLst>
              <a:gd name="adj" fmla="val 13333"/>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5" name="Text 3"/>
          <p:cNvSpPr/>
          <p:nvPr/>
        </p:nvSpPr>
        <p:spPr>
          <a:xfrm>
            <a:off x="786384" y="1325880"/>
            <a:ext cx="1444752" cy="320040"/>
          </a:xfrm>
          <a:prstGeom prst="rect">
            <a:avLst/>
          </a:prstGeom>
          <a:noFill/>
          <a:ln/>
        </p:spPr>
        <p:txBody>
          <a:bodyPr wrap="square" lIns="0" tIns="0" rIns="0" bIns="0" rtlCol="0" anchor="ctr"/>
          <a:lstStyle/>
          <a:p>
            <a:pPr algn="ctr" indent="0" marL="0">
              <a:buNone/>
            </a:pPr>
            <a:r>
              <a:rPr lang="en-US" sz="1800" b="1" dirty="0">
                <a:solidFill>
                  <a:srgbClr val="0F766E"/>
                </a:solidFill>
                <a:latin typeface="Cambria" pitchFamily="34" charset="0"/>
                <a:ea typeface="Cambria" pitchFamily="34" charset="-122"/>
                <a:cs typeface="Cambria" pitchFamily="34" charset="-120"/>
              </a:rPr>
              <a:t>A</a:t>
            </a:r>
            <a:endParaRPr lang="en-US" sz="1800" dirty="0"/>
          </a:p>
        </p:txBody>
      </p:sp>
      <p:sp>
        <p:nvSpPr>
          <p:cNvPr id="6" name="Text 4"/>
          <p:cNvSpPr/>
          <p:nvPr/>
        </p:nvSpPr>
        <p:spPr>
          <a:xfrm>
            <a:off x="786384" y="1618488"/>
            <a:ext cx="1444752" cy="274320"/>
          </a:xfrm>
          <a:prstGeom prst="rect">
            <a:avLst/>
          </a:prstGeom>
          <a:noFill/>
          <a:ln/>
        </p:spPr>
        <p:txBody>
          <a:bodyPr wrap="square" lIns="0" tIns="0" rIns="0" bIns="0" rtlCol="0" anchor="ctr"/>
          <a:lstStyle/>
          <a:p>
            <a:pPr algn="ctr" indent="0" marL="0">
              <a:buNone/>
            </a:pPr>
            <a:r>
              <a:rPr lang="en-US" sz="950" b="1" spc="50" kern="0" dirty="0">
                <a:solidFill>
                  <a:srgbClr val="1F2937"/>
                </a:solidFill>
                <a:latin typeface="Calibri" pitchFamily="34" charset="0"/>
                <a:ea typeface="Calibri" pitchFamily="34" charset="-122"/>
                <a:cs typeface="Calibri" pitchFamily="34" charset="-120"/>
              </a:rPr>
              <a:t>Research Integrity</a:t>
            </a:r>
            <a:endParaRPr lang="en-US" sz="950" dirty="0"/>
          </a:p>
        </p:txBody>
      </p:sp>
      <p:sp>
        <p:nvSpPr>
          <p:cNvPr id="7" name="Shape 5"/>
          <p:cNvSpPr/>
          <p:nvPr/>
        </p:nvSpPr>
        <p:spPr>
          <a:xfrm>
            <a:off x="2523744" y="1234440"/>
            <a:ext cx="1627632" cy="685800"/>
          </a:xfrm>
          <a:prstGeom prst="roundRect">
            <a:avLst>
              <a:gd name="adj" fmla="val 13333"/>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8" name="Text 6"/>
          <p:cNvSpPr/>
          <p:nvPr/>
        </p:nvSpPr>
        <p:spPr>
          <a:xfrm>
            <a:off x="2615184" y="1325880"/>
            <a:ext cx="1444752" cy="320040"/>
          </a:xfrm>
          <a:prstGeom prst="rect">
            <a:avLst/>
          </a:prstGeom>
          <a:noFill/>
          <a:ln/>
        </p:spPr>
        <p:txBody>
          <a:bodyPr wrap="square" lIns="0" tIns="0" rIns="0" bIns="0" rtlCol="0" anchor="ctr"/>
          <a:lstStyle/>
          <a:p>
            <a:pPr algn="ctr" indent="0" marL="0">
              <a:buNone/>
            </a:pPr>
            <a:r>
              <a:rPr lang="en-US" sz="1800" b="1" dirty="0">
                <a:solidFill>
                  <a:srgbClr val="0F766E"/>
                </a:solidFill>
                <a:latin typeface="Cambria" pitchFamily="34" charset="0"/>
                <a:ea typeface="Cambria" pitchFamily="34" charset="-122"/>
                <a:cs typeface="Cambria" pitchFamily="34" charset="-120"/>
              </a:rPr>
              <a:t>B</a:t>
            </a:r>
            <a:endParaRPr lang="en-US" sz="1800" dirty="0"/>
          </a:p>
        </p:txBody>
      </p:sp>
      <p:sp>
        <p:nvSpPr>
          <p:cNvPr id="9" name="Text 7"/>
          <p:cNvSpPr/>
          <p:nvPr/>
        </p:nvSpPr>
        <p:spPr>
          <a:xfrm>
            <a:off x="2615184" y="1618488"/>
            <a:ext cx="1444752" cy="274320"/>
          </a:xfrm>
          <a:prstGeom prst="rect">
            <a:avLst/>
          </a:prstGeom>
          <a:noFill/>
          <a:ln/>
        </p:spPr>
        <p:txBody>
          <a:bodyPr wrap="square" lIns="0" tIns="0" rIns="0" bIns="0" rtlCol="0" anchor="ctr"/>
          <a:lstStyle/>
          <a:p>
            <a:pPr algn="ctr" indent="0" marL="0">
              <a:buNone/>
            </a:pPr>
            <a:r>
              <a:rPr lang="en-US" sz="950" b="1" spc="50" kern="0" dirty="0">
                <a:solidFill>
                  <a:srgbClr val="1F2937"/>
                </a:solidFill>
                <a:latin typeface="Calibri" pitchFamily="34" charset="0"/>
                <a:ea typeface="Calibri" pitchFamily="34" charset="-122"/>
                <a:cs typeface="Calibri" pitchFamily="34" charset="-120"/>
              </a:rPr>
              <a:t>Hypothesis Registry</a:t>
            </a:r>
            <a:endParaRPr lang="en-US" sz="950" dirty="0"/>
          </a:p>
        </p:txBody>
      </p:sp>
      <p:sp>
        <p:nvSpPr>
          <p:cNvPr id="10" name="Shape 8"/>
          <p:cNvSpPr/>
          <p:nvPr/>
        </p:nvSpPr>
        <p:spPr>
          <a:xfrm>
            <a:off x="4352544" y="1234440"/>
            <a:ext cx="1627632" cy="685800"/>
          </a:xfrm>
          <a:prstGeom prst="roundRect">
            <a:avLst>
              <a:gd name="adj" fmla="val 13333"/>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11" name="Text 9"/>
          <p:cNvSpPr/>
          <p:nvPr/>
        </p:nvSpPr>
        <p:spPr>
          <a:xfrm>
            <a:off x="4443984" y="1325880"/>
            <a:ext cx="1444752" cy="320040"/>
          </a:xfrm>
          <a:prstGeom prst="rect">
            <a:avLst/>
          </a:prstGeom>
          <a:noFill/>
          <a:ln/>
        </p:spPr>
        <p:txBody>
          <a:bodyPr wrap="square" lIns="0" tIns="0" rIns="0" bIns="0" rtlCol="0" anchor="ctr"/>
          <a:lstStyle/>
          <a:p>
            <a:pPr algn="ctr" indent="0" marL="0">
              <a:buNone/>
            </a:pPr>
            <a:r>
              <a:rPr lang="en-US" sz="1800" b="1" dirty="0">
                <a:solidFill>
                  <a:srgbClr val="0F766E"/>
                </a:solidFill>
                <a:latin typeface="Cambria" pitchFamily="34" charset="0"/>
                <a:ea typeface="Cambria" pitchFamily="34" charset="-122"/>
                <a:cs typeface="Cambria" pitchFamily="34" charset="-120"/>
              </a:rPr>
              <a:t>C</a:t>
            </a:r>
            <a:endParaRPr lang="en-US" sz="1800" dirty="0"/>
          </a:p>
        </p:txBody>
      </p:sp>
      <p:sp>
        <p:nvSpPr>
          <p:cNvPr id="12" name="Text 10"/>
          <p:cNvSpPr/>
          <p:nvPr/>
        </p:nvSpPr>
        <p:spPr>
          <a:xfrm>
            <a:off x="4443984" y="1618488"/>
            <a:ext cx="1444752" cy="274320"/>
          </a:xfrm>
          <a:prstGeom prst="rect">
            <a:avLst/>
          </a:prstGeom>
          <a:noFill/>
          <a:ln/>
        </p:spPr>
        <p:txBody>
          <a:bodyPr wrap="square" lIns="0" tIns="0" rIns="0" bIns="0" rtlCol="0" anchor="ctr"/>
          <a:lstStyle/>
          <a:p>
            <a:pPr algn="ctr" indent="0" marL="0">
              <a:buNone/>
            </a:pPr>
            <a:r>
              <a:rPr lang="en-US" sz="950" b="1" spc="50" kern="0" dirty="0">
                <a:solidFill>
                  <a:srgbClr val="1F2937"/>
                </a:solidFill>
                <a:latin typeface="Calibri" pitchFamily="34" charset="0"/>
                <a:ea typeface="Calibri" pitchFamily="34" charset="-122"/>
                <a:cs typeface="Calibri" pitchFamily="34" charset="-120"/>
              </a:rPr>
              <a:t>Pre-registration</a:t>
            </a:r>
            <a:endParaRPr lang="en-US" sz="950" dirty="0"/>
          </a:p>
        </p:txBody>
      </p:sp>
      <p:sp>
        <p:nvSpPr>
          <p:cNvPr id="13" name="Shape 11"/>
          <p:cNvSpPr/>
          <p:nvPr/>
        </p:nvSpPr>
        <p:spPr>
          <a:xfrm>
            <a:off x="6181344" y="1234440"/>
            <a:ext cx="1627632" cy="685800"/>
          </a:xfrm>
          <a:prstGeom prst="roundRect">
            <a:avLst>
              <a:gd name="adj" fmla="val 13333"/>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14" name="Text 12"/>
          <p:cNvSpPr/>
          <p:nvPr/>
        </p:nvSpPr>
        <p:spPr>
          <a:xfrm>
            <a:off x="6272784" y="1325880"/>
            <a:ext cx="1444752" cy="320040"/>
          </a:xfrm>
          <a:prstGeom prst="rect">
            <a:avLst/>
          </a:prstGeom>
          <a:noFill/>
          <a:ln/>
        </p:spPr>
        <p:txBody>
          <a:bodyPr wrap="square" lIns="0" tIns="0" rIns="0" bIns="0" rtlCol="0" anchor="ctr"/>
          <a:lstStyle/>
          <a:p>
            <a:pPr algn="ctr" indent="0" marL="0">
              <a:buNone/>
            </a:pPr>
            <a:r>
              <a:rPr lang="en-US" sz="1800" b="1" dirty="0">
                <a:solidFill>
                  <a:srgbClr val="0F766E"/>
                </a:solidFill>
                <a:latin typeface="Cambria" pitchFamily="34" charset="0"/>
                <a:ea typeface="Cambria" pitchFamily="34" charset="-122"/>
                <a:cs typeface="Cambria" pitchFamily="34" charset="-120"/>
              </a:rPr>
              <a:t>D</a:t>
            </a:r>
            <a:endParaRPr lang="en-US" sz="1800" dirty="0"/>
          </a:p>
        </p:txBody>
      </p:sp>
      <p:sp>
        <p:nvSpPr>
          <p:cNvPr id="15" name="Text 13"/>
          <p:cNvSpPr/>
          <p:nvPr/>
        </p:nvSpPr>
        <p:spPr>
          <a:xfrm>
            <a:off x="6272784" y="1618488"/>
            <a:ext cx="1444752" cy="274320"/>
          </a:xfrm>
          <a:prstGeom prst="rect">
            <a:avLst/>
          </a:prstGeom>
          <a:noFill/>
          <a:ln/>
        </p:spPr>
        <p:txBody>
          <a:bodyPr wrap="square" lIns="0" tIns="0" rIns="0" bIns="0" rtlCol="0" anchor="ctr"/>
          <a:lstStyle/>
          <a:p>
            <a:pPr algn="ctr" indent="0" marL="0">
              <a:buNone/>
            </a:pPr>
            <a:r>
              <a:rPr lang="en-US" sz="950" b="1" spc="50" kern="0" dirty="0">
                <a:solidFill>
                  <a:srgbClr val="1F2937"/>
                </a:solidFill>
                <a:latin typeface="Calibri" pitchFamily="34" charset="0"/>
                <a:ea typeface="Calibri" pitchFamily="34" charset="-122"/>
                <a:cs typeface="Calibri" pitchFamily="34" charset="-120"/>
              </a:rPr>
              <a:t>Feature Lineage</a:t>
            </a:r>
            <a:endParaRPr lang="en-US" sz="950" dirty="0"/>
          </a:p>
        </p:txBody>
      </p:sp>
      <p:sp>
        <p:nvSpPr>
          <p:cNvPr id="16" name="Shape 14"/>
          <p:cNvSpPr/>
          <p:nvPr/>
        </p:nvSpPr>
        <p:spPr>
          <a:xfrm>
            <a:off x="8010144" y="1234440"/>
            <a:ext cx="1627632" cy="685800"/>
          </a:xfrm>
          <a:prstGeom prst="roundRect">
            <a:avLst>
              <a:gd name="adj" fmla="val 13333"/>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17" name="Text 15"/>
          <p:cNvSpPr/>
          <p:nvPr/>
        </p:nvSpPr>
        <p:spPr>
          <a:xfrm>
            <a:off x="8101584" y="1325880"/>
            <a:ext cx="1444752" cy="320040"/>
          </a:xfrm>
          <a:prstGeom prst="rect">
            <a:avLst/>
          </a:prstGeom>
          <a:noFill/>
          <a:ln/>
        </p:spPr>
        <p:txBody>
          <a:bodyPr wrap="square" lIns="0" tIns="0" rIns="0" bIns="0" rtlCol="0" anchor="ctr"/>
          <a:lstStyle/>
          <a:p>
            <a:pPr algn="ctr" indent="0" marL="0">
              <a:buNone/>
            </a:pPr>
            <a:r>
              <a:rPr lang="en-US" sz="1800" b="1" dirty="0">
                <a:solidFill>
                  <a:srgbClr val="0F766E"/>
                </a:solidFill>
                <a:latin typeface="Cambria" pitchFamily="34" charset="0"/>
                <a:ea typeface="Cambria" pitchFamily="34" charset="-122"/>
                <a:cs typeface="Cambria" pitchFamily="34" charset="-120"/>
              </a:rPr>
              <a:t>E</a:t>
            </a:r>
            <a:endParaRPr lang="en-US" sz="1800" dirty="0"/>
          </a:p>
        </p:txBody>
      </p:sp>
      <p:sp>
        <p:nvSpPr>
          <p:cNvPr id="18" name="Text 16"/>
          <p:cNvSpPr/>
          <p:nvPr/>
        </p:nvSpPr>
        <p:spPr>
          <a:xfrm>
            <a:off x="8101584" y="1618488"/>
            <a:ext cx="1444752" cy="274320"/>
          </a:xfrm>
          <a:prstGeom prst="rect">
            <a:avLst/>
          </a:prstGeom>
          <a:noFill/>
          <a:ln/>
        </p:spPr>
        <p:txBody>
          <a:bodyPr wrap="square" lIns="0" tIns="0" rIns="0" bIns="0" rtlCol="0" anchor="ctr"/>
          <a:lstStyle/>
          <a:p>
            <a:pPr algn="ctr" indent="0" marL="0">
              <a:buNone/>
            </a:pPr>
            <a:r>
              <a:rPr lang="en-US" sz="950" b="1" spc="50" kern="0" dirty="0">
                <a:solidFill>
                  <a:srgbClr val="1F2937"/>
                </a:solidFill>
                <a:latin typeface="Calibri" pitchFamily="34" charset="0"/>
                <a:ea typeface="Calibri" pitchFamily="34" charset="-122"/>
                <a:cs typeface="Calibri" pitchFamily="34" charset="-120"/>
              </a:rPr>
              <a:t>Label Contract</a:t>
            </a:r>
            <a:endParaRPr lang="en-US" sz="950" dirty="0"/>
          </a:p>
        </p:txBody>
      </p:sp>
      <p:sp>
        <p:nvSpPr>
          <p:cNvPr id="19" name="Shape 17"/>
          <p:cNvSpPr/>
          <p:nvPr/>
        </p:nvSpPr>
        <p:spPr>
          <a:xfrm>
            <a:off x="9838944" y="1234440"/>
            <a:ext cx="1627632" cy="685800"/>
          </a:xfrm>
          <a:prstGeom prst="roundRect">
            <a:avLst>
              <a:gd name="adj" fmla="val 13333"/>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20" name="Text 18"/>
          <p:cNvSpPr/>
          <p:nvPr/>
        </p:nvSpPr>
        <p:spPr>
          <a:xfrm>
            <a:off x="9930384" y="1325880"/>
            <a:ext cx="1444752" cy="320040"/>
          </a:xfrm>
          <a:prstGeom prst="rect">
            <a:avLst/>
          </a:prstGeom>
          <a:noFill/>
          <a:ln/>
        </p:spPr>
        <p:txBody>
          <a:bodyPr wrap="square" lIns="0" tIns="0" rIns="0" bIns="0" rtlCol="0" anchor="ctr"/>
          <a:lstStyle/>
          <a:p>
            <a:pPr algn="ctr" indent="0" marL="0">
              <a:buNone/>
            </a:pPr>
            <a:r>
              <a:rPr lang="en-US" sz="1800" b="1" dirty="0">
                <a:solidFill>
                  <a:srgbClr val="0F766E"/>
                </a:solidFill>
                <a:latin typeface="Cambria" pitchFamily="34" charset="0"/>
                <a:ea typeface="Cambria" pitchFamily="34" charset="-122"/>
                <a:cs typeface="Cambria" pitchFamily="34" charset="-120"/>
              </a:rPr>
              <a:t>F</a:t>
            </a:r>
            <a:endParaRPr lang="en-US" sz="1800" dirty="0"/>
          </a:p>
        </p:txBody>
      </p:sp>
      <p:sp>
        <p:nvSpPr>
          <p:cNvPr id="21" name="Text 19"/>
          <p:cNvSpPr/>
          <p:nvPr/>
        </p:nvSpPr>
        <p:spPr>
          <a:xfrm>
            <a:off x="9930384" y="1618488"/>
            <a:ext cx="1444752" cy="274320"/>
          </a:xfrm>
          <a:prstGeom prst="rect">
            <a:avLst/>
          </a:prstGeom>
          <a:noFill/>
          <a:ln/>
        </p:spPr>
        <p:txBody>
          <a:bodyPr wrap="square" lIns="0" tIns="0" rIns="0" bIns="0" rtlCol="0" anchor="ctr"/>
          <a:lstStyle/>
          <a:p>
            <a:pPr algn="ctr" indent="0" marL="0">
              <a:buNone/>
            </a:pPr>
            <a:r>
              <a:rPr lang="en-US" sz="950" b="1" spc="50" kern="0" dirty="0">
                <a:solidFill>
                  <a:srgbClr val="1F2937"/>
                </a:solidFill>
                <a:latin typeface="Calibri" pitchFamily="34" charset="0"/>
                <a:ea typeface="Calibri" pitchFamily="34" charset="-122"/>
                <a:cs typeface="Calibri" pitchFamily="34" charset="-120"/>
              </a:rPr>
              <a:t>Walk-Forward OOS</a:t>
            </a:r>
            <a:endParaRPr lang="en-US" sz="950" dirty="0"/>
          </a:p>
        </p:txBody>
      </p:sp>
      <p:sp>
        <p:nvSpPr>
          <p:cNvPr id="22" name="Shape 20"/>
          <p:cNvSpPr/>
          <p:nvPr/>
        </p:nvSpPr>
        <p:spPr>
          <a:xfrm>
            <a:off x="2322576" y="1577340"/>
            <a:ext cx="201168" cy="0"/>
          </a:xfrm>
          <a:prstGeom prst="line">
            <a:avLst/>
          </a:prstGeom>
          <a:noFill/>
          <a:ln w="19050">
            <a:solidFill>
              <a:srgbClr val="14B8A6"/>
            </a:solidFill>
            <a:prstDash val="solid"/>
            <a:headEnd type="none"/>
            <a:tailEnd type="triangle"/>
          </a:ln>
        </p:spPr>
      </p:sp>
      <p:sp>
        <p:nvSpPr>
          <p:cNvPr id="23" name="Shape 21"/>
          <p:cNvSpPr/>
          <p:nvPr/>
        </p:nvSpPr>
        <p:spPr>
          <a:xfrm>
            <a:off x="4151376" y="1577340"/>
            <a:ext cx="201168" cy="0"/>
          </a:xfrm>
          <a:prstGeom prst="line">
            <a:avLst/>
          </a:prstGeom>
          <a:noFill/>
          <a:ln w="19050">
            <a:solidFill>
              <a:srgbClr val="14B8A6"/>
            </a:solidFill>
            <a:prstDash val="solid"/>
            <a:headEnd type="none"/>
            <a:tailEnd type="triangle"/>
          </a:ln>
        </p:spPr>
      </p:sp>
      <p:sp>
        <p:nvSpPr>
          <p:cNvPr id="24" name="Shape 22"/>
          <p:cNvSpPr/>
          <p:nvPr/>
        </p:nvSpPr>
        <p:spPr>
          <a:xfrm>
            <a:off x="5980176" y="1577340"/>
            <a:ext cx="201168" cy="0"/>
          </a:xfrm>
          <a:prstGeom prst="line">
            <a:avLst/>
          </a:prstGeom>
          <a:noFill/>
          <a:ln w="19050">
            <a:solidFill>
              <a:srgbClr val="14B8A6"/>
            </a:solidFill>
            <a:prstDash val="solid"/>
            <a:headEnd type="none"/>
            <a:tailEnd type="triangle"/>
          </a:ln>
        </p:spPr>
      </p:sp>
      <p:sp>
        <p:nvSpPr>
          <p:cNvPr id="25" name="Shape 23"/>
          <p:cNvSpPr/>
          <p:nvPr/>
        </p:nvSpPr>
        <p:spPr>
          <a:xfrm>
            <a:off x="7808976" y="1577340"/>
            <a:ext cx="201168" cy="0"/>
          </a:xfrm>
          <a:prstGeom prst="line">
            <a:avLst/>
          </a:prstGeom>
          <a:noFill/>
          <a:ln w="19050">
            <a:solidFill>
              <a:srgbClr val="14B8A6"/>
            </a:solidFill>
            <a:prstDash val="solid"/>
            <a:headEnd type="none"/>
            <a:tailEnd type="triangle"/>
          </a:ln>
        </p:spPr>
      </p:sp>
      <p:sp>
        <p:nvSpPr>
          <p:cNvPr id="26" name="Shape 24"/>
          <p:cNvSpPr/>
          <p:nvPr/>
        </p:nvSpPr>
        <p:spPr>
          <a:xfrm>
            <a:off x="9637776" y="1577340"/>
            <a:ext cx="201168" cy="0"/>
          </a:xfrm>
          <a:prstGeom prst="line">
            <a:avLst/>
          </a:prstGeom>
          <a:noFill/>
          <a:ln w="19050">
            <a:solidFill>
              <a:srgbClr val="14B8A6"/>
            </a:solidFill>
            <a:prstDash val="solid"/>
            <a:headEnd type="none"/>
            <a:tailEnd type="triangle"/>
          </a:ln>
        </p:spPr>
      </p:sp>
      <p:sp>
        <p:nvSpPr>
          <p:cNvPr id="27" name="Shape 25"/>
          <p:cNvSpPr/>
          <p:nvPr/>
        </p:nvSpPr>
        <p:spPr>
          <a:xfrm>
            <a:off x="9838944" y="2423160"/>
            <a:ext cx="1627632" cy="685800"/>
          </a:xfrm>
          <a:prstGeom prst="roundRect">
            <a:avLst>
              <a:gd name="adj" fmla="val 13333"/>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28" name="Text 26"/>
          <p:cNvSpPr/>
          <p:nvPr/>
        </p:nvSpPr>
        <p:spPr>
          <a:xfrm>
            <a:off x="9930384" y="2514600"/>
            <a:ext cx="1444752" cy="320040"/>
          </a:xfrm>
          <a:prstGeom prst="rect">
            <a:avLst/>
          </a:prstGeom>
          <a:noFill/>
          <a:ln/>
        </p:spPr>
        <p:txBody>
          <a:bodyPr wrap="square" lIns="0" tIns="0" rIns="0" bIns="0" rtlCol="0" anchor="ctr"/>
          <a:lstStyle/>
          <a:p>
            <a:pPr algn="ctr" indent="0" marL="0">
              <a:buNone/>
            </a:pPr>
            <a:r>
              <a:rPr lang="en-US" sz="1800" b="1" dirty="0">
                <a:solidFill>
                  <a:srgbClr val="0F766E"/>
                </a:solidFill>
                <a:latin typeface="Cambria" pitchFamily="34" charset="0"/>
                <a:ea typeface="Cambria" pitchFamily="34" charset="-122"/>
                <a:cs typeface="Cambria" pitchFamily="34" charset="-120"/>
              </a:rPr>
              <a:t>G</a:t>
            </a:r>
            <a:endParaRPr lang="en-US" sz="1800" dirty="0"/>
          </a:p>
        </p:txBody>
      </p:sp>
      <p:sp>
        <p:nvSpPr>
          <p:cNvPr id="29" name="Text 27"/>
          <p:cNvSpPr/>
          <p:nvPr/>
        </p:nvSpPr>
        <p:spPr>
          <a:xfrm>
            <a:off x="9930384" y="2807208"/>
            <a:ext cx="1444752" cy="274320"/>
          </a:xfrm>
          <a:prstGeom prst="rect">
            <a:avLst/>
          </a:prstGeom>
          <a:noFill/>
          <a:ln/>
        </p:spPr>
        <p:txBody>
          <a:bodyPr wrap="square" lIns="0" tIns="0" rIns="0" bIns="0" rtlCol="0" anchor="ctr"/>
          <a:lstStyle/>
          <a:p>
            <a:pPr algn="ctr" indent="0" marL="0">
              <a:buNone/>
            </a:pPr>
            <a:r>
              <a:rPr lang="en-US" sz="950" b="1" spc="50" kern="0" dirty="0">
                <a:solidFill>
                  <a:srgbClr val="1F2937"/>
                </a:solidFill>
                <a:latin typeface="Calibri" pitchFamily="34" charset="0"/>
                <a:ea typeface="Calibri" pitchFamily="34" charset="-122"/>
                <a:cs typeface="Calibri" pitchFamily="34" charset="-120"/>
              </a:rPr>
              <a:t>Falsification</a:t>
            </a:r>
            <a:endParaRPr lang="en-US" sz="950" dirty="0"/>
          </a:p>
        </p:txBody>
      </p:sp>
      <p:sp>
        <p:nvSpPr>
          <p:cNvPr id="30" name="Shape 28"/>
          <p:cNvSpPr/>
          <p:nvPr/>
        </p:nvSpPr>
        <p:spPr>
          <a:xfrm>
            <a:off x="8010144" y="2423160"/>
            <a:ext cx="1627632" cy="685800"/>
          </a:xfrm>
          <a:prstGeom prst="roundRect">
            <a:avLst>
              <a:gd name="adj" fmla="val 13333"/>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31" name="Text 29"/>
          <p:cNvSpPr/>
          <p:nvPr/>
        </p:nvSpPr>
        <p:spPr>
          <a:xfrm>
            <a:off x="8101584" y="2514600"/>
            <a:ext cx="1444752" cy="320040"/>
          </a:xfrm>
          <a:prstGeom prst="rect">
            <a:avLst/>
          </a:prstGeom>
          <a:noFill/>
          <a:ln/>
        </p:spPr>
        <p:txBody>
          <a:bodyPr wrap="square" lIns="0" tIns="0" rIns="0" bIns="0" rtlCol="0" anchor="ctr"/>
          <a:lstStyle/>
          <a:p>
            <a:pPr algn="ctr" indent="0" marL="0">
              <a:buNone/>
            </a:pPr>
            <a:r>
              <a:rPr lang="en-US" sz="1800" b="1" dirty="0">
                <a:solidFill>
                  <a:srgbClr val="0F766E"/>
                </a:solidFill>
                <a:latin typeface="Cambria" pitchFamily="34" charset="0"/>
                <a:ea typeface="Cambria" pitchFamily="34" charset="-122"/>
                <a:cs typeface="Cambria" pitchFamily="34" charset="-120"/>
              </a:rPr>
              <a:t>H</a:t>
            </a:r>
            <a:endParaRPr lang="en-US" sz="1800" dirty="0"/>
          </a:p>
        </p:txBody>
      </p:sp>
      <p:sp>
        <p:nvSpPr>
          <p:cNvPr id="32" name="Text 30"/>
          <p:cNvSpPr/>
          <p:nvPr/>
        </p:nvSpPr>
        <p:spPr>
          <a:xfrm>
            <a:off x="8101584" y="2807208"/>
            <a:ext cx="1444752" cy="274320"/>
          </a:xfrm>
          <a:prstGeom prst="rect">
            <a:avLst/>
          </a:prstGeom>
          <a:noFill/>
          <a:ln/>
        </p:spPr>
        <p:txBody>
          <a:bodyPr wrap="square" lIns="0" tIns="0" rIns="0" bIns="0" rtlCol="0" anchor="ctr"/>
          <a:lstStyle/>
          <a:p>
            <a:pPr algn="ctr" indent="0" marL="0">
              <a:buNone/>
            </a:pPr>
            <a:r>
              <a:rPr lang="en-US" sz="950" b="1" spc="50" kern="0" dirty="0">
                <a:solidFill>
                  <a:srgbClr val="1F2937"/>
                </a:solidFill>
                <a:latin typeface="Calibri" pitchFamily="34" charset="0"/>
                <a:ea typeface="Calibri" pitchFamily="34" charset="-122"/>
                <a:cs typeface="Calibri" pitchFamily="34" charset="-120"/>
              </a:rPr>
              <a:t>Robustness</a:t>
            </a:r>
            <a:endParaRPr lang="en-US" sz="950" dirty="0"/>
          </a:p>
        </p:txBody>
      </p:sp>
      <p:sp>
        <p:nvSpPr>
          <p:cNvPr id="33" name="Shape 31"/>
          <p:cNvSpPr/>
          <p:nvPr/>
        </p:nvSpPr>
        <p:spPr>
          <a:xfrm>
            <a:off x="6181344" y="2423160"/>
            <a:ext cx="1627632" cy="685800"/>
          </a:xfrm>
          <a:prstGeom prst="roundRect">
            <a:avLst>
              <a:gd name="adj" fmla="val 13333"/>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34" name="Text 32"/>
          <p:cNvSpPr/>
          <p:nvPr/>
        </p:nvSpPr>
        <p:spPr>
          <a:xfrm>
            <a:off x="6272784" y="2514600"/>
            <a:ext cx="1444752" cy="320040"/>
          </a:xfrm>
          <a:prstGeom prst="rect">
            <a:avLst/>
          </a:prstGeom>
          <a:noFill/>
          <a:ln/>
        </p:spPr>
        <p:txBody>
          <a:bodyPr wrap="square" lIns="0" tIns="0" rIns="0" bIns="0" rtlCol="0" anchor="ctr"/>
          <a:lstStyle/>
          <a:p>
            <a:pPr algn="ctr" indent="0" marL="0">
              <a:buNone/>
            </a:pPr>
            <a:r>
              <a:rPr lang="en-US" sz="1800" b="1" dirty="0">
                <a:solidFill>
                  <a:srgbClr val="0F766E"/>
                </a:solidFill>
                <a:latin typeface="Cambria" pitchFamily="34" charset="0"/>
                <a:ea typeface="Cambria" pitchFamily="34" charset="-122"/>
                <a:cs typeface="Cambria" pitchFamily="34" charset="-120"/>
              </a:rPr>
              <a:t>I</a:t>
            </a:r>
            <a:endParaRPr lang="en-US" sz="1800" dirty="0"/>
          </a:p>
        </p:txBody>
      </p:sp>
      <p:sp>
        <p:nvSpPr>
          <p:cNvPr id="35" name="Text 33"/>
          <p:cNvSpPr/>
          <p:nvPr/>
        </p:nvSpPr>
        <p:spPr>
          <a:xfrm>
            <a:off x="6272784" y="2807208"/>
            <a:ext cx="1444752" cy="274320"/>
          </a:xfrm>
          <a:prstGeom prst="rect">
            <a:avLst/>
          </a:prstGeom>
          <a:noFill/>
          <a:ln/>
        </p:spPr>
        <p:txBody>
          <a:bodyPr wrap="square" lIns="0" tIns="0" rIns="0" bIns="0" rtlCol="0" anchor="ctr"/>
          <a:lstStyle/>
          <a:p>
            <a:pPr algn="ctr" indent="0" marL="0">
              <a:buNone/>
            </a:pPr>
            <a:r>
              <a:rPr lang="en-US" sz="950" b="1" spc="50" kern="0" dirty="0">
                <a:solidFill>
                  <a:srgbClr val="1F2937"/>
                </a:solidFill>
                <a:latin typeface="Calibri" pitchFamily="34" charset="0"/>
                <a:ea typeface="Calibri" pitchFamily="34" charset="-122"/>
                <a:cs typeface="Calibri" pitchFamily="34" charset="-120"/>
              </a:rPr>
              <a:t>Paper</a:t>
            </a:r>
            <a:endParaRPr lang="en-US" sz="950" dirty="0"/>
          </a:p>
        </p:txBody>
      </p:sp>
      <p:sp>
        <p:nvSpPr>
          <p:cNvPr id="36" name="Shape 34"/>
          <p:cNvSpPr/>
          <p:nvPr/>
        </p:nvSpPr>
        <p:spPr>
          <a:xfrm>
            <a:off x="4352544" y="2423160"/>
            <a:ext cx="1627632" cy="685800"/>
          </a:xfrm>
          <a:prstGeom prst="roundRect">
            <a:avLst>
              <a:gd name="adj" fmla="val 13333"/>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37" name="Text 35"/>
          <p:cNvSpPr/>
          <p:nvPr/>
        </p:nvSpPr>
        <p:spPr>
          <a:xfrm>
            <a:off x="4443984" y="2514600"/>
            <a:ext cx="1444752" cy="320040"/>
          </a:xfrm>
          <a:prstGeom prst="rect">
            <a:avLst/>
          </a:prstGeom>
          <a:noFill/>
          <a:ln/>
        </p:spPr>
        <p:txBody>
          <a:bodyPr wrap="square" lIns="0" tIns="0" rIns="0" bIns="0" rtlCol="0" anchor="ctr"/>
          <a:lstStyle/>
          <a:p>
            <a:pPr algn="ctr" indent="0" marL="0">
              <a:buNone/>
            </a:pPr>
            <a:r>
              <a:rPr lang="en-US" sz="1800" b="1" dirty="0">
                <a:solidFill>
                  <a:srgbClr val="0F766E"/>
                </a:solidFill>
                <a:latin typeface="Cambria" pitchFamily="34" charset="0"/>
                <a:ea typeface="Cambria" pitchFamily="34" charset="-122"/>
                <a:cs typeface="Cambria" pitchFamily="34" charset="-120"/>
              </a:rPr>
              <a:t>J</a:t>
            </a:r>
            <a:endParaRPr lang="en-US" sz="1800" dirty="0"/>
          </a:p>
        </p:txBody>
      </p:sp>
      <p:sp>
        <p:nvSpPr>
          <p:cNvPr id="38" name="Text 36"/>
          <p:cNvSpPr/>
          <p:nvPr/>
        </p:nvSpPr>
        <p:spPr>
          <a:xfrm>
            <a:off x="4443984" y="2807208"/>
            <a:ext cx="1444752" cy="274320"/>
          </a:xfrm>
          <a:prstGeom prst="rect">
            <a:avLst/>
          </a:prstGeom>
          <a:noFill/>
          <a:ln/>
        </p:spPr>
        <p:txBody>
          <a:bodyPr wrap="square" lIns="0" tIns="0" rIns="0" bIns="0" rtlCol="0" anchor="ctr"/>
          <a:lstStyle/>
          <a:p>
            <a:pPr algn="ctr" indent="0" marL="0">
              <a:buNone/>
            </a:pPr>
            <a:r>
              <a:rPr lang="en-US" sz="950" b="1" spc="50" kern="0" dirty="0">
                <a:solidFill>
                  <a:srgbClr val="1F2937"/>
                </a:solidFill>
                <a:latin typeface="Calibri" pitchFamily="34" charset="0"/>
                <a:ea typeface="Calibri" pitchFamily="34" charset="-122"/>
                <a:cs typeface="Calibri" pitchFamily="34" charset="-120"/>
              </a:rPr>
              <a:t>Live-Data Paper</a:t>
            </a:r>
            <a:endParaRPr lang="en-US" sz="950" dirty="0"/>
          </a:p>
        </p:txBody>
      </p:sp>
      <p:sp>
        <p:nvSpPr>
          <p:cNvPr id="39" name="Shape 37"/>
          <p:cNvSpPr/>
          <p:nvPr/>
        </p:nvSpPr>
        <p:spPr>
          <a:xfrm>
            <a:off x="2523744" y="2423160"/>
            <a:ext cx="1627632" cy="685800"/>
          </a:xfrm>
          <a:prstGeom prst="roundRect">
            <a:avLst>
              <a:gd name="adj" fmla="val 13333"/>
            </a:avLst>
          </a:prstGeom>
          <a:solidFill>
            <a:srgbClr val="FFFFFF"/>
          </a:solidFill>
          <a:ln w="12700">
            <a:solidFill>
              <a:srgbClr val="14B8A6"/>
            </a:solidFill>
            <a:prstDash val="solid"/>
          </a:ln>
          <a:effectLst>
            <a:outerShdw sx="100000" sy="100000" kx="0" ky="0" algn="bl" rotWithShape="0" blurRad="127000" dist="38100" dir="5400000">
              <a:srgbClr val="000000">
                <a:alpha val="8000"/>
              </a:srgbClr>
            </a:outerShdw>
          </a:effectLst>
        </p:spPr>
      </p:sp>
      <p:sp>
        <p:nvSpPr>
          <p:cNvPr id="40" name="Text 38"/>
          <p:cNvSpPr/>
          <p:nvPr/>
        </p:nvSpPr>
        <p:spPr>
          <a:xfrm>
            <a:off x="2615184" y="2514600"/>
            <a:ext cx="1444752" cy="320040"/>
          </a:xfrm>
          <a:prstGeom prst="rect">
            <a:avLst/>
          </a:prstGeom>
          <a:noFill/>
          <a:ln/>
        </p:spPr>
        <p:txBody>
          <a:bodyPr wrap="square" lIns="0" tIns="0" rIns="0" bIns="0" rtlCol="0" anchor="ctr"/>
          <a:lstStyle/>
          <a:p>
            <a:pPr algn="ctr" indent="0" marL="0">
              <a:buNone/>
            </a:pPr>
            <a:r>
              <a:rPr lang="en-US" sz="1800" b="1" dirty="0">
                <a:solidFill>
                  <a:srgbClr val="0F766E"/>
                </a:solidFill>
                <a:latin typeface="Cambria" pitchFamily="34" charset="0"/>
                <a:ea typeface="Cambria" pitchFamily="34" charset="-122"/>
                <a:cs typeface="Cambria" pitchFamily="34" charset="-120"/>
              </a:rPr>
              <a:t>K</a:t>
            </a:r>
            <a:endParaRPr lang="en-US" sz="1800" dirty="0"/>
          </a:p>
        </p:txBody>
      </p:sp>
      <p:sp>
        <p:nvSpPr>
          <p:cNvPr id="41" name="Text 39"/>
          <p:cNvSpPr/>
          <p:nvPr/>
        </p:nvSpPr>
        <p:spPr>
          <a:xfrm>
            <a:off x="2615184" y="2807208"/>
            <a:ext cx="1444752" cy="274320"/>
          </a:xfrm>
          <a:prstGeom prst="rect">
            <a:avLst/>
          </a:prstGeom>
          <a:noFill/>
          <a:ln/>
        </p:spPr>
        <p:txBody>
          <a:bodyPr wrap="square" lIns="0" tIns="0" rIns="0" bIns="0" rtlCol="0" anchor="ctr"/>
          <a:lstStyle/>
          <a:p>
            <a:pPr algn="ctr" indent="0" marL="0">
              <a:buNone/>
            </a:pPr>
            <a:r>
              <a:rPr lang="en-US" sz="950" b="1" spc="50" kern="0" dirty="0">
                <a:solidFill>
                  <a:srgbClr val="1F2937"/>
                </a:solidFill>
                <a:latin typeface="Calibri" pitchFamily="34" charset="0"/>
                <a:ea typeface="Calibri" pitchFamily="34" charset="-122"/>
                <a:cs typeface="Calibri" pitchFamily="34" charset="-120"/>
              </a:rPr>
              <a:t>Strategic Decision</a:t>
            </a:r>
            <a:endParaRPr lang="en-US" sz="950" dirty="0"/>
          </a:p>
        </p:txBody>
      </p:sp>
      <p:sp>
        <p:nvSpPr>
          <p:cNvPr id="42" name="Shape 40"/>
          <p:cNvSpPr/>
          <p:nvPr/>
        </p:nvSpPr>
        <p:spPr>
          <a:xfrm>
            <a:off x="9637776" y="2766060"/>
            <a:ext cx="201168" cy="0"/>
          </a:xfrm>
          <a:prstGeom prst="line">
            <a:avLst/>
          </a:prstGeom>
          <a:noFill/>
          <a:ln w="19050">
            <a:solidFill>
              <a:srgbClr val="5EEAD4"/>
            </a:solidFill>
            <a:prstDash val="solid"/>
            <a:headEnd type="triangle"/>
            <a:tailEnd type="none"/>
          </a:ln>
        </p:spPr>
      </p:sp>
      <p:sp>
        <p:nvSpPr>
          <p:cNvPr id="43" name="Shape 41"/>
          <p:cNvSpPr/>
          <p:nvPr/>
        </p:nvSpPr>
        <p:spPr>
          <a:xfrm>
            <a:off x="7808976" y="2766060"/>
            <a:ext cx="201168" cy="0"/>
          </a:xfrm>
          <a:prstGeom prst="line">
            <a:avLst/>
          </a:prstGeom>
          <a:noFill/>
          <a:ln w="19050">
            <a:solidFill>
              <a:srgbClr val="5EEAD4"/>
            </a:solidFill>
            <a:prstDash val="solid"/>
            <a:headEnd type="triangle"/>
            <a:tailEnd type="none"/>
          </a:ln>
        </p:spPr>
      </p:sp>
      <p:sp>
        <p:nvSpPr>
          <p:cNvPr id="44" name="Shape 42"/>
          <p:cNvSpPr/>
          <p:nvPr/>
        </p:nvSpPr>
        <p:spPr>
          <a:xfrm>
            <a:off x="5980176" y="2766060"/>
            <a:ext cx="201168" cy="0"/>
          </a:xfrm>
          <a:prstGeom prst="line">
            <a:avLst/>
          </a:prstGeom>
          <a:noFill/>
          <a:ln w="19050">
            <a:solidFill>
              <a:srgbClr val="5EEAD4"/>
            </a:solidFill>
            <a:prstDash val="solid"/>
            <a:headEnd type="triangle"/>
            <a:tailEnd type="none"/>
          </a:ln>
        </p:spPr>
      </p:sp>
      <p:sp>
        <p:nvSpPr>
          <p:cNvPr id="45" name="Shape 43"/>
          <p:cNvSpPr/>
          <p:nvPr/>
        </p:nvSpPr>
        <p:spPr>
          <a:xfrm>
            <a:off x="4151376" y="2766060"/>
            <a:ext cx="201168" cy="0"/>
          </a:xfrm>
          <a:prstGeom prst="line">
            <a:avLst/>
          </a:prstGeom>
          <a:noFill/>
          <a:ln w="19050">
            <a:solidFill>
              <a:srgbClr val="5EEAD4"/>
            </a:solidFill>
            <a:prstDash val="solid"/>
            <a:headEnd type="triangle"/>
            <a:tailEnd type="none"/>
          </a:ln>
        </p:spPr>
      </p:sp>
      <p:sp>
        <p:nvSpPr>
          <p:cNvPr id="46" name="Shape 44"/>
          <p:cNvSpPr/>
          <p:nvPr/>
        </p:nvSpPr>
        <p:spPr>
          <a:xfrm>
            <a:off x="10652760" y="1920240"/>
            <a:ext cx="0" cy="502920"/>
          </a:xfrm>
          <a:prstGeom prst="line">
            <a:avLst/>
          </a:prstGeom>
          <a:noFill/>
          <a:ln w="19050">
            <a:solidFill>
              <a:srgbClr val="14B8A6"/>
            </a:solidFill>
            <a:prstDash val="solid"/>
            <a:tailEnd type="triangle"/>
          </a:ln>
        </p:spPr>
      </p:sp>
      <p:sp>
        <p:nvSpPr>
          <p:cNvPr id="47" name="Shape 45"/>
          <p:cNvSpPr/>
          <p:nvPr/>
        </p:nvSpPr>
        <p:spPr>
          <a:xfrm>
            <a:off x="1828800" y="3502152"/>
            <a:ext cx="8503920" cy="0"/>
          </a:xfrm>
          <a:prstGeom prst="line">
            <a:avLst/>
          </a:prstGeom>
          <a:noFill/>
          <a:ln w="6350">
            <a:solidFill>
              <a:srgbClr val="9CA3AF"/>
            </a:solidFill>
            <a:prstDash val="dash"/>
          </a:ln>
        </p:spPr>
      </p:sp>
      <p:sp>
        <p:nvSpPr>
          <p:cNvPr id="48" name="Shape 46"/>
          <p:cNvSpPr/>
          <p:nvPr/>
        </p:nvSpPr>
        <p:spPr>
          <a:xfrm>
            <a:off x="4325112" y="3447288"/>
            <a:ext cx="109728" cy="109728"/>
          </a:xfrm>
          <a:prstGeom prst="ellipse">
            <a:avLst/>
          </a:prstGeom>
          <a:solidFill>
            <a:srgbClr val="0F766E"/>
          </a:solidFill>
          <a:ln w="12700">
            <a:solidFill>
              <a:srgbClr val="FFFFFF"/>
            </a:solidFill>
            <a:prstDash val="solid"/>
          </a:ln>
        </p:spPr>
      </p:sp>
      <p:sp>
        <p:nvSpPr>
          <p:cNvPr id="49" name="Text 47"/>
          <p:cNvSpPr/>
          <p:nvPr/>
        </p:nvSpPr>
        <p:spPr>
          <a:xfrm>
            <a:off x="3465576" y="3593592"/>
            <a:ext cx="1828800" cy="256032"/>
          </a:xfrm>
          <a:prstGeom prst="rect">
            <a:avLst/>
          </a:prstGeom>
          <a:noFill/>
          <a:ln/>
        </p:spPr>
        <p:txBody>
          <a:bodyPr wrap="square" lIns="0" tIns="0" rIns="0" bIns="0" rtlCol="0" anchor="t"/>
          <a:lstStyle/>
          <a:p>
            <a:pPr algn="ctr" indent="0" marL="0">
              <a:buNone/>
            </a:pPr>
            <a:r>
              <a:rPr lang="en-US" sz="1000" i="1" dirty="0">
                <a:solidFill>
                  <a:srgbClr val="6B7280"/>
                </a:solidFill>
                <a:latin typeface="Calibri" pitchFamily="34" charset="0"/>
                <a:ea typeface="Calibri" pitchFamily="34" charset="-122"/>
                <a:cs typeface="Calibri" pitchFamily="34" charset="-120"/>
              </a:rPr>
              <a:t>candidate</a:t>
            </a:r>
            <a:endParaRPr lang="en-US" sz="1000" dirty="0"/>
          </a:p>
        </p:txBody>
      </p:sp>
      <p:sp>
        <p:nvSpPr>
          <p:cNvPr id="50" name="Shape 48"/>
          <p:cNvSpPr/>
          <p:nvPr/>
        </p:nvSpPr>
        <p:spPr>
          <a:xfrm>
            <a:off x="6025896" y="3447288"/>
            <a:ext cx="109728" cy="109728"/>
          </a:xfrm>
          <a:prstGeom prst="ellipse">
            <a:avLst/>
          </a:prstGeom>
          <a:solidFill>
            <a:srgbClr val="0F766E"/>
          </a:solidFill>
          <a:ln w="12700">
            <a:solidFill>
              <a:srgbClr val="FFFFFF"/>
            </a:solidFill>
            <a:prstDash val="solid"/>
          </a:ln>
        </p:spPr>
      </p:sp>
      <p:sp>
        <p:nvSpPr>
          <p:cNvPr id="51" name="Text 49"/>
          <p:cNvSpPr/>
          <p:nvPr/>
        </p:nvSpPr>
        <p:spPr>
          <a:xfrm>
            <a:off x="5166360" y="3593592"/>
            <a:ext cx="1828800" cy="256032"/>
          </a:xfrm>
          <a:prstGeom prst="rect">
            <a:avLst/>
          </a:prstGeom>
          <a:noFill/>
          <a:ln/>
        </p:spPr>
        <p:txBody>
          <a:bodyPr wrap="square" lIns="0" tIns="0" rIns="0" bIns="0" rtlCol="0" anchor="t"/>
          <a:lstStyle/>
          <a:p>
            <a:pPr algn="ctr" indent="0" marL="0">
              <a:buNone/>
            </a:pPr>
            <a:r>
              <a:rPr lang="en-US" sz="1000" i="1" dirty="0">
                <a:solidFill>
                  <a:srgbClr val="6B7280"/>
                </a:solidFill>
                <a:latin typeface="Calibri" pitchFamily="34" charset="0"/>
                <a:ea typeface="Calibri" pitchFamily="34" charset="-122"/>
                <a:cs typeface="Calibri" pitchFamily="34" charset="-120"/>
              </a:rPr>
              <a:t>validated</a:t>
            </a:r>
            <a:endParaRPr lang="en-US" sz="1000" dirty="0"/>
          </a:p>
        </p:txBody>
      </p:sp>
      <p:sp>
        <p:nvSpPr>
          <p:cNvPr id="52" name="Shape 50"/>
          <p:cNvSpPr/>
          <p:nvPr/>
        </p:nvSpPr>
        <p:spPr>
          <a:xfrm>
            <a:off x="7896758" y="3447288"/>
            <a:ext cx="109728" cy="109728"/>
          </a:xfrm>
          <a:prstGeom prst="ellipse">
            <a:avLst/>
          </a:prstGeom>
          <a:solidFill>
            <a:srgbClr val="0F766E"/>
          </a:solidFill>
          <a:ln w="12700">
            <a:solidFill>
              <a:srgbClr val="FFFFFF"/>
            </a:solidFill>
            <a:prstDash val="solid"/>
          </a:ln>
        </p:spPr>
      </p:sp>
      <p:sp>
        <p:nvSpPr>
          <p:cNvPr id="53" name="Text 51"/>
          <p:cNvSpPr/>
          <p:nvPr/>
        </p:nvSpPr>
        <p:spPr>
          <a:xfrm>
            <a:off x="7037222" y="3593592"/>
            <a:ext cx="1828800" cy="256032"/>
          </a:xfrm>
          <a:prstGeom prst="rect">
            <a:avLst/>
          </a:prstGeom>
          <a:noFill/>
          <a:ln/>
        </p:spPr>
        <p:txBody>
          <a:bodyPr wrap="square" lIns="0" tIns="0" rIns="0" bIns="0" rtlCol="0" anchor="t"/>
          <a:lstStyle/>
          <a:p>
            <a:pPr algn="ctr" indent="0" marL="0">
              <a:buNone/>
            </a:pPr>
            <a:r>
              <a:rPr lang="en-US" sz="1000" i="1" dirty="0">
                <a:solidFill>
                  <a:srgbClr val="6B7280"/>
                </a:solidFill>
                <a:latin typeface="Calibri" pitchFamily="34" charset="0"/>
                <a:ea typeface="Calibri" pitchFamily="34" charset="-122"/>
                <a:cs typeface="Calibri" pitchFamily="34" charset="-120"/>
              </a:rPr>
              <a:t>paper</a:t>
            </a:r>
            <a:endParaRPr lang="en-US" sz="1000" dirty="0"/>
          </a:p>
        </p:txBody>
      </p:sp>
      <p:sp>
        <p:nvSpPr>
          <p:cNvPr id="54" name="Shape 52"/>
          <p:cNvSpPr/>
          <p:nvPr/>
        </p:nvSpPr>
        <p:spPr>
          <a:xfrm>
            <a:off x="9597542" y="3447288"/>
            <a:ext cx="109728" cy="109728"/>
          </a:xfrm>
          <a:prstGeom prst="ellipse">
            <a:avLst/>
          </a:prstGeom>
          <a:solidFill>
            <a:srgbClr val="0F766E"/>
          </a:solidFill>
          <a:ln w="12700">
            <a:solidFill>
              <a:srgbClr val="FFFFFF"/>
            </a:solidFill>
            <a:prstDash val="solid"/>
          </a:ln>
        </p:spPr>
      </p:sp>
      <p:sp>
        <p:nvSpPr>
          <p:cNvPr id="55" name="Text 53"/>
          <p:cNvSpPr/>
          <p:nvPr/>
        </p:nvSpPr>
        <p:spPr>
          <a:xfrm>
            <a:off x="8738006" y="3593592"/>
            <a:ext cx="1828800" cy="256032"/>
          </a:xfrm>
          <a:prstGeom prst="rect">
            <a:avLst/>
          </a:prstGeom>
          <a:noFill/>
          <a:ln/>
        </p:spPr>
        <p:txBody>
          <a:bodyPr wrap="square" lIns="0" tIns="0" rIns="0" bIns="0" rtlCol="0" anchor="t"/>
          <a:lstStyle/>
          <a:p>
            <a:pPr algn="ctr" indent="0" marL="0">
              <a:buNone/>
            </a:pPr>
            <a:r>
              <a:rPr lang="en-US" sz="1000" i="1" dirty="0">
                <a:solidFill>
                  <a:srgbClr val="6B7280"/>
                </a:solidFill>
                <a:latin typeface="Calibri" pitchFamily="34" charset="0"/>
                <a:ea typeface="Calibri" pitchFamily="34" charset="-122"/>
                <a:cs typeface="Calibri" pitchFamily="34" charset="-120"/>
              </a:rPr>
              <a:t>live-data paper</a:t>
            </a:r>
            <a:endParaRPr lang="en-US" sz="1000" dirty="0"/>
          </a:p>
        </p:txBody>
      </p:sp>
      <p:sp>
        <p:nvSpPr>
          <p:cNvPr id="56" name="Shape 54"/>
          <p:cNvSpPr/>
          <p:nvPr/>
        </p:nvSpPr>
        <p:spPr>
          <a:xfrm>
            <a:off x="457200" y="4023360"/>
            <a:ext cx="3566160" cy="1371600"/>
          </a:xfrm>
          <a:prstGeom prst="roundRect">
            <a:avLst>
              <a:gd name="adj" fmla="val 5333"/>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57" name="Text 55"/>
          <p:cNvSpPr/>
          <p:nvPr/>
        </p:nvSpPr>
        <p:spPr>
          <a:xfrm>
            <a:off x="640080" y="4160520"/>
            <a:ext cx="32004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RESEARCH BUDGETS</a:t>
            </a:r>
            <a:endParaRPr lang="en-US" sz="1100" dirty="0"/>
          </a:p>
        </p:txBody>
      </p:sp>
      <p:sp>
        <p:nvSpPr>
          <p:cNvPr id="58" name="Text 56"/>
          <p:cNvSpPr/>
          <p:nvPr/>
        </p:nvSpPr>
        <p:spPr>
          <a:xfrm>
            <a:off x="640080" y="4480560"/>
            <a:ext cx="3200400" cy="77724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Max 20 trials per hypothesis family. Mandatory review after 10. Any further trials require a documented thesis update.</a:t>
            </a:r>
            <a:endParaRPr lang="en-US" sz="1100" dirty="0"/>
          </a:p>
        </p:txBody>
      </p:sp>
      <p:sp>
        <p:nvSpPr>
          <p:cNvPr id="59" name="Shape 57"/>
          <p:cNvSpPr/>
          <p:nvPr/>
        </p:nvSpPr>
        <p:spPr>
          <a:xfrm>
            <a:off x="4297680" y="4023360"/>
            <a:ext cx="3566160" cy="1371600"/>
          </a:xfrm>
          <a:prstGeom prst="roundRect">
            <a:avLst>
              <a:gd name="adj" fmla="val 5333"/>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60" name="Text 58"/>
          <p:cNvSpPr/>
          <p:nvPr/>
        </p:nvSpPr>
        <p:spPr>
          <a:xfrm>
            <a:off x="4480560" y="4160520"/>
            <a:ext cx="32004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PROMOTION REQUIREMENTS</a:t>
            </a:r>
            <a:endParaRPr lang="en-US" sz="1100" dirty="0"/>
          </a:p>
        </p:txBody>
      </p:sp>
      <p:sp>
        <p:nvSpPr>
          <p:cNvPr id="61" name="Text 59"/>
          <p:cNvSpPr/>
          <p:nvPr/>
        </p:nvSpPr>
        <p:spPr>
          <a:xfrm>
            <a:off x="4480560" y="4480560"/>
            <a:ext cx="3200400" cy="77724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Economic evidence at the hypothesis-specific threshold. Falsification obligation discharged. Registry integrity intact. Beats the pre-registered baseline.</a:t>
            </a:r>
            <a:endParaRPr lang="en-US" sz="1100" dirty="0"/>
          </a:p>
        </p:txBody>
      </p:sp>
      <p:sp>
        <p:nvSpPr>
          <p:cNvPr id="62" name="Shape 60"/>
          <p:cNvSpPr/>
          <p:nvPr/>
        </p:nvSpPr>
        <p:spPr>
          <a:xfrm>
            <a:off x="8138160" y="4023360"/>
            <a:ext cx="3566160" cy="1371600"/>
          </a:xfrm>
          <a:prstGeom prst="roundRect">
            <a:avLst>
              <a:gd name="adj" fmla="val 5333"/>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63" name="Text 61"/>
          <p:cNvSpPr/>
          <p:nvPr/>
        </p:nvSpPr>
        <p:spPr>
          <a:xfrm>
            <a:off x="8321040" y="4160520"/>
            <a:ext cx="32004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HARD STOPS</a:t>
            </a:r>
            <a:endParaRPr lang="en-US" sz="1100" dirty="0"/>
          </a:p>
        </p:txBody>
      </p:sp>
      <p:sp>
        <p:nvSpPr>
          <p:cNvPr id="64" name="Text 62"/>
          <p:cNvSpPr/>
          <p:nvPr/>
        </p:nvSpPr>
        <p:spPr>
          <a:xfrm>
            <a:off x="8321040" y="4480560"/>
            <a:ext cx="3200400" cy="77724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Any known temporal leak, accounting mismatch, or unreplayable experiment halts the family immediately. No exceptions, no overrides.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Seed Hypotheses Overview</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Three hypotheses exercise every ORBIT subsystem end-to-end, from registry to falsification</a:t>
            </a:r>
            <a:endParaRPr lang="en-US" sz="1100" dirty="0"/>
          </a:p>
        </p:txBody>
      </p:sp>
      <p:sp>
        <p:nvSpPr>
          <p:cNvPr id="4" name="Text 2"/>
          <p:cNvSpPr/>
          <p:nvPr/>
        </p:nvSpPr>
        <p:spPr>
          <a:xfrm>
            <a:off x="457200" y="1234440"/>
            <a:ext cx="11247120" cy="274320"/>
          </a:xfrm>
          <a:prstGeom prst="rect">
            <a:avLst/>
          </a:prstGeom>
          <a:noFill/>
          <a:ln/>
        </p:spPr>
        <p:txBody>
          <a:bodyPr wrap="square" lIns="0" tIns="0" rIns="0" bIns="0" rtlCol="0" anchor="ctr"/>
          <a:lstStyle/>
          <a:p>
            <a:pPr algn="l" indent="0" marL="0">
              <a:buNone/>
            </a:pPr>
            <a:r>
              <a:rPr lang="en-US" sz="1100" i="1" dirty="0">
                <a:solidFill>
                  <a:srgbClr val="6B7280"/>
                </a:solidFill>
                <a:latin typeface="Calibri" pitchFamily="34" charset="0"/>
                <a:ea typeface="Calibri" pitchFamily="34" charset="-122"/>
                <a:cs typeface="Calibri" pitchFamily="34" charset="-120"/>
              </a:rPr>
              <a:t>Three seed hypotheses exercise every ORBIT subsystem end-to-end, from registry to falsification.</a:t>
            </a:r>
            <a:endParaRPr lang="en-US" sz="1100" dirty="0"/>
          </a:p>
        </p:txBody>
      </p:sp>
      <p:sp>
        <p:nvSpPr>
          <p:cNvPr id="5" name="Shape 3"/>
          <p:cNvSpPr/>
          <p:nvPr/>
        </p:nvSpPr>
        <p:spPr>
          <a:xfrm>
            <a:off x="457200" y="1600200"/>
            <a:ext cx="3566160" cy="4160520"/>
          </a:xfrm>
          <a:prstGeom prst="roundRect">
            <a:avLst>
              <a:gd name="adj" fmla="val 205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640080" y="1783080"/>
            <a:ext cx="914400" cy="365760"/>
          </a:xfrm>
          <a:prstGeom prst="roundRect">
            <a:avLst>
              <a:gd name="adj" fmla="val 15000"/>
            </a:avLst>
          </a:prstGeom>
          <a:solidFill>
            <a:srgbClr val="14B8A6"/>
          </a:solidFill>
          <a:ln w="6350">
            <a:solidFill>
              <a:srgbClr val="0F766E"/>
            </a:solidFill>
            <a:prstDash val="solid"/>
          </a:ln>
        </p:spPr>
      </p:sp>
      <p:sp>
        <p:nvSpPr>
          <p:cNvPr id="7" name="Text 5"/>
          <p:cNvSpPr/>
          <p:nvPr/>
        </p:nvSpPr>
        <p:spPr>
          <a:xfrm>
            <a:off x="640080" y="178308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H-001</a:t>
            </a:r>
            <a:endParaRPr lang="en-US" sz="1300" dirty="0"/>
          </a:p>
        </p:txBody>
      </p:sp>
      <p:sp>
        <p:nvSpPr>
          <p:cNvPr id="8" name="Text 6"/>
          <p:cNvSpPr/>
          <p:nvPr/>
        </p:nvSpPr>
        <p:spPr>
          <a:xfrm>
            <a:off x="640080" y="2240280"/>
            <a:ext cx="3200400" cy="640080"/>
          </a:xfrm>
          <a:prstGeom prst="rect">
            <a:avLst/>
          </a:prstGeom>
          <a:noFill/>
          <a:ln/>
        </p:spPr>
        <p:txBody>
          <a:bodyPr wrap="square" lIns="0" tIns="0" rIns="0" bIns="0" rtlCol="0" anchor="t"/>
          <a:lstStyle/>
          <a:p>
            <a:pPr algn="l" indent="0" marL="0">
              <a:buNone/>
            </a:pPr>
            <a:r>
              <a:rPr lang="en-US" sz="1400" b="1" dirty="0">
                <a:solidFill>
                  <a:srgbClr val="1F2937"/>
                </a:solidFill>
                <a:latin typeface="Cambria" pitchFamily="34" charset="0"/>
                <a:ea typeface="Cambria" pitchFamily="34" charset="-122"/>
                <a:cs typeface="Cambria" pitchFamily="34" charset="-120"/>
              </a:rPr>
              <a:t>Cross-Sectional 12-1 Price Momentum</a:t>
            </a:r>
            <a:endParaRPr lang="en-US" sz="1400" dirty="0"/>
          </a:p>
        </p:txBody>
      </p:sp>
      <p:sp>
        <p:nvSpPr>
          <p:cNvPr id="9" name="Text 7"/>
          <p:cNvSpPr/>
          <p:nvPr/>
        </p:nvSpPr>
        <p:spPr>
          <a:xfrm>
            <a:off x="640080" y="2926080"/>
            <a:ext cx="3200400" cy="228600"/>
          </a:xfrm>
          <a:prstGeom prst="rect">
            <a:avLst/>
          </a:prstGeom>
          <a:noFill/>
          <a:ln/>
        </p:spPr>
        <p:txBody>
          <a:bodyPr wrap="square" lIns="0" tIns="0" rIns="0" bIns="0" rtlCol="0" anchor="ctr"/>
          <a:lstStyle/>
          <a:p>
            <a:pPr algn="l" indent="0" marL="0">
              <a:buNone/>
            </a:pPr>
            <a:r>
              <a:rPr lang="en-US" sz="950" b="1" spc="200" kern="0" dirty="0">
                <a:solidFill>
                  <a:srgbClr val="0F766E"/>
                </a:solidFill>
                <a:latin typeface="Calibri" pitchFamily="34" charset="0"/>
                <a:ea typeface="Calibri" pitchFamily="34" charset="-122"/>
                <a:cs typeface="Calibri" pitchFamily="34" charset="-120"/>
              </a:rPr>
              <a:t>MECHANISM</a:t>
            </a:r>
            <a:endParaRPr lang="en-US" sz="950" dirty="0"/>
          </a:p>
        </p:txBody>
      </p:sp>
      <p:sp>
        <p:nvSpPr>
          <p:cNvPr id="10" name="Text 8"/>
          <p:cNvSpPr/>
          <p:nvPr/>
        </p:nvSpPr>
        <p:spPr>
          <a:xfrm>
            <a:off x="640080" y="3154680"/>
            <a:ext cx="3200400" cy="77724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Classic 12-month-minus-1-month price momentum, computed on point-in-time adjusted closes.</a:t>
            </a:r>
            <a:endParaRPr lang="en-US" sz="1050" dirty="0"/>
          </a:p>
        </p:txBody>
      </p:sp>
      <p:sp>
        <p:nvSpPr>
          <p:cNvPr id="11" name="Shape 9"/>
          <p:cNvSpPr/>
          <p:nvPr/>
        </p:nvSpPr>
        <p:spPr>
          <a:xfrm>
            <a:off x="640080" y="3977640"/>
            <a:ext cx="3200400" cy="868680"/>
          </a:xfrm>
          <a:prstGeom prst="rect">
            <a:avLst/>
          </a:prstGeom>
          <a:solidFill>
            <a:srgbClr val="111827"/>
          </a:solidFill>
          <a:ln w="6350">
            <a:solidFill>
              <a:srgbClr val="0F766E"/>
            </a:solidFill>
            <a:prstDash val="solid"/>
          </a:ln>
        </p:spPr>
      </p:sp>
      <p:sp>
        <p:nvSpPr>
          <p:cNvPr id="12" name="Text 10"/>
          <p:cNvSpPr/>
          <p:nvPr/>
        </p:nvSpPr>
        <p:spPr>
          <a:xfrm>
            <a:off x="731520" y="4069080"/>
            <a:ext cx="3017520" cy="731520"/>
          </a:xfrm>
          <a:prstGeom prst="rect">
            <a:avLst/>
          </a:prstGeom>
          <a:noFill/>
          <a:ln/>
        </p:spPr>
        <p:txBody>
          <a:bodyPr wrap="square" lIns="0" tIns="0" rIns="0" bIns="0" rtlCol="0" anchor="t"/>
          <a:lstStyle/>
          <a:p>
            <a:pPr algn="l" indent="0" marL="0">
              <a:buNone/>
            </a:pPr>
            <a:r>
              <a:rPr lang="en-US" sz="950" dirty="0">
                <a:solidFill>
                  <a:srgbClr val="9CA3AF"/>
                </a:solidFill>
                <a:latin typeface="Courier New" pitchFamily="34" charset="0"/>
                <a:ea typeface="Courier New" pitchFamily="34" charset="-122"/>
                <a:cs typeface="Courier New" pitchFamily="34" charset="-120"/>
              </a:rPr>
              <a:t>label:    </a:t>
            </a:r>
            <a:pPr algn="l" indent="0" marL="0">
              <a:buNone/>
            </a:pPr>
            <a:r>
              <a:rPr lang="en-US" sz="950" b="1" dirty="0">
                <a:solidFill>
                  <a:srgbClr val="5EEAD4"/>
                </a:solidFill>
                <a:latin typeface="Courier New" pitchFamily="34" charset="0"/>
                <a:ea typeface="Courier New" pitchFamily="34" charset="-122"/>
                <a:cs typeface="Courier New" pitchFamily="34" charset="-120"/>
              </a:rPr>
              <a:t>forward_excess_return vs SPY</a:t>
            </a:r>
            <a:endParaRPr lang="en-US" sz="950" dirty="0"/>
          </a:p>
          <a:p>
            <a:pPr algn="l" indent="0" marL="0">
              <a:buNone/>
            </a:pPr>
            <a:r>
              <a:rPr lang="en-US" sz="950" dirty="0">
                <a:solidFill>
                  <a:srgbClr val="9CA3AF"/>
                </a:solidFill>
                <a:latin typeface="Courier New" pitchFamily="34" charset="0"/>
                <a:ea typeface="Courier New" pitchFamily="34" charset="-122"/>
                <a:cs typeface="Courier New" pitchFamily="34" charset="-120"/>
              </a:rPr>
              <a:t>horizon:  </a:t>
            </a:r>
            <a:pPr algn="l" indent="0" marL="0">
              <a:buNone/>
            </a:pPr>
            <a:r>
              <a:rPr lang="en-US" sz="950" dirty="0">
                <a:solidFill>
                  <a:srgbClr val="5EEAD4"/>
                </a:solidFill>
                <a:latin typeface="Courier New" pitchFamily="34" charset="0"/>
                <a:ea typeface="Courier New" pitchFamily="34" charset="-122"/>
                <a:cs typeface="Courier New" pitchFamily="34" charset="-120"/>
              </a:rPr>
              <a:t>horizon = 5 sessions</a:t>
            </a:r>
            <a:endParaRPr lang="en-US" sz="950" dirty="0"/>
          </a:p>
          <a:p>
            <a:pPr algn="l" indent="0" marL="0">
              <a:buNone/>
            </a:pPr>
            <a:r>
              <a:rPr lang="en-US" sz="950" dirty="0">
                <a:solidFill>
                  <a:srgbClr val="9CA3AF"/>
                </a:solidFill>
                <a:latin typeface="Courier New" pitchFamily="34" charset="0"/>
                <a:ea typeface="Courier New" pitchFamily="34" charset="-122"/>
                <a:cs typeface="Courier New" pitchFamily="34" charset="-120"/>
              </a:rPr>
              <a:t>anchor:   </a:t>
            </a:r>
            <a:pPr algn="l" indent="0" marL="0">
              <a:buNone/>
            </a:pPr>
            <a:r>
              <a:rPr lang="en-US" sz="950" dirty="0">
                <a:solidFill>
                  <a:srgbClr val="5EEAD4"/>
                </a:solidFill>
                <a:latin typeface="Courier New" pitchFamily="34" charset="0"/>
                <a:ea typeface="Courier New" pitchFamily="34" charset="-122"/>
                <a:cs typeface="Courier New" pitchFamily="34" charset="-120"/>
              </a:rPr>
              <a:t>anchor = decision_instant</a:t>
            </a:r>
            <a:endParaRPr lang="en-US" sz="950" dirty="0"/>
          </a:p>
        </p:txBody>
      </p:sp>
      <p:sp>
        <p:nvSpPr>
          <p:cNvPr id="13" name="Text 11"/>
          <p:cNvSpPr/>
          <p:nvPr/>
        </p:nvSpPr>
        <p:spPr>
          <a:xfrm>
            <a:off x="640080" y="4937760"/>
            <a:ext cx="3200400" cy="228600"/>
          </a:xfrm>
          <a:prstGeom prst="rect">
            <a:avLst/>
          </a:prstGeom>
          <a:noFill/>
          <a:ln/>
        </p:spPr>
        <p:txBody>
          <a:bodyPr wrap="square" lIns="0" tIns="0" rIns="0" bIns="0" rtlCol="0" anchor="ctr"/>
          <a:lstStyle/>
          <a:p>
            <a:pPr algn="l" indent="0" marL="0">
              <a:buNone/>
            </a:pPr>
            <a:r>
              <a:rPr lang="en-US" sz="950" b="1" spc="200" kern="0" dirty="0">
                <a:solidFill>
                  <a:srgbClr val="0F766E"/>
                </a:solidFill>
                <a:latin typeface="Calibri" pitchFamily="34" charset="0"/>
                <a:ea typeface="Calibri" pitchFamily="34" charset="-122"/>
                <a:cs typeface="Calibri" pitchFamily="34" charset="-120"/>
              </a:rPr>
              <a:t>WHY THIS HYPOTHESIS</a:t>
            </a:r>
            <a:endParaRPr lang="en-US" sz="950" dirty="0"/>
          </a:p>
        </p:txBody>
      </p:sp>
      <p:sp>
        <p:nvSpPr>
          <p:cNvPr id="14" name="Text 12"/>
          <p:cNvSpPr/>
          <p:nvPr/>
        </p:nvSpPr>
        <p:spPr>
          <a:xfrm>
            <a:off x="640080" y="5166360"/>
            <a:ext cx="3200400" cy="548640"/>
          </a:xfrm>
          <a:prstGeom prst="rect">
            <a:avLst/>
          </a:prstGeom>
          <a:noFill/>
          <a:ln/>
        </p:spPr>
        <p:txBody>
          <a:bodyPr wrap="square" lIns="0" tIns="0" rIns="0" bIns="0" rtlCol="0" anchor="t"/>
          <a:lstStyle/>
          <a:p>
            <a:pPr algn="l" indent="0" marL="0">
              <a:buNone/>
            </a:pPr>
            <a:r>
              <a:rPr lang="en-US" sz="1000" i="1" dirty="0">
                <a:solidFill>
                  <a:srgbClr val="6B7280"/>
                </a:solidFill>
                <a:latin typeface="Calibri" pitchFamily="34" charset="0"/>
                <a:ea typeface="Calibri" pitchFamily="34" charset="-122"/>
                <a:cs typeface="Calibri" pitchFamily="34" charset="-120"/>
              </a:rPr>
              <a:t>Well-documented, widely replicated, a known-strong baseline; if ORBIT cannot reproduce it, the engine itself is suspect.</a:t>
            </a:r>
            <a:endParaRPr lang="en-US" sz="1000" dirty="0"/>
          </a:p>
        </p:txBody>
      </p:sp>
      <p:sp>
        <p:nvSpPr>
          <p:cNvPr id="15" name="Shape 13"/>
          <p:cNvSpPr/>
          <p:nvPr/>
        </p:nvSpPr>
        <p:spPr>
          <a:xfrm>
            <a:off x="4297680" y="1600200"/>
            <a:ext cx="3566160" cy="4160520"/>
          </a:xfrm>
          <a:prstGeom prst="roundRect">
            <a:avLst>
              <a:gd name="adj" fmla="val 205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4480560" y="1783080"/>
            <a:ext cx="914400" cy="365760"/>
          </a:xfrm>
          <a:prstGeom prst="roundRect">
            <a:avLst>
              <a:gd name="adj" fmla="val 15000"/>
            </a:avLst>
          </a:prstGeom>
          <a:solidFill>
            <a:srgbClr val="14B8A6"/>
          </a:solidFill>
          <a:ln w="6350">
            <a:solidFill>
              <a:srgbClr val="0F766E"/>
            </a:solidFill>
            <a:prstDash val="solid"/>
          </a:ln>
        </p:spPr>
      </p:sp>
      <p:sp>
        <p:nvSpPr>
          <p:cNvPr id="17" name="Text 15"/>
          <p:cNvSpPr/>
          <p:nvPr/>
        </p:nvSpPr>
        <p:spPr>
          <a:xfrm>
            <a:off x="4480560" y="178308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H-002</a:t>
            </a:r>
            <a:endParaRPr lang="en-US" sz="1300" dirty="0"/>
          </a:p>
        </p:txBody>
      </p:sp>
      <p:sp>
        <p:nvSpPr>
          <p:cNvPr id="18" name="Text 16"/>
          <p:cNvSpPr/>
          <p:nvPr/>
        </p:nvSpPr>
        <p:spPr>
          <a:xfrm>
            <a:off x="4480560" y="2240280"/>
            <a:ext cx="3200400" cy="640080"/>
          </a:xfrm>
          <a:prstGeom prst="rect">
            <a:avLst/>
          </a:prstGeom>
          <a:noFill/>
          <a:ln/>
        </p:spPr>
        <p:txBody>
          <a:bodyPr wrap="square" lIns="0" tIns="0" rIns="0" bIns="0" rtlCol="0" anchor="t"/>
          <a:lstStyle/>
          <a:p>
            <a:pPr algn="l" indent="0" marL="0">
              <a:buNone/>
            </a:pPr>
            <a:r>
              <a:rPr lang="en-US" sz="1400" b="1" dirty="0">
                <a:solidFill>
                  <a:srgbClr val="1F2937"/>
                </a:solidFill>
                <a:latin typeface="Cambria" pitchFamily="34" charset="0"/>
                <a:ea typeface="Cambria" pitchFamily="34" charset="-122"/>
                <a:cs typeface="Cambria" pitchFamily="34" charset="-120"/>
              </a:rPr>
              <a:t>Low Realized Volatility Anomaly</a:t>
            </a:r>
            <a:endParaRPr lang="en-US" sz="1400" dirty="0"/>
          </a:p>
        </p:txBody>
      </p:sp>
      <p:sp>
        <p:nvSpPr>
          <p:cNvPr id="19" name="Text 17"/>
          <p:cNvSpPr/>
          <p:nvPr/>
        </p:nvSpPr>
        <p:spPr>
          <a:xfrm>
            <a:off x="4480560" y="2926080"/>
            <a:ext cx="3200400" cy="228600"/>
          </a:xfrm>
          <a:prstGeom prst="rect">
            <a:avLst/>
          </a:prstGeom>
          <a:noFill/>
          <a:ln/>
        </p:spPr>
        <p:txBody>
          <a:bodyPr wrap="square" lIns="0" tIns="0" rIns="0" bIns="0" rtlCol="0" anchor="ctr"/>
          <a:lstStyle/>
          <a:p>
            <a:pPr algn="l" indent="0" marL="0">
              <a:buNone/>
            </a:pPr>
            <a:r>
              <a:rPr lang="en-US" sz="950" b="1" spc="200" kern="0" dirty="0">
                <a:solidFill>
                  <a:srgbClr val="0F766E"/>
                </a:solidFill>
                <a:latin typeface="Calibri" pitchFamily="34" charset="0"/>
                <a:ea typeface="Calibri" pitchFamily="34" charset="-122"/>
                <a:cs typeface="Calibri" pitchFamily="34" charset="-120"/>
              </a:rPr>
              <a:t>MECHANISM</a:t>
            </a:r>
            <a:endParaRPr lang="en-US" sz="950" dirty="0"/>
          </a:p>
        </p:txBody>
      </p:sp>
      <p:sp>
        <p:nvSpPr>
          <p:cNvPr id="20" name="Text 18"/>
          <p:cNvSpPr/>
          <p:nvPr/>
        </p:nvSpPr>
        <p:spPr>
          <a:xfrm>
            <a:off x="4480560" y="3154680"/>
            <a:ext cx="3200400" cy="77724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Volatility-scaled exposure to low-realized-volatility equities, rebalanced at the daily cadence.</a:t>
            </a:r>
            <a:endParaRPr lang="en-US" sz="1050" dirty="0"/>
          </a:p>
        </p:txBody>
      </p:sp>
      <p:sp>
        <p:nvSpPr>
          <p:cNvPr id="21" name="Shape 19"/>
          <p:cNvSpPr/>
          <p:nvPr/>
        </p:nvSpPr>
        <p:spPr>
          <a:xfrm>
            <a:off x="4480560" y="3977640"/>
            <a:ext cx="3200400" cy="868680"/>
          </a:xfrm>
          <a:prstGeom prst="rect">
            <a:avLst/>
          </a:prstGeom>
          <a:solidFill>
            <a:srgbClr val="111827"/>
          </a:solidFill>
          <a:ln w="6350">
            <a:solidFill>
              <a:srgbClr val="0F766E"/>
            </a:solidFill>
            <a:prstDash val="solid"/>
          </a:ln>
        </p:spPr>
      </p:sp>
      <p:sp>
        <p:nvSpPr>
          <p:cNvPr id="22" name="Text 20"/>
          <p:cNvSpPr/>
          <p:nvPr/>
        </p:nvSpPr>
        <p:spPr>
          <a:xfrm>
            <a:off x="4572000" y="4069080"/>
            <a:ext cx="3017520" cy="731520"/>
          </a:xfrm>
          <a:prstGeom prst="rect">
            <a:avLst/>
          </a:prstGeom>
          <a:noFill/>
          <a:ln/>
        </p:spPr>
        <p:txBody>
          <a:bodyPr wrap="square" lIns="0" tIns="0" rIns="0" bIns="0" rtlCol="0" anchor="t"/>
          <a:lstStyle/>
          <a:p>
            <a:pPr algn="l" indent="0" marL="0">
              <a:buNone/>
            </a:pPr>
            <a:r>
              <a:rPr lang="en-US" sz="950" dirty="0">
                <a:solidFill>
                  <a:srgbClr val="9CA3AF"/>
                </a:solidFill>
                <a:latin typeface="Courier New" pitchFamily="34" charset="0"/>
                <a:ea typeface="Courier New" pitchFamily="34" charset="-122"/>
                <a:cs typeface="Courier New" pitchFamily="34" charset="-120"/>
              </a:rPr>
              <a:t>label:    </a:t>
            </a:r>
            <a:pPr algn="l" indent="0" marL="0">
              <a:buNone/>
            </a:pPr>
            <a:r>
              <a:rPr lang="en-US" sz="950" b="1" dirty="0">
                <a:solidFill>
                  <a:srgbClr val="5EEAD4"/>
                </a:solidFill>
                <a:latin typeface="Courier New" pitchFamily="34" charset="0"/>
                <a:ea typeface="Courier New" pitchFamily="34" charset="-122"/>
                <a:cs typeface="Courier New" pitchFamily="34" charset="-120"/>
              </a:rPr>
              <a:t>volatility (realized)</a:t>
            </a:r>
            <a:endParaRPr lang="en-US" sz="950" dirty="0"/>
          </a:p>
          <a:p>
            <a:pPr algn="l" indent="0" marL="0">
              <a:buNone/>
            </a:pPr>
            <a:r>
              <a:rPr lang="en-US" sz="950" dirty="0">
                <a:solidFill>
                  <a:srgbClr val="9CA3AF"/>
                </a:solidFill>
                <a:latin typeface="Courier New" pitchFamily="34" charset="0"/>
                <a:ea typeface="Courier New" pitchFamily="34" charset="-122"/>
                <a:cs typeface="Courier New" pitchFamily="34" charset="-120"/>
              </a:rPr>
              <a:t>horizon:  </a:t>
            </a:r>
            <a:pPr algn="l" indent="0" marL="0">
              <a:buNone/>
            </a:pPr>
            <a:r>
              <a:rPr lang="en-US" sz="950" dirty="0">
                <a:solidFill>
                  <a:srgbClr val="5EEAD4"/>
                </a:solidFill>
                <a:latin typeface="Courier New" pitchFamily="34" charset="0"/>
                <a:ea typeface="Courier New" pitchFamily="34" charset="-122"/>
                <a:cs typeface="Courier New" pitchFamily="34" charset="-120"/>
              </a:rPr>
              <a:t>horizon = 21 sessions</a:t>
            </a:r>
            <a:endParaRPr lang="en-US" sz="950" dirty="0"/>
          </a:p>
          <a:p>
            <a:pPr algn="l" indent="0" marL="0">
              <a:buNone/>
            </a:pPr>
            <a:r>
              <a:rPr lang="en-US" sz="950" dirty="0">
                <a:solidFill>
                  <a:srgbClr val="9CA3AF"/>
                </a:solidFill>
                <a:latin typeface="Courier New" pitchFamily="34" charset="0"/>
                <a:ea typeface="Courier New" pitchFamily="34" charset="-122"/>
                <a:cs typeface="Courier New" pitchFamily="34" charset="-120"/>
              </a:rPr>
              <a:t>anchor:   </a:t>
            </a:r>
            <a:pPr algn="l" indent="0" marL="0">
              <a:buNone/>
            </a:pPr>
            <a:r>
              <a:rPr lang="en-US" sz="950" dirty="0">
                <a:solidFill>
                  <a:srgbClr val="5EEAD4"/>
                </a:solidFill>
                <a:latin typeface="Courier New" pitchFamily="34" charset="0"/>
                <a:ea typeface="Courier New" pitchFamily="34" charset="-122"/>
                <a:cs typeface="Courier New" pitchFamily="34" charset="-120"/>
              </a:rPr>
              <a:t>anchor = decision_instant</a:t>
            </a:r>
            <a:endParaRPr lang="en-US" sz="950" dirty="0"/>
          </a:p>
        </p:txBody>
      </p:sp>
      <p:sp>
        <p:nvSpPr>
          <p:cNvPr id="23" name="Text 21"/>
          <p:cNvSpPr/>
          <p:nvPr/>
        </p:nvSpPr>
        <p:spPr>
          <a:xfrm>
            <a:off x="4480560" y="4937760"/>
            <a:ext cx="3200400" cy="228600"/>
          </a:xfrm>
          <a:prstGeom prst="rect">
            <a:avLst/>
          </a:prstGeom>
          <a:noFill/>
          <a:ln/>
        </p:spPr>
        <p:txBody>
          <a:bodyPr wrap="square" lIns="0" tIns="0" rIns="0" bIns="0" rtlCol="0" anchor="ctr"/>
          <a:lstStyle/>
          <a:p>
            <a:pPr algn="l" indent="0" marL="0">
              <a:buNone/>
            </a:pPr>
            <a:r>
              <a:rPr lang="en-US" sz="950" b="1" spc="200" kern="0" dirty="0">
                <a:solidFill>
                  <a:srgbClr val="0F766E"/>
                </a:solidFill>
                <a:latin typeface="Calibri" pitchFamily="34" charset="0"/>
                <a:ea typeface="Calibri" pitchFamily="34" charset="-122"/>
                <a:cs typeface="Calibri" pitchFamily="34" charset="-120"/>
              </a:rPr>
              <a:t>WHY THIS HYPOTHESIS</a:t>
            </a:r>
            <a:endParaRPr lang="en-US" sz="950" dirty="0"/>
          </a:p>
        </p:txBody>
      </p:sp>
      <p:sp>
        <p:nvSpPr>
          <p:cNvPr id="24" name="Text 22"/>
          <p:cNvSpPr/>
          <p:nvPr/>
        </p:nvSpPr>
        <p:spPr>
          <a:xfrm>
            <a:off x="4480560" y="5166360"/>
            <a:ext cx="3200400" cy="548640"/>
          </a:xfrm>
          <a:prstGeom prst="rect">
            <a:avLst/>
          </a:prstGeom>
          <a:noFill/>
          <a:ln/>
        </p:spPr>
        <p:txBody>
          <a:bodyPr wrap="square" lIns="0" tIns="0" rIns="0" bIns="0" rtlCol="0" anchor="t"/>
          <a:lstStyle/>
          <a:p>
            <a:pPr algn="l" indent="0" marL="0">
              <a:buNone/>
            </a:pPr>
            <a:r>
              <a:rPr lang="en-US" sz="1000" i="1" dirty="0">
                <a:solidFill>
                  <a:srgbClr val="6B7280"/>
                </a:solidFill>
                <a:latin typeface="Calibri" pitchFamily="34" charset="0"/>
                <a:ea typeface="Calibri" pitchFamily="34" charset="-122"/>
                <a:cs typeface="Calibri" pitchFamily="34" charset="-120"/>
              </a:rPr>
              <a:t>Exercises the volatility label type and the longer 21-session horizon; tests whether the engine handles non-return outcomes correctly.</a:t>
            </a:r>
            <a:endParaRPr lang="en-US" sz="1000" dirty="0"/>
          </a:p>
        </p:txBody>
      </p:sp>
      <p:sp>
        <p:nvSpPr>
          <p:cNvPr id="25" name="Shape 23"/>
          <p:cNvSpPr/>
          <p:nvPr/>
        </p:nvSpPr>
        <p:spPr>
          <a:xfrm>
            <a:off x="8138160" y="1600200"/>
            <a:ext cx="3566160" cy="4160520"/>
          </a:xfrm>
          <a:prstGeom prst="roundRect">
            <a:avLst>
              <a:gd name="adj" fmla="val 205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26" name="Shape 24"/>
          <p:cNvSpPr/>
          <p:nvPr/>
        </p:nvSpPr>
        <p:spPr>
          <a:xfrm>
            <a:off x="8321040" y="1783080"/>
            <a:ext cx="914400" cy="365760"/>
          </a:xfrm>
          <a:prstGeom prst="roundRect">
            <a:avLst>
              <a:gd name="adj" fmla="val 15000"/>
            </a:avLst>
          </a:prstGeom>
          <a:solidFill>
            <a:srgbClr val="14B8A6"/>
          </a:solidFill>
          <a:ln w="6350">
            <a:solidFill>
              <a:srgbClr val="0F766E"/>
            </a:solidFill>
            <a:prstDash val="solid"/>
          </a:ln>
        </p:spPr>
      </p:sp>
      <p:sp>
        <p:nvSpPr>
          <p:cNvPr id="27" name="Text 25"/>
          <p:cNvSpPr/>
          <p:nvPr/>
        </p:nvSpPr>
        <p:spPr>
          <a:xfrm>
            <a:off x="8321040" y="178308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H-003</a:t>
            </a:r>
            <a:endParaRPr lang="en-US" sz="1300" dirty="0"/>
          </a:p>
        </p:txBody>
      </p:sp>
      <p:sp>
        <p:nvSpPr>
          <p:cNvPr id="28" name="Text 26"/>
          <p:cNvSpPr/>
          <p:nvPr/>
        </p:nvSpPr>
        <p:spPr>
          <a:xfrm>
            <a:off x="8321040" y="2240280"/>
            <a:ext cx="3200400" cy="640080"/>
          </a:xfrm>
          <a:prstGeom prst="rect">
            <a:avLst/>
          </a:prstGeom>
          <a:noFill/>
          <a:ln/>
        </p:spPr>
        <p:txBody>
          <a:bodyPr wrap="square" lIns="0" tIns="0" rIns="0" bIns="0" rtlCol="0" anchor="t"/>
          <a:lstStyle/>
          <a:p>
            <a:pPr algn="l" indent="0" marL="0">
              <a:buNone/>
            </a:pPr>
            <a:r>
              <a:rPr lang="en-US" sz="1400" b="1" dirty="0">
                <a:solidFill>
                  <a:srgbClr val="1F2937"/>
                </a:solidFill>
                <a:latin typeface="Cambria" pitchFamily="34" charset="0"/>
                <a:ea typeface="Cambria" pitchFamily="34" charset="-122"/>
                <a:cs typeface="Cambria" pitchFamily="34" charset="-120"/>
              </a:rPr>
              <a:t>PEAD via Point-in-Time Fundamentals</a:t>
            </a:r>
            <a:endParaRPr lang="en-US" sz="1400" dirty="0"/>
          </a:p>
        </p:txBody>
      </p:sp>
      <p:sp>
        <p:nvSpPr>
          <p:cNvPr id="29" name="Text 27"/>
          <p:cNvSpPr/>
          <p:nvPr/>
        </p:nvSpPr>
        <p:spPr>
          <a:xfrm>
            <a:off x="8321040" y="2926080"/>
            <a:ext cx="3200400" cy="228600"/>
          </a:xfrm>
          <a:prstGeom prst="rect">
            <a:avLst/>
          </a:prstGeom>
          <a:noFill/>
          <a:ln/>
        </p:spPr>
        <p:txBody>
          <a:bodyPr wrap="square" lIns="0" tIns="0" rIns="0" bIns="0" rtlCol="0" anchor="ctr"/>
          <a:lstStyle/>
          <a:p>
            <a:pPr algn="l" indent="0" marL="0">
              <a:buNone/>
            </a:pPr>
            <a:r>
              <a:rPr lang="en-US" sz="950" b="1" spc="200" kern="0" dirty="0">
                <a:solidFill>
                  <a:srgbClr val="0F766E"/>
                </a:solidFill>
                <a:latin typeface="Calibri" pitchFamily="34" charset="0"/>
                <a:ea typeface="Calibri" pitchFamily="34" charset="-122"/>
                <a:cs typeface="Calibri" pitchFamily="34" charset="-120"/>
              </a:rPr>
              <a:t>MECHANISM</a:t>
            </a:r>
            <a:endParaRPr lang="en-US" sz="950" dirty="0"/>
          </a:p>
        </p:txBody>
      </p:sp>
      <p:sp>
        <p:nvSpPr>
          <p:cNvPr id="30" name="Text 28"/>
          <p:cNvSpPr/>
          <p:nvPr/>
        </p:nvSpPr>
        <p:spPr>
          <a:xfrm>
            <a:off x="8321040" y="3154680"/>
            <a:ext cx="3200400" cy="77724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Standardized earnings surprise from point-in-time SEC fundamentals (EDGAR/XBRL); surprise measured at publication_time, not filing_time.</a:t>
            </a:r>
            <a:endParaRPr lang="en-US" sz="1050" dirty="0"/>
          </a:p>
        </p:txBody>
      </p:sp>
      <p:sp>
        <p:nvSpPr>
          <p:cNvPr id="31" name="Shape 29"/>
          <p:cNvSpPr/>
          <p:nvPr/>
        </p:nvSpPr>
        <p:spPr>
          <a:xfrm>
            <a:off x="8321040" y="3977640"/>
            <a:ext cx="3200400" cy="868680"/>
          </a:xfrm>
          <a:prstGeom prst="rect">
            <a:avLst/>
          </a:prstGeom>
          <a:solidFill>
            <a:srgbClr val="111827"/>
          </a:solidFill>
          <a:ln w="6350">
            <a:solidFill>
              <a:srgbClr val="0F766E"/>
            </a:solidFill>
            <a:prstDash val="solid"/>
          </a:ln>
        </p:spPr>
      </p:sp>
      <p:sp>
        <p:nvSpPr>
          <p:cNvPr id="32" name="Text 30"/>
          <p:cNvSpPr/>
          <p:nvPr/>
        </p:nvSpPr>
        <p:spPr>
          <a:xfrm>
            <a:off x="8412480" y="4069080"/>
            <a:ext cx="3017520" cy="731520"/>
          </a:xfrm>
          <a:prstGeom prst="rect">
            <a:avLst/>
          </a:prstGeom>
          <a:noFill/>
          <a:ln/>
        </p:spPr>
        <p:txBody>
          <a:bodyPr wrap="square" lIns="0" tIns="0" rIns="0" bIns="0" rtlCol="0" anchor="t"/>
          <a:lstStyle/>
          <a:p>
            <a:pPr algn="l" indent="0" marL="0">
              <a:buNone/>
            </a:pPr>
            <a:r>
              <a:rPr lang="en-US" sz="950" dirty="0">
                <a:solidFill>
                  <a:srgbClr val="9CA3AF"/>
                </a:solidFill>
                <a:latin typeface="Courier New" pitchFamily="34" charset="0"/>
                <a:ea typeface="Courier New" pitchFamily="34" charset="-122"/>
                <a:cs typeface="Courier New" pitchFamily="34" charset="-120"/>
              </a:rPr>
              <a:t>label:    </a:t>
            </a:r>
            <a:pPr algn="l" indent="0" marL="0">
              <a:buNone/>
            </a:pPr>
            <a:r>
              <a:rPr lang="en-US" sz="950" b="1" dirty="0">
                <a:solidFill>
                  <a:srgbClr val="5EEAD4"/>
                </a:solidFill>
                <a:latin typeface="Courier New" pitchFamily="34" charset="0"/>
                <a:ea typeface="Courier New" pitchFamily="34" charset="-122"/>
                <a:cs typeface="Courier New" pitchFamily="34" charset="-120"/>
              </a:rPr>
              <a:t>forward_excess_return</a:t>
            </a:r>
            <a:endParaRPr lang="en-US" sz="950" dirty="0"/>
          </a:p>
          <a:p>
            <a:pPr algn="l" indent="0" marL="0">
              <a:buNone/>
            </a:pPr>
            <a:r>
              <a:rPr lang="en-US" sz="950" dirty="0">
                <a:solidFill>
                  <a:srgbClr val="9CA3AF"/>
                </a:solidFill>
                <a:latin typeface="Courier New" pitchFamily="34" charset="0"/>
                <a:ea typeface="Courier New" pitchFamily="34" charset="-122"/>
                <a:cs typeface="Courier New" pitchFamily="34" charset="-120"/>
              </a:rPr>
              <a:t>horizon:  </a:t>
            </a:r>
            <a:pPr algn="l" indent="0" marL="0">
              <a:buNone/>
            </a:pPr>
            <a:r>
              <a:rPr lang="en-US" sz="950" dirty="0">
                <a:solidFill>
                  <a:srgbClr val="5EEAD4"/>
                </a:solidFill>
                <a:latin typeface="Courier New" pitchFamily="34" charset="0"/>
                <a:ea typeface="Courier New" pitchFamily="34" charset="-122"/>
                <a:cs typeface="Courier New" pitchFamily="34" charset="-120"/>
              </a:rPr>
              <a:t>horizon = 5 sessions</a:t>
            </a:r>
            <a:endParaRPr lang="en-US" sz="950" dirty="0"/>
          </a:p>
          <a:p>
            <a:pPr algn="l" indent="0" marL="0">
              <a:buNone/>
            </a:pPr>
            <a:r>
              <a:rPr lang="en-US" sz="950" dirty="0">
                <a:solidFill>
                  <a:srgbClr val="9CA3AF"/>
                </a:solidFill>
                <a:latin typeface="Courier New" pitchFamily="34" charset="0"/>
                <a:ea typeface="Courier New" pitchFamily="34" charset="-122"/>
                <a:cs typeface="Courier New" pitchFamily="34" charset="-120"/>
              </a:rPr>
              <a:t>anchor:   </a:t>
            </a:r>
            <a:pPr algn="l" indent="0" marL="0">
              <a:buNone/>
            </a:pPr>
            <a:r>
              <a:rPr lang="en-US" sz="950" dirty="0">
                <a:solidFill>
                  <a:srgbClr val="5EEAD4"/>
                </a:solidFill>
                <a:latin typeface="Courier New" pitchFamily="34" charset="0"/>
                <a:ea typeface="Courier New" pitchFamily="34" charset="-122"/>
                <a:cs typeface="Courier New" pitchFamily="34" charset="-120"/>
              </a:rPr>
              <a:t>anchor = post_event</a:t>
            </a:r>
            <a:endParaRPr lang="en-US" sz="950" dirty="0"/>
          </a:p>
        </p:txBody>
      </p:sp>
      <p:sp>
        <p:nvSpPr>
          <p:cNvPr id="33" name="Text 31"/>
          <p:cNvSpPr/>
          <p:nvPr/>
        </p:nvSpPr>
        <p:spPr>
          <a:xfrm>
            <a:off x="8321040" y="4937760"/>
            <a:ext cx="3200400" cy="228600"/>
          </a:xfrm>
          <a:prstGeom prst="rect">
            <a:avLst/>
          </a:prstGeom>
          <a:noFill/>
          <a:ln/>
        </p:spPr>
        <p:txBody>
          <a:bodyPr wrap="square" lIns="0" tIns="0" rIns="0" bIns="0" rtlCol="0" anchor="ctr"/>
          <a:lstStyle/>
          <a:p>
            <a:pPr algn="l" indent="0" marL="0">
              <a:buNone/>
            </a:pPr>
            <a:r>
              <a:rPr lang="en-US" sz="950" b="1" spc="200" kern="0" dirty="0">
                <a:solidFill>
                  <a:srgbClr val="0F766E"/>
                </a:solidFill>
                <a:latin typeface="Calibri" pitchFamily="34" charset="0"/>
                <a:ea typeface="Calibri" pitchFamily="34" charset="-122"/>
                <a:cs typeface="Calibri" pitchFamily="34" charset="-120"/>
              </a:rPr>
              <a:t>WHY THIS HYPOTHESIS</a:t>
            </a:r>
            <a:endParaRPr lang="en-US" sz="950" dirty="0"/>
          </a:p>
        </p:txBody>
      </p:sp>
      <p:sp>
        <p:nvSpPr>
          <p:cNvPr id="34" name="Text 32"/>
          <p:cNvSpPr/>
          <p:nvPr/>
        </p:nvSpPr>
        <p:spPr>
          <a:xfrm>
            <a:off x="8321040" y="5166360"/>
            <a:ext cx="3200400" cy="548640"/>
          </a:xfrm>
          <a:prstGeom prst="rect">
            <a:avLst/>
          </a:prstGeom>
          <a:noFill/>
          <a:ln/>
        </p:spPr>
        <p:txBody>
          <a:bodyPr wrap="square" lIns="0" tIns="0" rIns="0" bIns="0" rtlCol="0" anchor="t"/>
          <a:lstStyle/>
          <a:p>
            <a:pPr algn="l" indent="0" marL="0">
              <a:buNone/>
            </a:pPr>
            <a:r>
              <a:rPr lang="en-US" sz="1000" i="1" dirty="0">
                <a:solidFill>
                  <a:srgbClr val="6B7280"/>
                </a:solidFill>
                <a:latin typeface="Calibri" pitchFamily="34" charset="0"/>
                <a:ea typeface="Calibri" pitchFamily="34" charset="-122"/>
                <a:cs typeface="Calibri" pitchFamily="34" charset="-120"/>
              </a:rPr>
              <a:t>Exercises the post_event anchor mode and forces correct handling of fundamental-data publication lags - the single most common source of look-ahead leakage in backtests.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Data Architecture</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The layered architecture that makes deterministic universe reconstruction possible</a:t>
            </a:r>
            <a:endParaRPr lang="en-US" sz="1100" dirty="0"/>
          </a:p>
        </p:txBody>
      </p:sp>
      <p:sp>
        <p:nvSpPr>
          <p:cNvPr id="4" name="Shape 2"/>
          <p:cNvSpPr/>
          <p:nvPr/>
        </p:nvSpPr>
        <p:spPr>
          <a:xfrm>
            <a:off x="457200" y="1280160"/>
            <a:ext cx="11247120" cy="868680"/>
          </a:xfrm>
          <a:prstGeom prst="roundRect">
            <a:avLst>
              <a:gd name="adj" fmla="val 8421"/>
            </a:avLst>
          </a:prstGeom>
          <a:solidFill>
            <a:srgbClr val="FFFFFF"/>
          </a:solidFill>
          <a:ln w="12700">
            <a:solidFill>
              <a:srgbClr val="14B8A6"/>
            </a:solidFill>
            <a:prstDash val="dash"/>
          </a:ln>
        </p:spPr>
      </p:sp>
      <p:sp>
        <p:nvSpPr>
          <p:cNvPr id="5" name="Text 3"/>
          <p:cNvSpPr/>
          <p:nvPr/>
        </p:nvSpPr>
        <p:spPr>
          <a:xfrm>
            <a:off x="640080" y="1417320"/>
            <a:ext cx="2286000" cy="594360"/>
          </a:xfrm>
          <a:prstGeom prst="rect">
            <a:avLst/>
          </a:prstGeom>
          <a:noFill/>
          <a:ln/>
        </p:spPr>
        <p:txBody>
          <a:bodyPr wrap="square" lIns="0" tIns="0" rIns="0" bIns="0" rtlCol="0" anchor="ctr"/>
          <a:lstStyle/>
          <a:p>
            <a:pPr algn="l" indent="0" marL="0">
              <a:buNone/>
            </a:pPr>
            <a:r>
              <a:rPr lang="en-US" sz="1100" b="1" spc="200" kern="0" dirty="0">
                <a:solidFill>
                  <a:srgbClr val="0F766E"/>
                </a:solidFill>
                <a:latin typeface="Calibri" pitchFamily="34" charset="0"/>
                <a:ea typeface="Calibri" pitchFamily="34" charset="-122"/>
                <a:cs typeface="Calibri" pitchFamily="34" charset="-120"/>
              </a:rPr>
              <a:t>SOURCE DATA</a:t>
            </a:r>
            <a:endParaRPr lang="en-US" sz="1100" dirty="0"/>
          </a:p>
        </p:txBody>
      </p:sp>
      <p:sp>
        <p:nvSpPr>
          <p:cNvPr id="6" name="Shape 4"/>
          <p:cNvSpPr/>
          <p:nvPr/>
        </p:nvSpPr>
        <p:spPr>
          <a:xfrm>
            <a:off x="3063240" y="1463040"/>
            <a:ext cx="2743200" cy="502920"/>
          </a:xfrm>
          <a:prstGeom prst="roundRect">
            <a:avLst>
              <a:gd name="adj" fmla="val 14545"/>
            </a:avLst>
          </a:prstGeom>
          <a:solidFill>
            <a:srgbClr val="111827"/>
          </a:solidFill>
          <a:ln w="9525">
            <a:solidFill>
              <a:srgbClr val="14B8A6"/>
            </a:solidFill>
            <a:prstDash val="solid"/>
          </a:ln>
        </p:spPr>
      </p:sp>
      <p:sp>
        <p:nvSpPr>
          <p:cNvPr id="7" name="Text 5"/>
          <p:cNvSpPr/>
          <p:nvPr/>
        </p:nvSpPr>
        <p:spPr>
          <a:xfrm>
            <a:off x="3063240" y="1463040"/>
            <a:ext cx="2743200" cy="502920"/>
          </a:xfrm>
          <a:prstGeom prst="rect">
            <a:avLst/>
          </a:prstGeom>
          <a:noFill/>
          <a:ln/>
        </p:spPr>
        <p:txBody>
          <a:bodyPr wrap="square" lIns="0" tIns="0" rIns="0" bIns="0" rtlCol="0" anchor="ctr"/>
          <a:lstStyle/>
          <a:p>
            <a:pPr algn="ctr" indent="0" marL="0">
              <a:buNone/>
            </a:pPr>
            <a:r>
              <a:rPr lang="en-US" sz="1050" b="1" dirty="0">
                <a:solidFill>
                  <a:srgbClr val="5EEAD4"/>
                </a:solidFill>
                <a:latin typeface="Courier New" pitchFamily="34" charset="0"/>
                <a:ea typeface="Courier New" pitchFamily="34" charset="-122"/>
                <a:cs typeface="Courier New" pitchFamily="34" charset="-120"/>
              </a:rPr>
              <a:t>Licensed daily OHLCV + corporate actions</a:t>
            </a:r>
            <a:endParaRPr lang="en-US" sz="1050" dirty="0"/>
          </a:p>
        </p:txBody>
      </p:sp>
      <p:sp>
        <p:nvSpPr>
          <p:cNvPr id="8" name="Shape 6"/>
          <p:cNvSpPr/>
          <p:nvPr/>
        </p:nvSpPr>
        <p:spPr>
          <a:xfrm>
            <a:off x="5989320" y="1463040"/>
            <a:ext cx="2743200" cy="502920"/>
          </a:xfrm>
          <a:prstGeom prst="roundRect">
            <a:avLst>
              <a:gd name="adj" fmla="val 14545"/>
            </a:avLst>
          </a:prstGeom>
          <a:solidFill>
            <a:srgbClr val="111827"/>
          </a:solidFill>
          <a:ln w="9525">
            <a:solidFill>
              <a:srgbClr val="14B8A6"/>
            </a:solidFill>
            <a:prstDash val="solid"/>
          </a:ln>
        </p:spPr>
      </p:sp>
      <p:sp>
        <p:nvSpPr>
          <p:cNvPr id="9" name="Text 7"/>
          <p:cNvSpPr/>
          <p:nvPr/>
        </p:nvSpPr>
        <p:spPr>
          <a:xfrm>
            <a:off x="5989320" y="1463040"/>
            <a:ext cx="2743200" cy="502920"/>
          </a:xfrm>
          <a:prstGeom prst="rect">
            <a:avLst/>
          </a:prstGeom>
          <a:noFill/>
          <a:ln/>
        </p:spPr>
        <p:txBody>
          <a:bodyPr wrap="square" lIns="0" tIns="0" rIns="0" bIns="0" rtlCol="0" anchor="ctr"/>
          <a:lstStyle/>
          <a:p>
            <a:pPr algn="ctr" indent="0" marL="0">
              <a:buNone/>
            </a:pPr>
            <a:r>
              <a:rPr lang="en-US" sz="1050" b="1" dirty="0">
                <a:solidFill>
                  <a:srgbClr val="5EEAD4"/>
                </a:solidFill>
                <a:latin typeface="Courier New" pitchFamily="34" charset="0"/>
                <a:ea typeface="Courier New" pitchFamily="34" charset="-122"/>
                <a:cs typeface="Courier New" pitchFamily="34" charset="-120"/>
              </a:rPr>
              <a:t>SEC EDGAR / XBRL fundamentals</a:t>
            </a:r>
            <a:endParaRPr lang="en-US" sz="1050" dirty="0"/>
          </a:p>
        </p:txBody>
      </p:sp>
      <p:sp>
        <p:nvSpPr>
          <p:cNvPr id="10" name="Shape 8"/>
          <p:cNvSpPr/>
          <p:nvPr/>
        </p:nvSpPr>
        <p:spPr>
          <a:xfrm>
            <a:off x="8915400" y="1463040"/>
            <a:ext cx="2743200" cy="502920"/>
          </a:xfrm>
          <a:prstGeom prst="roundRect">
            <a:avLst>
              <a:gd name="adj" fmla="val 14545"/>
            </a:avLst>
          </a:prstGeom>
          <a:solidFill>
            <a:srgbClr val="111827"/>
          </a:solidFill>
          <a:ln w="9525">
            <a:solidFill>
              <a:srgbClr val="14B8A6"/>
            </a:solidFill>
            <a:prstDash val="solid"/>
          </a:ln>
        </p:spPr>
      </p:sp>
      <p:sp>
        <p:nvSpPr>
          <p:cNvPr id="11" name="Text 9"/>
          <p:cNvSpPr/>
          <p:nvPr/>
        </p:nvSpPr>
        <p:spPr>
          <a:xfrm>
            <a:off x="8915400" y="1463040"/>
            <a:ext cx="2743200" cy="502920"/>
          </a:xfrm>
          <a:prstGeom prst="rect">
            <a:avLst/>
          </a:prstGeom>
          <a:noFill/>
          <a:ln/>
        </p:spPr>
        <p:txBody>
          <a:bodyPr wrap="square" lIns="0" tIns="0" rIns="0" bIns="0" rtlCol="0" anchor="ctr"/>
          <a:lstStyle/>
          <a:p>
            <a:pPr algn="ctr" indent="0" marL="0">
              <a:buNone/>
            </a:pPr>
            <a:r>
              <a:rPr lang="en-US" sz="1050" b="1" dirty="0">
                <a:solidFill>
                  <a:srgbClr val="5EEAD4"/>
                </a:solidFill>
                <a:latin typeface="Courier New" pitchFamily="34" charset="0"/>
                <a:ea typeface="Courier New" pitchFamily="34" charset="-122"/>
                <a:cs typeface="Courier New" pitchFamily="34" charset="-120"/>
              </a:rPr>
              <a:t>FRED / ALFRED macro vintages</a:t>
            </a:r>
            <a:endParaRPr lang="en-US" sz="1050" dirty="0"/>
          </a:p>
        </p:txBody>
      </p:sp>
      <p:sp>
        <p:nvSpPr>
          <p:cNvPr id="12" name="Shape 10"/>
          <p:cNvSpPr/>
          <p:nvPr/>
        </p:nvSpPr>
        <p:spPr>
          <a:xfrm>
            <a:off x="6080760" y="2148840"/>
            <a:ext cx="0" cy="137160"/>
          </a:xfrm>
          <a:prstGeom prst="line">
            <a:avLst/>
          </a:prstGeom>
          <a:noFill/>
          <a:ln w="12700">
            <a:solidFill>
              <a:srgbClr val="1F2937"/>
            </a:solidFill>
            <a:prstDash val="solid"/>
            <a:headEnd type="none"/>
            <a:tailEnd type="triangle"/>
          </a:ln>
        </p:spPr>
      </p:sp>
      <p:sp>
        <p:nvSpPr>
          <p:cNvPr id="13" name="Shape 11"/>
          <p:cNvSpPr/>
          <p:nvPr/>
        </p:nvSpPr>
        <p:spPr>
          <a:xfrm>
            <a:off x="457200" y="2286000"/>
            <a:ext cx="11247120" cy="868680"/>
          </a:xfrm>
          <a:prstGeom prst="roundRect">
            <a:avLst>
              <a:gd name="adj" fmla="val 8421"/>
            </a:avLst>
          </a:prstGeom>
          <a:solidFill>
            <a:srgbClr val="FFFFFF"/>
          </a:solidFill>
          <a:ln w="12700">
            <a:solidFill>
              <a:srgbClr val="14B8A6"/>
            </a:solidFill>
            <a:prstDash val="solid"/>
          </a:ln>
        </p:spPr>
      </p:sp>
      <p:sp>
        <p:nvSpPr>
          <p:cNvPr id="14" name="Text 12"/>
          <p:cNvSpPr/>
          <p:nvPr/>
        </p:nvSpPr>
        <p:spPr>
          <a:xfrm>
            <a:off x="640080" y="2423160"/>
            <a:ext cx="2286000" cy="594360"/>
          </a:xfrm>
          <a:prstGeom prst="rect">
            <a:avLst/>
          </a:prstGeom>
          <a:noFill/>
          <a:ln/>
        </p:spPr>
        <p:txBody>
          <a:bodyPr wrap="square" lIns="0" tIns="0" rIns="0" bIns="0" rtlCol="0" anchor="ctr"/>
          <a:lstStyle/>
          <a:p>
            <a:pPr algn="l" indent="0" marL="0">
              <a:buNone/>
            </a:pPr>
            <a:r>
              <a:rPr lang="en-US" sz="1100" b="1" spc="200" kern="0" dirty="0">
                <a:solidFill>
                  <a:srgbClr val="0F766E"/>
                </a:solidFill>
                <a:latin typeface="Calibri" pitchFamily="34" charset="0"/>
                <a:ea typeface="Calibri" pitchFamily="34" charset="-122"/>
                <a:cs typeface="Calibri" pitchFamily="34" charset="-120"/>
              </a:rPr>
              <a:t>IDENTITY &amp; IMMUTABLE STORAGE</a:t>
            </a:r>
            <a:endParaRPr lang="en-US" sz="1100" dirty="0"/>
          </a:p>
        </p:txBody>
      </p:sp>
      <p:sp>
        <p:nvSpPr>
          <p:cNvPr id="15" name="Shape 13"/>
          <p:cNvSpPr/>
          <p:nvPr/>
        </p:nvSpPr>
        <p:spPr>
          <a:xfrm>
            <a:off x="3063240" y="2468880"/>
            <a:ext cx="2743200" cy="502920"/>
          </a:xfrm>
          <a:prstGeom prst="roundRect">
            <a:avLst>
              <a:gd name="adj" fmla="val 14545"/>
            </a:avLst>
          </a:prstGeom>
          <a:solidFill>
            <a:srgbClr val="111827"/>
          </a:solidFill>
          <a:ln w="9525">
            <a:solidFill>
              <a:srgbClr val="14B8A6"/>
            </a:solidFill>
            <a:prstDash val="solid"/>
          </a:ln>
        </p:spPr>
      </p:sp>
      <p:sp>
        <p:nvSpPr>
          <p:cNvPr id="16" name="Text 14"/>
          <p:cNvSpPr/>
          <p:nvPr/>
        </p:nvSpPr>
        <p:spPr>
          <a:xfrm>
            <a:off x="3063240" y="2468880"/>
            <a:ext cx="2743200" cy="502920"/>
          </a:xfrm>
          <a:prstGeom prst="rect">
            <a:avLst/>
          </a:prstGeom>
          <a:noFill/>
          <a:ln/>
        </p:spPr>
        <p:txBody>
          <a:bodyPr wrap="square" lIns="0" tIns="0" rIns="0" bIns="0" rtlCol="0" anchor="ctr"/>
          <a:lstStyle/>
          <a:p>
            <a:pPr algn="ctr" indent="0" marL="0">
              <a:buNone/>
            </a:pPr>
            <a:r>
              <a:rPr lang="en-US" sz="1050" b="1" dirty="0">
                <a:solidFill>
                  <a:srgbClr val="5EEAD4"/>
                </a:solidFill>
                <a:latin typeface="Courier New" pitchFamily="34" charset="0"/>
                <a:ea typeface="Courier New" pitchFamily="34" charset="-122"/>
                <a:cs typeface="Courier New" pitchFamily="34" charset="-120"/>
              </a:rPr>
              <a:t>Instrument Master  (INS-xxxxxx)</a:t>
            </a:r>
            <a:endParaRPr lang="en-US" sz="1050" dirty="0"/>
          </a:p>
        </p:txBody>
      </p:sp>
      <p:sp>
        <p:nvSpPr>
          <p:cNvPr id="17" name="Shape 15"/>
          <p:cNvSpPr/>
          <p:nvPr/>
        </p:nvSpPr>
        <p:spPr>
          <a:xfrm>
            <a:off x="5989320" y="2468880"/>
            <a:ext cx="2743200" cy="502920"/>
          </a:xfrm>
          <a:prstGeom prst="roundRect">
            <a:avLst>
              <a:gd name="adj" fmla="val 14545"/>
            </a:avLst>
          </a:prstGeom>
          <a:solidFill>
            <a:srgbClr val="111827"/>
          </a:solidFill>
          <a:ln w="9525">
            <a:solidFill>
              <a:srgbClr val="14B8A6"/>
            </a:solidFill>
            <a:prstDash val="solid"/>
          </a:ln>
        </p:spPr>
      </p:sp>
      <p:sp>
        <p:nvSpPr>
          <p:cNvPr id="18" name="Text 16"/>
          <p:cNvSpPr/>
          <p:nvPr/>
        </p:nvSpPr>
        <p:spPr>
          <a:xfrm>
            <a:off x="5989320" y="2468880"/>
            <a:ext cx="2743200" cy="502920"/>
          </a:xfrm>
          <a:prstGeom prst="rect">
            <a:avLst/>
          </a:prstGeom>
          <a:noFill/>
          <a:ln/>
        </p:spPr>
        <p:txBody>
          <a:bodyPr wrap="square" lIns="0" tIns="0" rIns="0" bIns="0" rtlCol="0" anchor="ctr"/>
          <a:lstStyle/>
          <a:p>
            <a:pPr algn="ctr" indent="0" marL="0">
              <a:buNone/>
            </a:pPr>
            <a:r>
              <a:rPr lang="en-US" sz="1050" b="1" dirty="0">
                <a:solidFill>
                  <a:srgbClr val="5EEAD4"/>
                </a:solidFill>
                <a:latin typeface="Courier New" pitchFamily="34" charset="0"/>
                <a:ea typeface="Courier New" pitchFamily="34" charset="-122"/>
                <a:cs typeface="Courier New" pitchFamily="34" charset="-120"/>
              </a:rPr>
              <a:t>SymbolHistory  (ticker → instrument)</a:t>
            </a:r>
            <a:endParaRPr lang="en-US" sz="1050" dirty="0"/>
          </a:p>
        </p:txBody>
      </p:sp>
      <p:sp>
        <p:nvSpPr>
          <p:cNvPr id="19" name="Shape 17"/>
          <p:cNvSpPr/>
          <p:nvPr/>
        </p:nvSpPr>
        <p:spPr>
          <a:xfrm>
            <a:off x="8915400" y="2468880"/>
            <a:ext cx="2743200" cy="502920"/>
          </a:xfrm>
          <a:prstGeom prst="roundRect">
            <a:avLst>
              <a:gd name="adj" fmla="val 14545"/>
            </a:avLst>
          </a:prstGeom>
          <a:solidFill>
            <a:srgbClr val="111827"/>
          </a:solidFill>
          <a:ln w="9525">
            <a:solidFill>
              <a:srgbClr val="14B8A6"/>
            </a:solidFill>
            <a:prstDash val="solid"/>
          </a:ln>
        </p:spPr>
      </p:sp>
      <p:sp>
        <p:nvSpPr>
          <p:cNvPr id="20" name="Text 18"/>
          <p:cNvSpPr/>
          <p:nvPr/>
        </p:nvSpPr>
        <p:spPr>
          <a:xfrm>
            <a:off x="8915400" y="2468880"/>
            <a:ext cx="2743200" cy="502920"/>
          </a:xfrm>
          <a:prstGeom prst="rect">
            <a:avLst/>
          </a:prstGeom>
          <a:noFill/>
          <a:ln/>
        </p:spPr>
        <p:txBody>
          <a:bodyPr wrap="square" lIns="0" tIns="0" rIns="0" bIns="0" rtlCol="0" anchor="ctr"/>
          <a:lstStyle/>
          <a:p>
            <a:pPr algn="ctr" indent="0" marL="0">
              <a:buNone/>
            </a:pPr>
            <a:r>
              <a:rPr lang="en-US" sz="1050" b="1" dirty="0">
                <a:solidFill>
                  <a:srgbClr val="5EEAD4"/>
                </a:solidFill>
                <a:latin typeface="Courier New" pitchFamily="34" charset="0"/>
                <a:ea typeface="Courier New" pitchFamily="34" charset="-122"/>
                <a:cs typeface="Courier New" pitchFamily="34" charset="-120"/>
              </a:rPr>
              <a:t>DatasetSnapshot  (checksummed)</a:t>
            </a:r>
            <a:endParaRPr lang="en-US" sz="1050" dirty="0"/>
          </a:p>
        </p:txBody>
      </p:sp>
      <p:sp>
        <p:nvSpPr>
          <p:cNvPr id="21" name="Shape 19"/>
          <p:cNvSpPr/>
          <p:nvPr/>
        </p:nvSpPr>
        <p:spPr>
          <a:xfrm>
            <a:off x="6080760" y="3154680"/>
            <a:ext cx="0" cy="137160"/>
          </a:xfrm>
          <a:prstGeom prst="line">
            <a:avLst/>
          </a:prstGeom>
          <a:noFill/>
          <a:ln w="12700">
            <a:solidFill>
              <a:srgbClr val="1F2937"/>
            </a:solidFill>
            <a:prstDash val="solid"/>
            <a:headEnd type="none"/>
            <a:tailEnd type="triangle"/>
          </a:ln>
        </p:spPr>
      </p:sp>
      <p:sp>
        <p:nvSpPr>
          <p:cNvPr id="22" name="Shape 20"/>
          <p:cNvSpPr/>
          <p:nvPr/>
        </p:nvSpPr>
        <p:spPr>
          <a:xfrm>
            <a:off x="457200" y="3291840"/>
            <a:ext cx="11247120" cy="868680"/>
          </a:xfrm>
          <a:prstGeom prst="roundRect">
            <a:avLst>
              <a:gd name="adj" fmla="val 8421"/>
            </a:avLst>
          </a:prstGeom>
          <a:solidFill>
            <a:srgbClr val="111827"/>
          </a:solidFill>
          <a:ln w="12700">
            <a:solidFill>
              <a:srgbClr val="14B8A6"/>
            </a:solidFill>
            <a:prstDash val="solid"/>
          </a:ln>
        </p:spPr>
      </p:sp>
      <p:sp>
        <p:nvSpPr>
          <p:cNvPr id="23" name="Text 21"/>
          <p:cNvSpPr/>
          <p:nvPr/>
        </p:nvSpPr>
        <p:spPr>
          <a:xfrm>
            <a:off x="640080" y="3429000"/>
            <a:ext cx="2286000" cy="594360"/>
          </a:xfrm>
          <a:prstGeom prst="rect">
            <a:avLst/>
          </a:prstGeom>
          <a:noFill/>
          <a:ln/>
        </p:spPr>
        <p:txBody>
          <a:bodyPr wrap="square" lIns="0" tIns="0" rIns="0" bIns="0" rtlCol="0" anchor="ctr"/>
          <a:lstStyle/>
          <a:p>
            <a:pPr algn="l" indent="0" marL="0">
              <a:buNone/>
            </a:pPr>
            <a:r>
              <a:rPr lang="en-US" sz="1100" b="1" spc="200" kern="0" dirty="0">
                <a:solidFill>
                  <a:srgbClr val="0F766E"/>
                </a:solidFill>
                <a:latin typeface="Calibri" pitchFamily="34" charset="0"/>
                <a:ea typeface="Calibri" pitchFamily="34" charset="-122"/>
                <a:cs typeface="Calibri" pitchFamily="34" charset="-120"/>
              </a:rPr>
              <a:t>DETERMINISTIC RECONSTRUCTION</a:t>
            </a:r>
            <a:endParaRPr lang="en-US" sz="1100" dirty="0"/>
          </a:p>
        </p:txBody>
      </p:sp>
      <p:sp>
        <p:nvSpPr>
          <p:cNvPr id="24" name="Shape 22"/>
          <p:cNvSpPr/>
          <p:nvPr/>
        </p:nvSpPr>
        <p:spPr>
          <a:xfrm>
            <a:off x="3063240" y="3474720"/>
            <a:ext cx="8046720" cy="502920"/>
          </a:xfrm>
          <a:prstGeom prst="roundRect">
            <a:avLst>
              <a:gd name="adj" fmla="val 14545"/>
            </a:avLst>
          </a:prstGeom>
          <a:solidFill>
            <a:srgbClr val="111827"/>
          </a:solidFill>
          <a:ln w="9525">
            <a:solidFill>
              <a:srgbClr val="14B8A6"/>
            </a:solidFill>
            <a:prstDash val="solid"/>
          </a:ln>
        </p:spPr>
      </p:sp>
      <p:sp>
        <p:nvSpPr>
          <p:cNvPr id="25" name="Text 23"/>
          <p:cNvSpPr/>
          <p:nvPr/>
        </p:nvSpPr>
        <p:spPr>
          <a:xfrm>
            <a:off x="3063240" y="3474720"/>
            <a:ext cx="8046720" cy="502920"/>
          </a:xfrm>
          <a:prstGeom prst="rect">
            <a:avLst/>
          </a:prstGeom>
          <a:noFill/>
          <a:ln/>
        </p:spPr>
        <p:txBody>
          <a:bodyPr wrap="square" lIns="0" tIns="0" rIns="0" bIns="0" rtlCol="0" anchor="ctr"/>
          <a:lstStyle/>
          <a:p>
            <a:pPr algn="ctr" indent="0" marL="0">
              <a:buNone/>
            </a:pPr>
            <a:r>
              <a:rPr lang="en-US" sz="1050" b="1" dirty="0">
                <a:solidFill>
                  <a:srgbClr val="5EEAD4"/>
                </a:solidFill>
                <a:latin typeface="Courier New" pitchFamily="34" charset="0"/>
                <a:ea typeface="Courier New" pitchFamily="34" charset="-122"/>
                <a:cs typeface="Courier New" pitchFamily="34" charset="-120"/>
              </a:rPr>
              <a:t>Universe Engine  —  deterministic reconstruction for any historical evaluation date</a:t>
            </a:r>
            <a:endParaRPr lang="en-US" sz="1050" dirty="0"/>
          </a:p>
        </p:txBody>
      </p:sp>
      <p:sp>
        <p:nvSpPr>
          <p:cNvPr id="26" name="Shape 24"/>
          <p:cNvSpPr/>
          <p:nvPr/>
        </p:nvSpPr>
        <p:spPr>
          <a:xfrm>
            <a:off x="457200" y="4434840"/>
            <a:ext cx="11247120" cy="1508760"/>
          </a:xfrm>
          <a:prstGeom prst="roundRect">
            <a:avLst>
              <a:gd name="adj" fmla="val 4848"/>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27" name="Text 25"/>
          <p:cNvSpPr/>
          <p:nvPr/>
        </p:nvSpPr>
        <p:spPr>
          <a:xfrm>
            <a:off x="685800" y="4572000"/>
            <a:ext cx="10789920" cy="1280160"/>
          </a:xfrm>
          <a:prstGeom prst="rect">
            <a:avLst/>
          </a:prstGeom>
          <a:noFill/>
          <a:ln/>
        </p:spPr>
        <p:txBody>
          <a:bodyPr wrap="square" lIns="0" tIns="0" rIns="0" bIns="0" rtlCol="0" anchor="t"/>
          <a:lstStyle/>
          <a:p>
            <a:pPr algn="l" indent="0" marL="0">
              <a:spcAft>
                <a:spcPts val="600"/>
              </a:spcAft>
              <a:buNone/>
            </a:pPr>
            <a:r>
              <a:rPr lang="en-US" sz="1100" dirty="0">
                <a:solidFill>
                  <a:srgbClr val="1F2937"/>
                </a:solidFill>
                <a:latin typeface="Calibri" pitchFamily="34" charset="0"/>
                <a:ea typeface="Calibri" pitchFamily="34" charset="-122"/>
                <a:cs typeface="Calibri" pitchFamily="34" charset="-120"/>
              </a:rPr>
              <a:t>The Instrument Master is the single source of stable identity. A ticker is merely a symbol under which an instrument traded during a window; SymbolHistory records those windows. Two different tickers (e.g. a company pre- and post-rename) collapse onto the same INS-xxxxxx.</a:t>
            </a:r>
            <a:endParaRPr lang="en-US" sz="1100" dirty="0"/>
          </a:p>
          <a:p>
            <a:pPr algn="l" indent="0" marL="0">
              <a:buNone/>
            </a:pPr>
            <a:r>
              <a:rPr lang="en-US" sz="1100" dirty="0">
                <a:solidFill>
                  <a:srgbClr val="1F2937"/>
                </a:solidFill>
                <a:latin typeface="Calibri" pitchFamily="34" charset="0"/>
                <a:ea typeface="Calibri" pitchFamily="34" charset="-122"/>
                <a:cs typeface="Calibri" pitchFamily="34" charset="-120"/>
              </a:rPr>
              <a:t>DatasetSnapshot captures every external data delivery as an immutable, checksummed artifact. A re-run of any historical experiment pulls from the same snapshot bytes that the original run used, by checksum — not by 'the latest version of the file'.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Key Technical Features</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Five subsystems distinguish ORBIT from a typical backtest framework; each is built to be auditable and replayable years after the fact</a:t>
            </a:r>
            <a:endParaRPr lang="en-US" sz="1100" dirty="0"/>
          </a:p>
        </p:txBody>
      </p:sp>
      <p:sp>
        <p:nvSpPr>
          <p:cNvPr id="4" name="Text 2"/>
          <p:cNvSpPr/>
          <p:nvPr/>
        </p:nvSpPr>
        <p:spPr>
          <a:xfrm>
            <a:off x="457200" y="1234440"/>
            <a:ext cx="11247120" cy="274320"/>
          </a:xfrm>
          <a:prstGeom prst="rect">
            <a:avLst/>
          </a:prstGeom>
          <a:noFill/>
          <a:ln/>
        </p:spPr>
        <p:txBody>
          <a:bodyPr wrap="square" lIns="0" tIns="0" rIns="0" bIns="0" rtlCol="0" anchor="ctr"/>
          <a:lstStyle/>
          <a:p>
            <a:pPr algn="l" indent="0" marL="0">
              <a:buNone/>
            </a:pPr>
            <a:r>
              <a:rPr lang="en-US" sz="1100" i="1" dirty="0">
                <a:solidFill>
                  <a:srgbClr val="6B7280"/>
                </a:solidFill>
                <a:latin typeface="Calibri" pitchFamily="34" charset="0"/>
                <a:ea typeface="Calibri" pitchFamily="34" charset="-122"/>
                <a:cs typeface="Calibri" pitchFamily="34" charset="-120"/>
              </a:rPr>
              <a:t>Five subsystems distinguish ORBIT from a typical backtest framework; each is built to be auditable and replayable years after the fact.</a:t>
            </a:r>
            <a:endParaRPr lang="en-US" sz="1100" dirty="0"/>
          </a:p>
        </p:txBody>
      </p:sp>
      <p:sp>
        <p:nvSpPr>
          <p:cNvPr id="5" name="Shape 3"/>
          <p:cNvSpPr/>
          <p:nvPr/>
        </p:nvSpPr>
        <p:spPr>
          <a:xfrm>
            <a:off x="457200" y="1600200"/>
            <a:ext cx="11247120" cy="868680"/>
          </a:xfrm>
          <a:prstGeom prst="roundRect">
            <a:avLst>
              <a:gd name="adj" fmla="val 842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640080" y="1760220"/>
            <a:ext cx="548640" cy="548640"/>
          </a:xfrm>
          <a:prstGeom prst="ellipse">
            <a:avLst/>
          </a:prstGeom>
          <a:solidFill>
            <a:srgbClr val="14B8A6"/>
          </a:solidFill>
          <a:ln w="6350">
            <a:solidFill>
              <a:srgbClr val="0F766E"/>
            </a:solidFill>
            <a:prstDash val="solid"/>
          </a:ln>
        </p:spPr>
      </p:sp>
      <p:sp>
        <p:nvSpPr>
          <p:cNvPr id="7" name="Text 5"/>
          <p:cNvSpPr/>
          <p:nvPr/>
        </p:nvSpPr>
        <p:spPr>
          <a:xfrm>
            <a:off x="640080" y="17602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1417320" y="1719072"/>
            <a:ext cx="10058400" cy="292608"/>
          </a:xfrm>
          <a:prstGeom prst="rect">
            <a:avLst/>
          </a:prstGeom>
          <a:noFill/>
          <a:ln/>
        </p:spPr>
        <p:txBody>
          <a:bodyPr wrap="square" lIns="0" tIns="0" rIns="0" bIns="0" rtlCol="0" anchor="ctr"/>
          <a:lstStyle/>
          <a:p>
            <a:pPr algn="l" indent="0" marL="0">
              <a:buNone/>
            </a:pPr>
            <a:r>
              <a:rPr lang="en-US" sz="1400" b="1" dirty="0">
                <a:solidFill>
                  <a:srgbClr val="1F2937"/>
                </a:solidFill>
                <a:latin typeface="Cambria" pitchFamily="34" charset="0"/>
                <a:ea typeface="Cambria" pitchFamily="34" charset="-122"/>
                <a:cs typeface="Cambria" pitchFamily="34" charset="-120"/>
              </a:rPr>
              <a:t>Temporal Truth Engine (Phase 4)</a:t>
            </a:r>
            <a:endParaRPr lang="en-US" sz="1400" dirty="0"/>
          </a:p>
        </p:txBody>
      </p:sp>
      <p:sp>
        <p:nvSpPr>
          <p:cNvPr id="9" name="Text 7"/>
          <p:cNvSpPr/>
          <p:nvPr/>
        </p:nvSpPr>
        <p:spPr>
          <a:xfrm>
            <a:off x="1417320" y="2011680"/>
            <a:ext cx="10058400" cy="36576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Enforces point-in-time discipline on every read. Any query that would expose future information is rejected at the API boundary, not caught in review.</a:t>
            </a:r>
            <a:endParaRPr lang="en-US" sz="1100" dirty="0"/>
          </a:p>
        </p:txBody>
      </p:sp>
      <p:sp>
        <p:nvSpPr>
          <p:cNvPr id="10" name="Shape 8"/>
          <p:cNvSpPr/>
          <p:nvPr/>
        </p:nvSpPr>
        <p:spPr>
          <a:xfrm>
            <a:off x="457200" y="2606040"/>
            <a:ext cx="11247120" cy="868680"/>
          </a:xfrm>
          <a:prstGeom prst="roundRect">
            <a:avLst>
              <a:gd name="adj" fmla="val 842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640080" y="2766060"/>
            <a:ext cx="548640" cy="548640"/>
          </a:xfrm>
          <a:prstGeom prst="ellipse">
            <a:avLst/>
          </a:prstGeom>
          <a:solidFill>
            <a:srgbClr val="14B8A6"/>
          </a:solidFill>
          <a:ln w="6350">
            <a:solidFill>
              <a:srgbClr val="0F766E"/>
            </a:solidFill>
            <a:prstDash val="solid"/>
          </a:ln>
        </p:spPr>
      </p:sp>
      <p:sp>
        <p:nvSpPr>
          <p:cNvPr id="12" name="Text 10"/>
          <p:cNvSpPr/>
          <p:nvPr/>
        </p:nvSpPr>
        <p:spPr>
          <a:xfrm>
            <a:off x="640080" y="27660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1417320" y="2724912"/>
            <a:ext cx="10058400" cy="292608"/>
          </a:xfrm>
          <a:prstGeom prst="rect">
            <a:avLst/>
          </a:prstGeom>
          <a:noFill/>
          <a:ln/>
        </p:spPr>
        <p:txBody>
          <a:bodyPr wrap="square" lIns="0" tIns="0" rIns="0" bIns="0" rtlCol="0" anchor="ctr"/>
          <a:lstStyle/>
          <a:p>
            <a:pPr algn="l" indent="0" marL="0">
              <a:buNone/>
            </a:pPr>
            <a:r>
              <a:rPr lang="en-US" sz="1400" b="1" dirty="0">
                <a:solidFill>
                  <a:srgbClr val="1F2937"/>
                </a:solidFill>
                <a:latin typeface="Cambria" pitchFamily="34" charset="0"/>
                <a:ea typeface="Cambria" pitchFamily="34" charset="-122"/>
                <a:cs typeface="Cambria" pitchFamily="34" charset="-120"/>
              </a:rPr>
              <a:t>Label Engine (Phase 5)</a:t>
            </a:r>
            <a:endParaRPr lang="en-US" sz="1400" dirty="0"/>
          </a:p>
        </p:txBody>
      </p:sp>
      <p:sp>
        <p:nvSpPr>
          <p:cNvPr id="14" name="Text 12"/>
          <p:cNvSpPr/>
          <p:nvPr/>
        </p:nvSpPr>
        <p:spPr>
          <a:xfrm>
            <a:off x="1417320" y="3017520"/>
            <a:ext cx="10058400" cy="36576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Computes reproducible outcomes from immutable LabelContracts. Outcomes are versioned with the contract; re-running a 2018 experiment in 2026 produces the identical number, byte-for-byte.</a:t>
            </a:r>
            <a:endParaRPr lang="en-US" sz="1100" dirty="0"/>
          </a:p>
        </p:txBody>
      </p:sp>
      <p:sp>
        <p:nvSpPr>
          <p:cNvPr id="15" name="Shape 13"/>
          <p:cNvSpPr/>
          <p:nvPr/>
        </p:nvSpPr>
        <p:spPr>
          <a:xfrm>
            <a:off x="457200" y="3611880"/>
            <a:ext cx="11247120" cy="868680"/>
          </a:xfrm>
          <a:prstGeom prst="roundRect">
            <a:avLst>
              <a:gd name="adj" fmla="val 842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640080" y="3771900"/>
            <a:ext cx="548640" cy="548640"/>
          </a:xfrm>
          <a:prstGeom prst="ellipse">
            <a:avLst/>
          </a:prstGeom>
          <a:solidFill>
            <a:srgbClr val="14B8A6"/>
          </a:solidFill>
          <a:ln w="6350">
            <a:solidFill>
              <a:srgbClr val="0F766E"/>
            </a:solidFill>
            <a:prstDash val="solid"/>
          </a:ln>
        </p:spPr>
      </p:sp>
      <p:sp>
        <p:nvSpPr>
          <p:cNvPr id="17" name="Text 15"/>
          <p:cNvSpPr/>
          <p:nvPr/>
        </p:nvSpPr>
        <p:spPr>
          <a:xfrm>
            <a:off x="640080" y="37719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Text 16"/>
          <p:cNvSpPr/>
          <p:nvPr/>
        </p:nvSpPr>
        <p:spPr>
          <a:xfrm>
            <a:off x="1417320" y="3730752"/>
            <a:ext cx="10058400" cy="292608"/>
          </a:xfrm>
          <a:prstGeom prst="rect">
            <a:avLst/>
          </a:prstGeom>
          <a:noFill/>
          <a:ln/>
        </p:spPr>
        <p:txBody>
          <a:bodyPr wrap="square" lIns="0" tIns="0" rIns="0" bIns="0" rtlCol="0" anchor="ctr"/>
          <a:lstStyle/>
          <a:p>
            <a:pPr algn="l" indent="0" marL="0">
              <a:buNone/>
            </a:pPr>
            <a:r>
              <a:rPr lang="en-US" sz="1400" b="1" dirty="0">
                <a:solidFill>
                  <a:srgbClr val="1F2937"/>
                </a:solidFill>
                <a:latin typeface="Cambria" pitchFamily="34" charset="0"/>
                <a:ea typeface="Cambria" pitchFamily="34" charset="-122"/>
                <a:cs typeface="Cambria" pitchFamily="34" charset="-120"/>
              </a:rPr>
              <a:t>Paper-Only Policy (Phase 1 binding)</a:t>
            </a:r>
            <a:endParaRPr lang="en-US" sz="1400" dirty="0"/>
          </a:p>
        </p:txBody>
      </p:sp>
      <p:sp>
        <p:nvSpPr>
          <p:cNvPr id="19" name="Text 17"/>
          <p:cNvSpPr/>
          <p:nvPr/>
        </p:nvSpPr>
        <p:spPr>
          <a:xfrm>
            <a:off x="1417320" y="4023360"/>
            <a:ext cx="10058400" cy="36576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No real capital ever enters ORBIT. The policy is bound at charter time and cannot be relaxed without a new charter; it removes the financial incentive to bend the evidence chain.</a:t>
            </a:r>
            <a:endParaRPr lang="en-US" sz="1100" dirty="0"/>
          </a:p>
        </p:txBody>
      </p:sp>
      <p:sp>
        <p:nvSpPr>
          <p:cNvPr id="20" name="Shape 18"/>
          <p:cNvSpPr/>
          <p:nvPr/>
        </p:nvSpPr>
        <p:spPr>
          <a:xfrm>
            <a:off x="457200" y="4617720"/>
            <a:ext cx="11247120" cy="868680"/>
          </a:xfrm>
          <a:prstGeom prst="roundRect">
            <a:avLst>
              <a:gd name="adj" fmla="val 842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640080" y="4777740"/>
            <a:ext cx="548640" cy="548640"/>
          </a:xfrm>
          <a:prstGeom prst="ellipse">
            <a:avLst/>
          </a:prstGeom>
          <a:solidFill>
            <a:srgbClr val="14B8A6"/>
          </a:solidFill>
          <a:ln w="6350">
            <a:solidFill>
              <a:srgbClr val="0F766E"/>
            </a:solidFill>
            <a:prstDash val="solid"/>
          </a:ln>
        </p:spPr>
      </p:sp>
      <p:sp>
        <p:nvSpPr>
          <p:cNvPr id="22" name="Text 20"/>
          <p:cNvSpPr/>
          <p:nvPr/>
        </p:nvSpPr>
        <p:spPr>
          <a:xfrm>
            <a:off x="640080" y="47777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3" name="Text 21"/>
          <p:cNvSpPr/>
          <p:nvPr/>
        </p:nvSpPr>
        <p:spPr>
          <a:xfrm>
            <a:off x="1417320" y="4736592"/>
            <a:ext cx="10058400" cy="292608"/>
          </a:xfrm>
          <a:prstGeom prst="rect">
            <a:avLst/>
          </a:prstGeom>
          <a:noFill/>
          <a:ln/>
        </p:spPr>
        <p:txBody>
          <a:bodyPr wrap="square" lIns="0" tIns="0" rIns="0" bIns="0" rtlCol="0" anchor="ctr"/>
          <a:lstStyle/>
          <a:p>
            <a:pPr algn="l" indent="0" marL="0">
              <a:buNone/>
            </a:pPr>
            <a:r>
              <a:rPr lang="en-US" sz="1400" b="1" dirty="0">
                <a:solidFill>
                  <a:srgbClr val="1F2937"/>
                </a:solidFill>
                <a:latin typeface="Cambria" pitchFamily="34" charset="0"/>
                <a:ea typeface="Cambria" pitchFamily="34" charset="-122"/>
                <a:cs typeface="Cambria" pitchFamily="34" charset="-120"/>
              </a:rPr>
              <a:t>Deterministic PaperBroker</a:t>
            </a:r>
            <a:endParaRPr lang="en-US" sz="1400" dirty="0"/>
          </a:p>
        </p:txBody>
      </p:sp>
      <p:sp>
        <p:nvSpPr>
          <p:cNvPr id="24" name="Text 22"/>
          <p:cNvSpPr/>
          <p:nvPr/>
        </p:nvSpPr>
        <p:spPr>
          <a:xfrm>
            <a:off x="1417320" y="5029200"/>
            <a:ext cx="10058400" cy="36576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The canonical simulator. Identical inputs produce identical fills, slippage, and costs — across machines, across years. No random seeds, no ambient state.</a:t>
            </a:r>
            <a:endParaRPr lang="en-US" sz="1100" dirty="0"/>
          </a:p>
        </p:txBody>
      </p:sp>
      <p:sp>
        <p:nvSpPr>
          <p:cNvPr id="25" name="Shape 23"/>
          <p:cNvSpPr/>
          <p:nvPr/>
        </p:nvSpPr>
        <p:spPr>
          <a:xfrm>
            <a:off x="457200" y="5623560"/>
            <a:ext cx="11247120" cy="868680"/>
          </a:xfrm>
          <a:prstGeom prst="roundRect">
            <a:avLst>
              <a:gd name="adj" fmla="val 842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26" name="Shape 24"/>
          <p:cNvSpPr/>
          <p:nvPr/>
        </p:nvSpPr>
        <p:spPr>
          <a:xfrm>
            <a:off x="640080" y="5783580"/>
            <a:ext cx="548640" cy="548640"/>
          </a:xfrm>
          <a:prstGeom prst="ellipse">
            <a:avLst/>
          </a:prstGeom>
          <a:solidFill>
            <a:srgbClr val="14B8A6"/>
          </a:solidFill>
          <a:ln w="6350">
            <a:solidFill>
              <a:srgbClr val="0F766E"/>
            </a:solidFill>
            <a:prstDash val="solid"/>
          </a:ln>
        </p:spPr>
      </p:sp>
      <p:sp>
        <p:nvSpPr>
          <p:cNvPr id="27" name="Text 25"/>
          <p:cNvSpPr/>
          <p:nvPr/>
        </p:nvSpPr>
        <p:spPr>
          <a:xfrm>
            <a:off x="640080" y="57835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8" name="Text 26"/>
          <p:cNvSpPr/>
          <p:nvPr/>
        </p:nvSpPr>
        <p:spPr>
          <a:xfrm>
            <a:off x="1417320" y="5742432"/>
            <a:ext cx="10058400" cy="292608"/>
          </a:xfrm>
          <a:prstGeom prst="rect">
            <a:avLst/>
          </a:prstGeom>
          <a:noFill/>
          <a:ln/>
        </p:spPr>
        <p:txBody>
          <a:bodyPr wrap="square" lIns="0" tIns="0" rIns="0" bIns="0" rtlCol="0" anchor="ctr"/>
          <a:lstStyle/>
          <a:p>
            <a:pPr algn="l" indent="0" marL="0">
              <a:buNone/>
            </a:pPr>
            <a:r>
              <a:rPr lang="en-US" sz="1400" b="1" dirty="0">
                <a:solidFill>
                  <a:srgbClr val="1F2937"/>
                </a:solidFill>
                <a:latin typeface="Cambria" pitchFamily="34" charset="0"/>
                <a:ea typeface="Cambria" pitchFamily="34" charset="-122"/>
                <a:cs typeface="Cambria" pitchFamily="34" charset="-120"/>
              </a:rPr>
              <a:t>Release Calendar</a:t>
            </a:r>
            <a:endParaRPr lang="en-US" sz="1400" dirty="0"/>
          </a:p>
        </p:txBody>
      </p:sp>
      <p:sp>
        <p:nvSpPr>
          <p:cNvPr id="29" name="Text 27"/>
          <p:cNvSpPr/>
          <p:nvPr/>
        </p:nvSpPr>
        <p:spPr>
          <a:xfrm>
            <a:off x="1417320" y="6035040"/>
            <a:ext cx="10058400" cy="36576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Sharpens known release instants (e.g. scheduled economic releases) to their scheduled times, eliminating ambiguity between when a release 'happened' and when it was published.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Governance &amp; Stop Rules</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Four governance invariants and the family-level stop rules that halt a hypothesis family</a:t>
            </a:r>
            <a:endParaRPr lang="en-US" sz="1100" dirty="0"/>
          </a:p>
        </p:txBody>
      </p:sp>
      <p:sp>
        <p:nvSpPr>
          <p:cNvPr id="4" name="Shape 2"/>
          <p:cNvSpPr/>
          <p:nvPr/>
        </p:nvSpPr>
        <p:spPr>
          <a:xfrm>
            <a:off x="457200" y="1234440"/>
            <a:ext cx="5486400" cy="1417320"/>
          </a:xfrm>
          <a:prstGeom prst="roundRect">
            <a:avLst>
              <a:gd name="adj" fmla="val 516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685800" y="1399032"/>
            <a:ext cx="50292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PRE-REGISTRATION</a:t>
            </a:r>
            <a:endParaRPr lang="en-US" sz="1100" dirty="0"/>
          </a:p>
        </p:txBody>
      </p:sp>
      <p:sp>
        <p:nvSpPr>
          <p:cNvPr id="6" name="Text 4"/>
          <p:cNvSpPr/>
          <p:nvPr/>
        </p:nvSpPr>
        <p:spPr>
          <a:xfrm>
            <a:off x="685800" y="1691640"/>
            <a:ext cx="5029200" cy="82296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Every hypothesis and every experiment is fully specified before execution. Specification, training plan, evaluation plan, and falsification plan are committed to the registry before any data is read.</a:t>
            </a:r>
            <a:endParaRPr lang="en-US" sz="1100" dirty="0"/>
          </a:p>
        </p:txBody>
      </p:sp>
      <p:sp>
        <p:nvSpPr>
          <p:cNvPr id="7" name="Shape 5"/>
          <p:cNvSpPr/>
          <p:nvPr/>
        </p:nvSpPr>
        <p:spPr>
          <a:xfrm>
            <a:off x="6217920" y="1234440"/>
            <a:ext cx="5486400" cy="1417320"/>
          </a:xfrm>
          <a:prstGeom prst="roundRect">
            <a:avLst>
              <a:gd name="adj" fmla="val 516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6446520" y="1399032"/>
            <a:ext cx="50292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GENEALOGY</a:t>
            </a:r>
            <a:endParaRPr lang="en-US" sz="1100" dirty="0"/>
          </a:p>
        </p:txBody>
      </p:sp>
      <p:sp>
        <p:nvSpPr>
          <p:cNvPr id="9" name="Text 7"/>
          <p:cNvSpPr/>
          <p:nvPr/>
        </p:nvSpPr>
        <p:spPr>
          <a:xfrm>
            <a:off x="6446520" y="1691640"/>
            <a:ext cx="5029200" cy="82296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Every experiment references a parent. Nothing is orphaned. The full genealogy of any result can be walked back to a registered hypothesis and a charter-approved seed.</a:t>
            </a:r>
            <a:endParaRPr lang="en-US" sz="1100" dirty="0"/>
          </a:p>
        </p:txBody>
      </p:sp>
      <p:sp>
        <p:nvSpPr>
          <p:cNvPr id="10" name="Shape 8"/>
          <p:cNvSpPr/>
          <p:nvPr/>
        </p:nvSpPr>
        <p:spPr>
          <a:xfrm>
            <a:off x="457200" y="2834640"/>
            <a:ext cx="5486400" cy="1417320"/>
          </a:xfrm>
          <a:prstGeom prst="roundRect">
            <a:avLst>
              <a:gd name="adj" fmla="val 516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685800" y="2999232"/>
            <a:ext cx="50292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FALSIFICATION OBLIGATION</a:t>
            </a:r>
            <a:endParaRPr lang="en-US" sz="1100" dirty="0"/>
          </a:p>
        </p:txBody>
      </p:sp>
      <p:sp>
        <p:nvSpPr>
          <p:cNvPr id="12" name="Text 10"/>
          <p:cNvSpPr/>
          <p:nvPr/>
        </p:nvSpPr>
        <p:spPr>
          <a:xfrm>
            <a:off x="685800" y="3291840"/>
            <a:ext cx="5029200" cy="82296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Promising results are not promoted; they are first subjected to adversarial failure tests. A result that survives only the favorable specification is not evidence — it is a candidate for falsification.</a:t>
            </a:r>
            <a:endParaRPr lang="en-US" sz="1100" dirty="0"/>
          </a:p>
        </p:txBody>
      </p:sp>
      <p:sp>
        <p:nvSpPr>
          <p:cNvPr id="13" name="Shape 11"/>
          <p:cNvSpPr/>
          <p:nvPr/>
        </p:nvSpPr>
        <p:spPr>
          <a:xfrm>
            <a:off x="6217920" y="2834640"/>
            <a:ext cx="5486400" cy="1417320"/>
          </a:xfrm>
          <a:prstGeom prst="roundRect">
            <a:avLst>
              <a:gd name="adj" fmla="val 516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6446520" y="2999232"/>
            <a:ext cx="50292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STOP RULES</a:t>
            </a:r>
            <a:endParaRPr lang="en-US" sz="1100" dirty="0"/>
          </a:p>
        </p:txBody>
      </p:sp>
      <p:sp>
        <p:nvSpPr>
          <p:cNvPr id="15" name="Text 13"/>
          <p:cNvSpPr/>
          <p:nvPr/>
        </p:nvSpPr>
        <p:spPr>
          <a:xfrm>
            <a:off x="6446520" y="3291840"/>
            <a:ext cx="5029200" cy="82296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Repeated failure of a hypothesis family requires a new thesis, not more tuning. Tuning is not research; a family that fails must be retired or re-thought.</a:t>
            </a:r>
            <a:endParaRPr lang="en-US" sz="1100" dirty="0"/>
          </a:p>
        </p:txBody>
      </p:sp>
      <p:sp>
        <p:nvSpPr>
          <p:cNvPr id="16" name="Shape 14"/>
          <p:cNvSpPr/>
          <p:nvPr/>
        </p:nvSpPr>
        <p:spPr>
          <a:xfrm>
            <a:off x="457200" y="4617720"/>
            <a:ext cx="5486400" cy="1783080"/>
          </a:xfrm>
          <a:prstGeom prst="roundRect">
            <a:avLst>
              <a:gd name="adj" fmla="val 4103"/>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7" name="Text 15"/>
          <p:cNvSpPr/>
          <p:nvPr/>
        </p:nvSpPr>
        <p:spPr>
          <a:xfrm>
            <a:off x="685800" y="4754880"/>
            <a:ext cx="50292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HARD STOPS</a:t>
            </a:r>
            <a:endParaRPr lang="en-US" sz="1100" dirty="0"/>
          </a:p>
        </p:txBody>
      </p:sp>
      <p:sp>
        <p:nvSpPr>
          <p:cNvPr id="18" name="Shape 16"/>
          <p:cNvSpPr/>
          <p:nvPr/>
        </p:nvSpPr>
        <p:spPr>
          <a:xfrm>
            <a:off x="685800" y="5074920"/>
            <a:ext cx="5029200" cy="914400"/>
          </a:xfrm>
          <a:prstGeom prst="roundRect">
            <a:avLst>
              <a:gd name="adj" fmla="val 8000"/>
            </a:avLst>
          </a:prstGeom>
          <a:solidFill>
            <a:srgbClr val="111827"/>
          </a:solidFill>
          <a:ln w="6350">
            <a:solidFill>
              <a:srgbClr val="030712"/>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850392" y="5184648"/>
            <a:ext cx="109728" cy="109728"/>
          </a:xfrm>
          <a:prstGeom prst="ellipse">
            <a:avLst/>
          </a:prstGeom>
          <a:solidFill>
            <a:srgbClr val="EF4444"/>
          </a:solidFill>
          <a:ln w="12700">
            <a:solidFill>
              <a:srgbClr val="111827"/>
            </a:solidFill>
            <a:prstDash val="solid"/>
          </a:ln>
        </p:spPr>
      </p:sp>
      <p:sp>
        <p:nvSpPr>
          <p:cNvPr id="20" name="Shape 18"/>
          <p:cNvSpPr/>
          <p:nvPr/>
        </p:nvSpPr>
        <p:spPr>
          <a:xfrm>
            <a:off x="1014984" y="5184648"/>
            <a:ext cx="109728" cy="109728"/>
          </a:xfrm>
          <a:prstGeom prst="ellipse">
            <a:avLst/>
          </a:prstGeom>
          <a:solidFill>
            <a:srgbClr val="F59E0B"/>
          </a:solidFill>
          <a:ln w="12700">
            <a:solidFill>
              <a:srgbClr val="111827"/>
            </a:solidFill>
            <a:prstDash val="solid"/>
          </a:ln>
        </p:spPr>
      </p:sp>
      <p:sp>
        <p:nvSpPr>
          <p:cNvPr id="21" name="Shape 19"/>
          <p:cNvSpPr/>
          <p:nvPr/>
        </p:nvSpPr>
        <p:spPr>
          <a:xfrm>
            <a:off x="1179576" y="5184648"/>
            <a:ext cx="109728" cy="109728"/>
          </a:xfrm>
          <a:prstGeom prst="ellipse">
            <a:avLst/>
          </a:prstGeom>
          <a:solidFill>
            <a:srgbClr val="10B981"/>
          </a:solidFill>
          <a:ln w="12700">
            <a:solidFill>
              <a:srgbClr val="111827"/>
            </a:solidFill>
            <a:prstDash val="solid"/>
          </a:ln>
        </p:spPr>
      </p:sp>
      <p:sp>
        <p:nvSpPr>
          <p:cNvPr id="22" name="Text 20"/>
          <p:cNvSpPr/>
          <p:nvPr/>
        </p:nvSpPr>
        <p:spPr>
          <a:xfrm>
            <a:off x="868680" y="5422392"/>
            <a:ext cx="4663440" cy="457200"/>
          </a:xfrm>
          <a:prstGeom prst="rect">
            <a:avLst/>
          </a:prstGeom>
          <a:noFill/>
          <a:ln/>
        </p:spPr>
        <p:txBody>
          <a:bodyPr wrap="square" lIns="0" tIns="0" rIns="0" bIns="0" rtlCol="0" anchor="t"/>
          <a:lstStyle/>
          <a:p>
            <a:pPr algn="l" indent="0" marL="0">
              <a:spcAft>
                <a:spcPts val="200"/>
              </a:spcAft>
              <a:buNone/>
            </a:pPr>
            <a:r>
              <a:rPr lang="en-US" sz="1200" b="1" dirty="0">
                <a:solidFill>
                  <a:srgbClr val="5EEAD4"/>
                </a:solidFill>
                <a:latin typeface="Courier New" pitchFamily="34" charset="0"/>
                <a:ea typeface="Courier New" pitchFamily="34" charset="-122"/>
                <a:cs typeface="Courier New" pitchFamily="34" charset="-120"/>
              </a:rPr>
              <a:t>HALT FAMILY IMMEDIATELY:</a:t>
            </a:r>
            <a:endParaRPr lang="en-US" sz="1200" dirty="0"/>
          </a:p>
          <a:p>
            <a:pPr algn="l" indent="0" marL="0">
              <a:spcAft>
                <a:spcPts val="200"/>
              </a:spcAft>
              <a:buNone/>
            </a:pPr>
            <a:r>
              <a:rPr lang="en-US" sz="1200" dirty="0">
                <a:solidFill>
                  <a:srgbClr val="5EEAD4"/>
                </a:solidFill>
                <a:latin typeface="Courier New" pitchFamily="34" charset="0"/>
                <a:ea typeface="Courier New" pitchFamily="34" charset="-122"/>
                <a:cs typeface="Courier New" pitchFamily="34" charset="-120"/>
              </a:rPr>
              <a:t>  known temporal leak</a:t>
            </a:r>
            <a:endParaRPr lang="en-US" sz="1200" dirty="0"/>
          </a:p>
          <a:p>
            <a:pPr algn="l" indent="0" marL="0">
              <a:spcAft>
                <a:spcPts val="200"/>
              </a:spcAft>
              <a:buNone/>
            </a:pPr>
            <a:r>
              <a:rPr lang="en-US" sz="1200" dirty="0">
                <a:solidFill>
                  <a:srgbClr val="5EEAD4"/>
                </a:solidFill>
                <a:latin typeface="Courier New" pitchFamily="34" charset="0"/>
                <a:ea typeface="Courier New" pitchFamily="34" charset="-122"/>
                <a:cs typeface="Courier New" pitchFamily="34" charset="-120"/>
              </a:rPr>
              <a:t>  accounting mismatch</a:t>
            </a:r>
            <a:endParaRPr lang="en-US" sz="1200" dirty="0"/>
          </a:p>
          <a:p>
            <a:pPr algn="l" indent="0" marL="0">
              <a:spcAft>
                <a:spcPts val="200"/>
              </a:spcAft>
              <a:buNone/>
            </a:pPr>
            <a:r>
              <a:rPr lang="en-US" sz="1200" dirty="0">
                <a:solidFill>
                  <a:srgbClr val="5EEAD4"/>
                </a:solidFill>
                <a:latin typeface="Courier New" pitchFamily="34" charset="0"/>
                <a:ea typeface="Courier New" pitchFamily="34" charset="-122"/>
                <a:cs typeface="Courier New" pitchFamily="34" charset="-120"/>
              </a:rPr>
              <a:t>  unreplayable experiment</a:t>
            </a:r>
            <a:endParaRPr lang="en-US" sz="1200" dirty="0"/>
          </a:p>
        </p:txBody>
      </p:sp>
      <p:sp>
        <p:nvSpPr>
          <p:cNvPr id="23" name="Text 21"/>
          <p:cNvSpPr/>
          <p:nvPr/>
        </p:nvSpPr>
        <p:spPr>
          <a:xfrm>
            <a:off x="685800" y="6080760"/>
            <a:ext cx="5029200" cy="274320"/>
          </a:xfrm>
          <a:prstGeom prst="rect">
            <a:avLst/>
          </a:prstGeom>
          <a:noFill/>
          <a:ln/>
        </p:spPr>
        <p:txBody>
          <a:bodyPr wrap="square" lIns="0" tIns="0" rIns="0" bIns="0" rtlCol="0" anchor="ctr"/>
          <a:lstStyle/>
          <a:p>
            <a:pPr algn="l" indent="0" marL="0">
              <a:buNone/>
            </a:pPr>
            <a:r>
              <a:rPr lang="en-US" sz="1000" i="1" dirty="0">
                <a:solidFill>
                  <a:srgbClr val="6B7280"/>
                </a:solidFill>
                <a:latin typeface="Calibri" pitchFamily="34" charset="0"/>
                <a:ea typeface="Calibri" pitchFamily="34" charset="-122"/>
                <a:cs typeface="Calibri" pitchFamily="34" charset="-120"/>
              </a:rPr>
              <a:t>No overrides, no exceptions. The family is paused until the root cause is documented and the breach is closed.</a:t>
            </a:r>
            <a:endParaRPr lang="en-US" sz="1000" dirty="0"/>
          </a:p>
        </p:txBody>
      </p:sp>
      <p:sp>
        <p:nvSpPr>
          <p:cNvPr id="24" name="Shape 22"/>
          <p:cNvSpPr/>
          <p:nvPr/>
        </p:nvSpPr>
        <p:spPr>
          <a:xfrm>
            <a:off x="6217920" y="4617720"/>
            <a:ext cx="5486400" cy="1783080"/>
          </a:xfrm>
          <a:prstGeom prst="roundRect">
            <a:avLst>
              <a:gd name="adj" fmla="val 4103"/>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25" name="Text 23"/>
          <p:cNvSpPr/>
          <p:nvPr/>
        </p:nvSpPr>
        <p:spPr>
          <a:xfrm>
            <a:off x="6446520" y="4754880"/>
            <a:ext cx="5029200" cy="256032"/>
          </a:xfrm>
          <a:prstGeom prst="rect">
            <a:avLst/>
          </a:prstGeom>
          <a:noFill/>
          <a:ln/>
        </p:spPr>
        <p:txBody>
          <a:bodyPr wrap="square" lIns="0" tIns="0" rIns="0" bIns="0" rtlCol="0" anchor="t"/>
          <a:lstStyle/>
          <a:p>
            <a:pPr algn="l" indent="0" marL="0">
              <a:buNone/>
            </a:pPr>
            <a:r>
              <a:rPr lang="en-US" sz="1100" b="1" spc="300" kern="0" dirty="0">
                <a:solidFill>
                  <a:srgbClr val="0F766E"/>
                </a:solidFill>
                <a:latin typeface="Calibri" pitchFamily="34" charset="0"/>
                <a:ea typeface="Calibri" pitchFamily="34" charset="-122"/>
                <a:cs typeface="Calibri" pitchFamily="34" charset="-120"/>
              </a:rPr>
              <a:t>ESCAPE HATCH</a:t>
            </a:r>
            <a:endParaRPr lang="en-US" sz="1100" dirty="0"/>
          </a:p>
        </p:txBody>
      </p:sp>
      <p:sp>
        <p:nvSpPr>
          <p:cNvPr id="26" name="Text 24"/>
          <p:cNvSpPr/>
          <p:nvPr/>
        </p:nvSpPr>
        <p:spPr>
          <a:xfrm>
            <a:off x="6446520" y="5074920"/>
            <a:ext cx="5029200" cy="256032"/>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A family may exit a hard stop only by:</a:t>
            </a:r>
            <a:endParaRPr lang="en-US" sz="1100" dirty="0"/>
          </a:p>
        </p:txBody>
      </p:sp>
      <p:sp>
        <p:nvSpPr>
          <p:cNvPr id="27" name="Text 25"/>
          <p:cNvSpPr/>
          <p:nvPr/>
        </p:nvSpPr>
        <p:spPr>
          <a:xfrm>
            <a:off x="6446520" y="5367528"/>
            <a:ext cx="4846320" cy="914400"/>
          </a:xfrm>
          <a:prstGeom prst="rect">
            <a:avLst/>
          </a:prstGeom>
          <a:noFill/>
          <a:ln/>
        </p:spPr>
        <p:txBody>
          <a:bodyPr wrap="square" lIns="0" tIns="0" rIns="0" bIns="0" rtlCol="0" anchor="t"/>
          <a:lstStyle/>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root-cause analysis written to the registry</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corrective change to the engine or data pipeline</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re-running every affected experiment from its registered specification</a:t>
            </a:r>
            <a:endParaRPr lang="en-US" sz="1050" dirty="0"/>
          </a:p>
          <a:p>
            <a:pPr algn="l" marL="152400" indent="-152400">
              <a:buSzPct val="100000"/>
              <a:buChar char="•"/>
            </a:pPr>
            <a:r>
              <a:rPr lang="en-US" sz="1000" i="1" dirty="0">
                <a:solidFill>
                  <a:srgbClr val="6B7280"/>
                </a:solidFill>
                <a:latin typeface="Calibri" pitchFamily="34" charset="0"/>
                <a:ea typeface="Calibri" pitchFamily="34" charset="-122"/>
                <a:cs typeface="Calibri" pitchFamily="34" charset="-120"/>
              </a:rPr>
              <a:t>Re-running with the same intent but better data is not permitted.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Success &amp; Failure Conditions</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Progression through the gates is decided by explicit, pre-registered conditions — not by argument after the results are in</a:t>
            </a:r>
            <a:endParaRPr lang="en-US" sz="1100" dirty="0"/>
          </a:p>
        </p:txBody>
      </p:sp>
      <p:sp>
        <p:nvSpPr>
          <p:cNvPr id="4" name="Text 2"/>
          <p:cNvSpPr/>
          <p:nvPr/>
        </p:nvSpPr>
        <p:spPr>
          <a:xfrm>
            <a:off x="457200" y="1234440"/>
            <a:ext cx="11247120" cy="274320"/>
          </a:xfrm>
          <a:prstGeom prst="rect">
            <a:avLst/>
          </a:prstGeom>
          <a:noFill/>
          <a:ln/>
        </p:spPr>
        <p:txBody>
          <a:bodyPr wrap="square" lIns="0" tIns="0" rIns="0" bIns="0" rtlCol="0" anchor="ctr"/>
          <a:lstStyle/>
          <a:p>
            <a:pPr algn="l" indent="0" marL="0">
              <a:buNone/>
            </a:pPr>
            <a:r>
              <a:rPr lang="en-US" sz="1100" i="1" dirty="0">
                <a:solidFill>
                  <a:srgbClr val="6B7280"/>
                </a:solidFill>
                <a:latin typeface="Calibri" pitchFamily="34" charset="0"/>
                <a:ea typeface="Calibri" pitchFamily="34" charset="-122"/>
                <a:cs typeface="Calibri" pitchFamily="34" charset="-120"/>
              </a:rPr>
              <a:t>Progression through the gates is decided by explicit, pre-registered conditions — not by argument after the results are in.</a:t>
            </a:r>
            <a:endParaRPr lang="en-US" sz="1100" dirty="0"/>
          </a:p>
        </p:txBody>
      </p:sp>
      <p:sp>
        <p:nvSpPr>
          <p:cNvPr id="5" name="Shape 3"/>
          <p:cNvSpPr/>
          <p:nvPr/>
        </p:nvSpPr>
        <p:spPr>
          <a:xfrm>
            <a:off x="457200" y="1600200"/>
            <a:ext cx="3566160" cy="4114800"/>
          </a:xfrm>
          <a:prstGeom prst="roundRect">
            <a:avLst>
              <a:gd name="adj" fmla="val 205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457200" y="1600200"/>
            <a:ext cx="3566160" cy="457200"/>
          </a:xfrm>
          <a:prstGeom prst="rect">
            <a:avLst/>
          </a:prstGeom>
          <a:solidFill>
            <a:srgbClr val="14B8A6"/>
          </a:solidFill>
          <a:ln w="12700">
            <a:solidFill>
              <a:srgbClr val="14B8A6"/>
            </a:solidFill>
            <a:prstDash val="solid"/>
          </a:ln>
        </p:spPr>
      </p:sp>
      <p:sp>
        <p:nvSpPr>
          <p:cNvPr id="7" name="Text 5"/>
          <p:cNvSpPr/>
          <p:nvPr/>
        </p:nvSpPr>
        <p:spPr>
          <a:xfrm>
            <a:off x="640080" y="1600200"/>
            <a:ext cx="3200400" cy="457200"/>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CHARTER APPROVED</a:t>
            </a:r>
            <a:endParaRPr lang="en-US" sz="1200" dirty="0"/>
          </a:p>
        </p:txBody>
      </p:sp>
      <p:sp>
        <p:nvSpPr>
          <p:cNvPr id="8" name="Text 6"/>
          <p:cNvSpPr/>
          <p:nvPr/>
        </p:nvSpPr>
        <p:spPr>
          <a:xfrm>
            <a:off x="685800" y="2194560"/>
            <a:ext cx="3108960" cy="3383280"/>
          </a:xfrm>
          <a:prstGeom prst="rect">
            <a:avLst/>
          </a:prstGeom>
          <a:noFill/>
          <a:ln/>
        </p:spPr>
        <p:txBody>
          <a:bodyPr wrap="square" lIns="0" tIns="0" rIns="0" bIns="0" rtlCol="0" anchor="t"/>
          <a:lstStyle/>
          <a:p>
            <a:pPr algn="l" marL="152400" indent="-152400">
              <a:spcAft>
                <a:spcPts val="1000"/>
              </a:spcAft>
              <a:buSzPct val="100000"/>
              <a:buChar char="•"/>
            </a:pPr>
            <a:r>
              <a:rPr lang="en-US" sz="1100" dirty="0">
                <a:solidFill>
                  <a:srgbClr val="1F2937"/>
                </a:solidFill>
                <a:latin typeface="Calibri" pitchFamily="34" charset="0"/>
                <a:ea typeface="Calibri" pitchFamily="34" charset="-122"/>
                <a:cs typeface="Calibri" pitchFamily="34" charset="-120"/>
              </a:rPr>
              <a:t>Charter document signed off by research lead and platform lead.</a:t>
            </a:r>
            <a:endParaRPr lang="en-US" sz="1100" dirty="0"/>
          </a:p>
          <a:p>
            <a:pPr algn="l" marL="152400" indent="-152400">
              <a:spcAft>
                <a:spcPts val="1000"/>
              </a:spcAft>
              <a:buSzPct val="100000"/>
              <a:buChar char="•"/>
            </a:pPr>
            <a:r>
              <a:rPr lang="en-US" sz="1100" dirty="0">
                <a:solidFill>
                  <a:srgbClr val="1F2937"/>
                </a:solidFill>
                <a:latin typeface="Calibri" pitchFamily="34" charset="0"/>
                <a:ea typeface="Calibri" pitchFamily="34" charset="-122"/>
                <a:cs typeface="Calibri" pitchFamily="34" charset="-120"/>
              </a:rPr>
              <a:t>Three seed hypotheses registered (H-001, H-002, H-003).</a:t>
            </a:r>
            <a:endParaRPr lang="en-US" sz="1100" dirty="0"/>
          </a:p>
          <a:p>
            <a:pPr algn="l" marL="152400" indent="-152400">
              <a:spcAft>
                <a:spcPts val="1000"/>
              </a:spcAft>
              <a:buSzPct val="100000"/>
              <a:buChar char="•"/>
            </a:pPr>
            <a:r>
              <a:rPr lang="en-US" sz="1100" dirty="0">
                <a:solidFill>
                  <a:srgbClr val="1F2937"/>
                </a:solidFill>
                <a:latin typeface="Calibri" pitchFamily="34" charset="0"/>
                <a:ea typeface="Calibri" pitchFamily="34" charset="-122"/>
                <a:cs typeface="Calibri" pitchFamily="34" charset="-120"/>
              </a:rPr>
              <a:t>Promotion gates A through K documented, with concrete numeric thresholds per hypothesis.</a:t>
            </a:r>
            <a:endParaRPr lang="en-US" sz="1100" dirty="0"/>
          </a:p>
          <a:p>
            <a:pPr algn="l" marL="152400" indent="-152400">
              <a:spcAft>
                <a:spcPts val="1000"/>
              </a:spcAft>
              <a:buSzPct val="100000"/>
              <a:buChar char="•"/>
            </a:pPr>
            <a:r>
              <a:rPr lang="en-US" sz="1100" dirty="0">
                <a:solidFill>
                  <a:srgbClr val="1F2937"/>
                </a:solidFill>
                <a:latin typeface="Calibri" pitchFamily="34" charset="0"/>
                <a:ea typeface="Calibri" pitchFamily="34" charset="-122"/>
                <a:cs typeface="Calibri" pitchFamily="34" charset="-120"/>
              </a:rPr>
              <a:t>Paper-only policy bound; no path to live capital exists in the charter.</a:t>
            </a:r>
            <a:endParaRPr lang="en-US" sz="1100" dirty="0"/>
          </a:p>
        </p:txBody>
      </p:sp>
      <p:sp>
        <p:nvSpPr>
          <p:cNvPr id="9" name="Shape 7"/>
          <p:cNvSpPr/>
          <p:nvPr/>
        </p:nvSpPr>
        <p:spPr>
          <a:xfrm>
            <a:off x="4297680" y="1600200"/>
            <a:ext cx="3566160" cy="4114800"/>
          </a:xfrm>
          <a:prstGeom prst="roundRect">
            <a:avLst>
              <a:gd name="adj" fmla="val 205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297680" y="1600200"/>
            <a:ext cx="3566160" cy="457200"/>
          </a:xfrm>
          <a:prstGeom prst="rect">
            <a:avLst/>
          </a:prstGeom>
          <a:solidFill>
            <a:srgbClr val="6B7280"/>
          </a:solidFill>
          <a:ln w="12700">
            <a:solidFill>
              <a:srgbClr val="6B7280"/>
            </a:solidFill>
            <a:prstDash val="solid"/>
          </a:ln>
        </p:spPr>
      </p:sp>
      <p:sp>
        <p:nvSpPr>
          <p:cNvPr id="11" name="Text 9"/>
          <p:cNvSpPr/>
          <p:nvPr/>
        </p:nvSpPr>
        <p:spPr>
          <a:xfrm>
            <a:off x="4480560" y="1600200"/>
            <a:ext cx="3200400" cy="457200"/>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CHARTER FAILED</a:t>
            </a:r>
            <a:endParaRPr lang="en-US" sz="1200" dirty="0"/>
          </a:p>
        </p:txBody>
      </p:sp>
      <p:sp>
        <p:nvSpPr>
          <p:cNvPr id="12" name="Text 10"/>
          <p:cNvSpPr/>
          <p:nvPr/>
        </p:nvSpPr>
        <p:spPr>
          <a:xfrm>
            <a:off x="4526280" y="2194560"/>
            <a:ext cx="3108960" cy="3383280"/>
          </a:xfrm>
          <a:prstGeom prst="rect">
            <a:avLst/>
          </a:prstGeom>
          <a:noFill/>
          <a:ln/>
        </p:spPr>
        <p:txBody>
          <a:bodyPr wrap="square" lIns="0" tIns="0" rIns="0" bIns="0" rtlCol="0" anchor="t"/>
          <a:lstStyle/>
          <a:p>
            <a:pPr algn="l" marL="152400" indent="-152400">
              <a:spcAft>
                <a:spcPts val="1000"/>
              </a:spcAft>
              <a:buSzPct val="100000"/>
              <a:buChar char="•"/>
            </a:pPr>
            <a:r>
              <a:rPr lang="en-US" sz="1100" dirty="0">
                <a:solidFill>
                  <a:srgbClr val="1F2937"/>
                </a:solidFill>
                <a:latin typeface="Calibri" pitchFamily="34" charset="0"/>
                <a:ea typeface="Calibri" pitchFamily="34" charset="-122"/>
                <a:cs typeface="Calibri" pitchFamily="34" charset="-120"/>
              </a:rPr>
              <a:t>Labels or evaluation windows are ambiguous — any reviewer can reasonably re-derive a different number from the same specification.</a:t>
            </a:r>
            <a:endParaRPr lang="en-US" sz="1100" dirty="0"/>
          </a:p>
          <a:p>
            <a:pPr algn="l" marL="152400" indent="-152400">
              <a:spcAft>
                <a:spcPts val="1000"/>
              </a:spcAft>
              <a:buSzPct val="100000"/>
              <a:buChar char="•"/>
            </a:pPr>
            <a:r>
              <a:rPr lang="en-US" sz="1100" dirty="0">
                <a:solidFill>
                  <a:srgbClr val="1F2937"/>
                </a:solidFill>
                <a:latin typeface="Calibri" pitchFamily="34" charset="0"/>
                <a:ea typeface="Calibri" pitchFamily="34" charset="-122"/>
                <a:cs typeface="Calibri" pitchFamily="34" charset="-120"/>
              </a:rPr>
              <a:t>The research question moves after results appear — the question was not pre-registered, it was reverse-engineered from the outcome.</a:t>
            </a:r>
            <a:endParaRPr lang="en-US" sz="1100" dirty="0"/>
          </a:p>
          <a:p>
            <a:pPr algn="l" marL="152400" indent="-152400">
              <a:spcAft>
                <a:spcPts val="1000"/>
              </a:spcAft>
              <a:buSzPct val="100000"/>
              <a:buChar char="•"/>
            </a:pPr>
            <a:r>
              <a:rPr lang="en-US" sz="1100" dirty="0">
                <a:solidFill>
                  <a:srgbClr val="1F2937"/>
                </a:solidFill>
                <a:latin typeface="Calibri" pitchFamily="34" charset="0"/>
                <a:ea typeface="Calibri" pitchFamily="34" charset="-122"/>
                <a:cs typeface="Calibri" pitchFamily="34" charset="-120"/>
              </a:rPr>
              <a:t>The evidence chain depends on a single dataset snapshot that cannot be re-read by checksum.</a:t>
            </a:r>
            <a:endParaRPr lang="en-US" sz="1100" dirty="0"/>
          </a:p>
          <a:p>
            <a:pPr algn="l" marL="152400" indent="-152400">
              <a:spcAft>
                <a:spcPts val="1000"/>
              </a:spcAft>
              <a:buSzPct val="100000"/>
              <a:buChar char="•"/>
            </a:pPr>
            <a:r>
              <a:rPr lang="en-US" sz="1100" dirty="0">
                <a:solidFill>
                  <a:srgbClr val="1F2937"/>
                </a:solidFill>
                <a:latin typeface="Calibri" pitchFamily="34" charset="0"/>
                <a:ea typeface="Calibri" pitchFamily="34" charset="-122"/>
                <a:cs typeface="Calibri" pitchFamily="34" charset="-120"/>
              </a:rPr>
              <a:t>Any gate is documented only after the experiment has been run.</a:t>
            </a:r>
            <a:endParaRPr lang="en-US" sz="1100" dirty="0"/>
          </a:p>
        </p:txBody>
      </p:sp>
      <p:sp>
        <p:nvSpPr>
          <p:cNvPr id="13" name="Shape 11"/>
          <p:cNvSpPr/>
          <p:nvPr/>
        </p:nvSpPr>
        <p:spPr>
          <a:xfrm>
            <a:off x="8138160" y="1600200"/>
            <a:ext cx="3566160" cy="4114800"/>
          </a:xfrm>
          <a:prstGeom prst="roundRect">
            <a:avLst>
              <a:gd name="adj" fmla="val 2051"/>
            </a:avLst>
          </a:prstGeom>
          <a:solidFill>
            <a:srgbClr val="FFFFFF"/>
          </a:solidFill>
          <a:ln w="6350">
            <a:solidFill>
              <a:srgbClr val="D1D5DB"/>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8138160" y="1600200"/>
            <a:ext cx="3566160" cy="457200"/>
          </a:xfrm>
          <a:prstGeom prst="rect">
            <a:avLst/>
          </a:prstGeom>
          <a:solidFill>
            <a:srgbClr val="1A1F24"/>
          </a:solidFill>
          <a:ln w="12700">
            <a:solidFill>
              <a:srgbClr val="1A1F24"/>
            </a:solidFill>
            <a:prstDash val="solid"/>
          </a:ln>
        </p:spPr>
      </p:sp>
      <p:sp>
        <p:nvSpPr>
          <p:cNvPr id="15" name="Text 13"/>
          <p:cNvSpPr/>
          <p:nvPr/>
        </p:nvSpPr>
        <p:spPr>
          <a:xfrm>
            <a:off x="8321040" y="1600200"/>
            <a:ext cx="3200400" cy="457200"/>
          </a:xfrm>
          <a:prstGeom prst="rect">
            <a:avLst/>
          </a:prstGeom>
          <a:noFill/>
          <a:ln/>
        </p:spPr>
        <p:txBody>
          <a:bodyPr wrap="square" lIns="0" tIns="0" rIns="0" bIns="0" rtlCol="0" anchor="ctr"/>
          <a:lstStyle/>
          <a:p>
            <a:pPr algn="ctr" indent="0" marL="0">
              <a:buNone/>
            </a:pPr>
            <a:r>
              <a:rPr lang="en-US" sz="1200" b="1" spc="200" kern="0" dirty="0">
                <a:solidFill>
                  <a:srgbClr val="5EEAD4"/>
                </a:solidFill>
                <a:latin typeface="Calibri" pitchFamily="34" charset="0"/>
                <a:ea typeface="Calibri" pitchFamily="34" charset="-122"/>
                <a:cs typeface="Calibri" pitchFamily="34" charset="-120"/>
              </a:rPr>
              <a:t>DOUBLE DOWN vs ABANDON</a:t>
            </a:r>
            <a:endParaRPr lang="en-US" sz="1200" dirty="0"/>
          </a:p>
        </p:txBody>
      </p:sp>
      <p:sp>
        <p:nvSpPr>
          <p:cNvPr id="16" name="Text 14"/>
          <p:cNvSpPr/>
          <p:nvPr/>
        </p:nvSpPr>
        <p:spPr>
          <a:xfrm>
            <a:off x="8366760" y="2194560"/>
            <a:ext cx="3108960" cy="3383280"/>
          </a:xfrm>
          <a:prstGeom prst="rect">
            <a:avLst/>
          </a:prstGeom>
          <a:noFill/>
          <a:ln/>
        </p:spPr>
        <p:txBody>
          <a:bodyPr wrap="square" lIns="0" tIns="0" rIns="0" bIns="0" rtlCol="0" anchor="t"/>
          <a:lstStyle/>
          <a:p>
            <a:pPr algn="l" marL="152400" indent="-152400">
              <a:spcAft>
                <a:spcPts val="1000"/>
              </a:spcAft>
              <a:buSzPct val="100000"/>
              <a:buChar char="•"/>
            </a:pPr>
            <a:r>
              <a:rPr lang="en-US" sz="1100" dirty="0">
                <a:solidFill>
                  <a:srgbClr val="1F2937"/>
                </a:solidFill>
                <a:latin typeface="Calibri" pitchFamily="34" charset="0"/>
                <a:ea typeface="Calibri" pitchFamily="34" charset="-122"/>
                <a:cs typeface="Calibri" pitchFamily="34" charset="-120"/>
              </a:rPr>
              <a:t>DOUBLE DOWN when: repeatable after-cost OOS value across at least 2 regimes; improved throughput with controlled false-discovery rate; engine changes do not retroactively alter prior results.</a:t>
            </a:r>
            <a:endParaRPr lang="en-US" sz="1100" dirty="0"/>
          </a:p>
          <a:p>
            <a:pPr algn="l" marL="152400" indent="-152400">
              <a:spcAft>
                <a:spcPts val="1000"/>
              </a:spcAft>
              <a:buSzPct val="100000"/>
              <a:buChar char="•"/>
            </a:pPr>
            <a:r>
              <a:rPr lang="en-US" sz="1100" dirty="0">
                <a:solidFill>
                  <a:srgbClr val="1F2937"/>
                </a:solidFill>
                <a:latin typeface="Calibri" pitchFamily="34" charset="0"/>
                <a:ea typeface="Calibri" pitchFamily="34" charset="-122"/>
                <a:cs typeface="Calibri" pitchFamily="34" charset="-120"/>
              </a:rPr>
              <a:t>ABANDON / PIVOT when: no meaningful incremental value after the default cost stack; high false-discovery rate across the family; family survives only under one specification.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algn="l" indent="0" marL="0">
              <a:buNone/>
            </a:pPr>
            <a:r>
              <a:rPr lang="en-US" sz="2600" b="1" dirty="0">
                <a:solidFill>
                  <a:srgbClr val="1F2937"/>
                </a:solidFill>
                <a:latin typeface="Cambria" pitchFamily="34" charset="0"/>
                <a:ea typeface="Cambria" pitchFamily="34" charset="-122"/>
                <a:cs typeface="Cambria" pitchFamily="34" charset="-120"/>
              </a:rPr>
              <a:t>Roadmap Phases Summary</a:t>
            </a:r>
            <a:endParaRPr lang="en-US" sz="26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algn="l" indent="0" marL="0">
              <a:buNone/>
            </a:pPr>
            <a:r>
              <a:rPr lang="en-US" sz="1100" i="1" spc="200" kern="0" dirty="0">
                <a:solidFill>
                  <a:srgbClr val="6B7280"/>
                </a:solidFill>
                <a:latin typeface="Calibri" pitchFamily="34" charset="0"/>
                <a:ea typeface="Calibri" pitchFamily="34" charset="-122"/>
                <a:cs typeface="Calibri" pitchFamily="34" charset="-120"/>
              </a:rPr>
              <a:t>From charter to live-data paper; current build focus is Phases 1–5</a:t>
            </a:r>
            <a:endParaRPr lang="en-US" sz="1100" dirty="0"/>
          </a:p>
        </p:txBody>
      </p:sp>
      <p:sp>
        <p:nvSpPr>
          <p:cNvPr id="4" name="Shape 2"/>
          <p:cNvSpPr/>
          <p:nvPr/>
        </p:nvSpPr>
        <p:spPr>
          <a:xfrm>
            <a:off x="1005840" y="2606040"/>
            <a:ext cx="10149840" cy="0"/>
          </a:xfrm>
          <a:prstGeom prst="line">
            <a:avLst/>
          </a:prstGeom>
          <a:noFill/>
          <a:ln w="19050">
            <a:solidFill>
              <a:srgbClr val="1F2937"/>
            </a:solidFill>
            <a:prstDash val="solid"/>
          </a:ln>
        </p:spPr>
      </p:sp>
      <p:sp>
        <p:nvSpPr>
          <p:cNvPr id="5" name="Shape 3"/>
          <p:cNvSpPr/>
          <p:nvPr/>
        </p:nvSpPr>
        <p:spPr>
          <a:xfrm>
            <a:off x="713232" y="2313432"/>
            <a:ext cx="585216" cy="585216"/>
          </a:xfrm>
          <a:prstGeom prst="ellipse">
            <a:avLst/>
          </a:prstGeom>
          <a:solidFill>
            <a:srgbClr val="14B8A6"/>
          </a:solidFill>
          <a:ln w="19050">
            <a:solidFill>
              <a:srgbClr val="0F766E"/>
            </a:solidFill>
            <a:prstDash val="solid"/>
          </a:ln>
          <a:effectLst>
            <a:outerShdw sx="100000" sy="100000" kx="0" ky="0" algn="bl" rotWithShape="0" blurRad="127000" dist="38100" dir="5400000">
              <a:srgbClr val="000000">
                <a:alpha val="8000"/>
              </a:srgbClr>
            </a:outerShdw>
          </a:effectLst>
        </p:spPr>
      </p:sp>
      <p:sp>
        <p:nvSpPr>
          <p:cNvPr id="6" name="Text 4"/>
          <p:cNvSpPr/>
          <p:nvPr/>
        </p:nvSpPr>
        <p:spPr>
          <a:xfrm>
            <a:off x="713232" y="231343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91440" y="1463040"/>
            <a:ext cx="1828800" cy="777240"/>
          </a:xfrm>
          <a:prstGeom prst="rect">
            <a:avLst/>
          </a:prstGeom>
          <a:noFill/>
          <a:ln/>
        </p:spPr>
        <p:txBody>
          <a:bodyPr wrap="square" lIns="0" tIns="0" rIns="0" bIns="0" rtlCol="0" anchor="b"/>
          <a:lstStyle/>
          <a:p>
            <a:pPr algn="ctr" indent="0" marL="0">
              <a:buNone/>
            </a:pPr>
            <a:r>
              <a:rPr lang="en-US" sz="1150" b="1" dirty="0">
                <a:solidFill>
                  <a:srgbClr val="1F2937"/>
                </a:solidFill>
                <a:latin typeface="Cambria" pitchFamily="34" charset="0"/>
                <a:ea typeface="Cambria" pitchFamily="34" charset="-122"/>
                <a:cs typeface="Cambria" pitchFamily="34" charset="-120"/>
              </a:rPr>
              <a:t>Research Integrity &amp; Charter</a:t>
            </a:r>
            <a:endParaRPr lang="en-US" sz="1150" dirty="0"/>
          </a:p>
        </p:txBody>
      </p:sp>
      <p:sp>
        <p:nvSpPr>
          <p:cNvPr id="8" name="Text 6"/>
          <p:cNvSpPr/>
          <p:nvPr/>
        </p:nvSpPr>
        <p:spPr>
          <a:xfrm>
            <a:off x="91440" y="3108960"/>
            <a:ext cx="1828800" cy="128016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Charter signed; three seed hypotheses registered; gates A-K documented; paper-only policy bound.</a:t>
            </a:r>
            <a:endParaRPr lang="en-US" sz="1000" dirty="0"/>
          </a:p>
        </p:txBody>
      </p:sp>
      <p:sp>
        <p:nvSpPr>
          <p:cNvPr id="9" name="Shape 7"/>
          <p:cNvSpPr/>
          <p:nvPr/>
        </p:nvSpPr>
        <p:spPr>
          <a:xfrm>
            <a:off x="2743200" y="2313432"/>
            <a:ext cx="585216" cy="585216"/>
          </a:xfrm>
          <a:prstGeom prst="ellipse">
            <a:avLst/>
          </a:prstGeom>
          <a:solidFill>
            <a:srgbClr val="14B8A6"/>
          </a:solidFill>
          <a:ln w="19050">
            <a:solidFill>
              <a:srgbClr val="0F766E"/>
            </a:solidFill>
            <a:prstDash val="solid"/>
          </a:ln>
          <a:effectLst>
            <a:outerShdw sx="100000" sy="100000" kx="0" ky="0" algn="bl" rotWithShape="0" blurRad="127000" dist="38100" dir="5400000">
              <a:srgbClr val="000000">
                <a:alpha val="8000"/>
              </a:srgbClr>
            </a:outerShdw>
          </a:effectLst>
        </p:spPr>
      </p:sp>
      <p:sp>
        <p:nvSpPr>
          <p:cNvPr id="10" name="Text 8"/>
          <p:cNvSpPr/>
          <p:nvPr/>
        </p:nvSpPr>
        <p:spPr>
          <a:xfrm>
            <a:off x="2743200" y="231343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2121408" y="1463040"/>
            <a:ext cx="1828800" cy="777240"/>
          </a:xfrm>
          <a:prstGeom prst="rect">
            <a:avLst/>
          </a:prstGeom>
          <a:noFill/>
          <a:ln/>
        </p:spPr>
        <p:txBody>
          <a:bodyPr wrap="square" lIns="0" tIns="0" rIns="0" bIns="0" rtlCol="0" anchor="b"/>
          <a:lstStyle/>
          <a:p>
            <a:pPr algn="ctr" indent="0" marL="0">
              <a:buNone/>
            </a:pPr>
            <a:r>
              <a:rPr lang="en-US" sz="1150" b="1" dirty="0">
                <a:solidFill>
                  <a:srgbClr val="1F2937"/>
                </a:solidFill>
                <a:latin typeface="Cambria" pitchFamily="34" charset="0"/>
                <a:ea typeface="Cambria" pitchFamily="34" charset="-122"/>
                <a:cs typeface="Cambria" pitchFamily="34" charset="-120"/>
              </a:rPr>
              <a:t>Universe &amp; Data Architecture</a:t>
            </a:r>
            <a:endParaRPr lang="en-US" sz="1150" dirty="0"/>
          </a:p>
        </p:txBody>
      </p:sp>
      <p:sp>
        <p:nvSpPr>
          <p:cNvPr id="12" name="Text 10"/>
          <p:cNvSpPr/>
          <p:nvPr/>
        </p:nvSpPr>
        <p:spPr>
          <a:xfrm>
            <a:off x="2121408" y="3108960"/>
            <a:ext cx="1828800" cy="128016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Instrument Master, SymbolHistory, DatasetSnapshot, Universe Engine; deterministic reconstruction for any historical date.</a:t>
            </a:r>
            <a:endParaRPr lang="en-US" sz="1000" dirty="0"/>
          </a:p>
        </p:txBody>
      </p:sp>
      <p:sp>
        <p:nvSpPr>
          <p:cNvPr id="13" name="Shape 11"/>
          <p:cNvSpPr/>
          <p:nvPr/>
        </p:nvSpPr>
        <p:spPr>
          <a:xfrm>
            <a:off x="4773168" y="2313432"/>
            <a:ext cx="585216" cy="585216"/>
          </a:xfrm>
          <a:prstGeom prst="ellipse">
            <a:avLst/>
          </a:prstGeom>
          <a:solidFill>
            <a:srgbClr val="14B8A6"/>
          </a:solidFill>
          <a:ln w="19050">
            <a:solidFill>
              <a:srgbClr val="0F766E"/>
            </a:solidFill>
            <a:prstDash val="solid"/>
          </a:ln>
          <a:effectLst>
            <a:outerShdw sx="100000" sy="100000" kx="0" ky="0" algn="bl" rotWithShape="0" blurRad="127000" dist="38100" dir="5400000">
              <a:srgbClr val="000000">
                <a:alpha val="8000"/>
              </a:srgbClr>
            </a:outerShdw>
          </a:effectLst>
        </p:spPr>
      </p:sp>
      <p:sp>
        <p:nvSpPr>
          <p:cNvPr id="14" name="Text 12"/>
          <p:cNvSpPr/>
          <p:nvPr/>
        </p:nvSpPr>
        <p:spPr>
          <a:xfrm>
            <a:off x="4773168" y="231343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4151376" y="1463040"/>
            <a:ext cx="1828800" cy="777240"/>
          </a:xfrm>
          <a:prstGeom prst="rect">
            <a:avLst/>
          </a:prstGeom>
          <a:noFill/>
          <a:ln/>
        </p:spPr>
        <p:txBody>
          <a:bodyPr wrap="square" lIns="0" tIns="0" rIns="0" bIns="0" rtlCol="0" anchor="b"/>
          <a:lstStyle/>
          <a:p>
            <a:pPr algn="ctr" indent="0" marL="0">
              <a:buNone/>
            </a:pPr>
            <a:r>
              <a:rPr lang="en-US" sz="1150" b="1" dirty="0">
                <a:solidFill>
                  <a:srgbClr val="1F2937"/>
                </a:solidFill>
                <a:latin typeface="Cambria" pitchFamily="34" charset="0"/>
                <a:ea typeface="Cambria" pitchFamily="34" charset="-122"/>
                <a:cs typeface="Cambria" pitchFamily="34" charset="-120"/>
              </a:rPr>
              <a:t>Raw Historical Data Ingestion</a:t>
            </a:r>
            <a:endParaRPr lang="en-US" sz="1150" dirty="0"/>
          </a:p>
        </p:txBody>
      </p:sp>
      <p:sp>
        <p:nvSpPr>
          <p:cNvPr id="16" name="Text 14"/>
          <p:cNvSpPr/>
          <p:nvPr/>
        </p:nvSpPr>
        <p:spPr>
          <a:xfrm>
            <a:off x="4151376" y="3108960"/>
            <a:ext cx="1828800" cy="128016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Licensed OHLCV + corporate actions, SEC EDGAR / XBRL fundamentals, FRED / ALFRED macro vintages; immutable checksummed snapshots.</a:t>
            </a:r>
            <a:endParaRPr lang="en-US" sz="1000" dirty="0"/>
          </a:p>
        </p:txBody>
      </p:sp>
      <p:sp>
        <p:nvSpPr>
          <p:cNvPr id="17" name="Shape 15"/>
          <p:cNvSpPr/>
          <p:nvPr/>
        </p:nvSpPr>
        <p:spPr>
          <a:xfrm>
            <a:off x="6803136" y="2313432"/>
            <a:ext cx="585216" cy="585216"/>
          </a:xfrm>
          <a:prstGeom prst="ellipse">
            <a:avLst/>
          </a:prstGeom>
          <a:solidFill>
            <a:srgbClr val="14B8A6"/>
          </a:solidFill>
          <a:ln w="19050">
            <a:solidFill>
              <a:srgbClr val="0F766E"/>
            </a:solidFill>
            <a:prstDash val="solid"/>
          </a:ln>
          <a:effectLst>
            <a:outerShdw sx="100000" sy="100000" kx="0" ky="0" algn="bl" rotWithShape="0" blurRad="127000" dist="38100" dir="5400000">
              <a:srgbClr val="000000">
                <a:alpha val="8000"/>
              </a:srgbClr>
            </a:outerShdw>
          </a:effectLst>
        </p:spPr>
      </p:sp>
      <p:sp>
        <p:nvSpPr>
          <p:cNvPr id="18" name="Text 16"/>
          <p:cNvSpPr/>
          <p:nvPr/>
        </p:nvSpPr>
        <p:spPr>
          <a:xfrm>
            <a:off x="6803136" y="231343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6181344" y="1463040"/>
            <a:ext cx="1828800" cy="777240"/>
          </a:xfrm>
          <a:prstGeom prst="rect">
            <a:avLst/>
          </a:prstGeom>
          <a:noFill/>
          <a:ln/>
        </p:spPr>
        <p:txBody>
          <a:bodyPr wrap="square" lIns="0" tIns="0" rIns="0" bIns="0" rtlCol="0" anchor="b"/>
          <a:lstStyle/>
          <a:p>
            <a:pPr algn="ctr" indent="0" marL="0">
              <a:buNone/>
            </a:pPr>
            <a:r>
              <a:rPr lang="en-US" sz="1150" b="1" dirty="0">
                <a:solidFill>
                  <a:srgbClr val="1F2937"/>
                </a:solidFill>
                <a:latin typeface="Cambria" pitchFamily="34" charset="0"/>
                <a:ea typeface="Cambria" pitchFamily="34" charset="-122"/>
                <a:cs typeface="Cambria" pitchFamily="34" charset="-120"/>
              </a:rPr>
              <a:t>Point-in-Time &amp; Temporal Truth Engine</a:t>
            </a:r>
            <a:endParaRPr lang="en-US" sz="1150" dirty="0"/>
          </a:p>
        </p:txBody>
      </p:sp>
      <p:sp>
        <p:nvSpPr>
          <p:cNvPr id="20" name="Text 18"/>
          <p:cNvSpPr/>
          <p:nvPr/>
        </p:nvSpPr>
        <p:spPr>
          <a:xfrm>
            <a:off x="6181344" y="3108960"/>
            <a:ext cx="1828800" cy="128016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allowed(x, t)  &lt;=&gt;  publication_time(x) &lt; t enforced at the API boundary; exact ties rejected.</a:t>
            </a:r>
            <a:endParaRPr lang="en-US" sz="1000" dirty="0"/>
          </a:p>
        </p:txBody>
      </p:sp>
      <p:sp>
        <p:nvSpPr>
          <p:cNvPr id="21" name="Shape 19"/>
          <p:cNvSpPr/>
          <p:nvPr/>
        </p:nvSpPr>
        <p:spPr>
          <a:xfrm>
            <a:off x="8833104" y="2313432"/>
            <a:ext cx="585216" cy="585216"/>
          </a:xfrm>
          <a:prstGeom prst="ellipse">
            <a:avLst/>
          </a:prstGeom>
          <a:solidFill>
            <a:srgbClr val="14B8A6"/>
          </a:solidFill>
          <a:ln w="19050">
            <a:solidFill>
              <a:srgbClr val="0F766E"/>
            </a:solidFill>
            <a:prstDash val="solid"/>
          </a:ln>
          <a:effectLst>
            <a:outerShdw sx="100000" sy="100000" kx="0" ky="0" algn="bl" rotWithShape="0" blurRad="127000" dist="38100" dir="5400000">
              <a:srgbClr val="000000">
                <a:alpha val="8000"/>
              </a:srgbClr>
            </a:outerShdw>
          </a:effectLst>
        </p:spPr>
      </p:sp>
      <p:sp>
        <p:nvSpPr>
          <p:cNvPr id="22" name="Text 20"/>
          <p:cNvSpPr/>
          <p:nvPr/>
        </p:nvSpPr>
        <p:spPr>
          <a:xfrm>
            <a:off x="8833104" y="231343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1"/>
          <p:cNvSpPr/>
          <p:nvPr/>
        </p:nvSpPr>
        <p:spPr>
          <a:xfrm>
            <a:off x="8211312" y="1463040"/>
            <a:ext cx="1828800" cy="777240"/>
          </a:xfrm>
          <a:prstGeom prst="rect">
            <a:avLst/>
          </a:prstGeom>
          <a:noFill/>
          <a:ln/>
        </p:spPr>
        <p:txBody>
          <a:bodyPr wrap="square" lIns="0" tIns="0" rIns="0" bIns="0" rtlCol="0" anchor="b"/>
          <a:lstStyle/>
          <a:p>
            <a:pPr algn="ctr" indent="0" marL="0">
              <a:buNone/>
            </a:pPr>
            <a:r>
              <a:rPr lang="en-US" sz="1150" b="1" dirty="0">
                <a:solidFill>
                  <a:srgbClr val="1F2937"/>
                </a:solidFill>
                <a:latin typeface="Cambria" pitchFamily="34" charset="0"/>
                <a:ea typeface="Cambria" pitchFamily="34" charset="-122"/>
                <a:cs typeface="Cambria" pitchFamily="34" charset="-120"/>
              </a:rPr>
              <a:t>Labeling &amp; Outcome Engine</a:t>
            </a:r>
            <a:endParaRPr lang="en-US" sz="1150" dirty="0"/>
          </a:p>
        </p:txBody>
      </p:sp>
      <p:sp>
        <p:nvSpPr>
          <p:cNvPr id="24" name="Text 22"/>
          <p:cNvSpPr/>
          <p:nvPr/>
        </p:nvSpPr>
        <p:spPr>
          <a:xfrm>
            <a:off x="8211312" y="3108960"/>
            <a:ext cx="1828800" cy="128016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Immutable, versioned LabelContracts; forward_return / excess_return / volatility / drawdown; horizons 1, 5, 21, 63 sessions.</a:t>
            </a:r>
            <a:endParaRPr lang="en-US" sz="1000" dirty="0"/>
          </a:p>
        </p:txBody>
      </p:sp>
      <p:sp>
        <p:nvSpPr>
          <p:cNvPr id="25" name="Shape 23"/>
          <p:cNvSpPr/>
          <p:nvPr/>
        </p:nvSpPr>
        <p:spPr>
          <a:xfrm>
            <a:off x="10863072" y="2313432"/>
            <a:ext cx="585216" cy="585216"/>
          </a:xfrm>
          <a:prstGeom prst="ellipse">
            <a:avLst/>
          </a:prstGeom>
          <a:solidFill>
            <a:srgbClr val="14B8A6"/>
          </a:solidFill>
          <a:ln w="19050">
            <a:solidFill>
              <a:srgbClr val="0F766E"/>
            </a:solidFill>
            <a:prstDash val="solid"/>
          </a:ln>
          <a:effectLst>
            <a:outerShdw sx="100000" sy="100000" kx="0" ky="0" algn="bl" rotWithShape="0" blurRad="127000" dist="38100" dir="5400000">
              <a:srgbClr val="000000">
                <a:alpha val="8000"/>
              </a:srgbClr>
            </a:outerShdw>
          </a:effectLst>
        </p:spPr>
      </p:sp>
      <p:sp>
        <p:nvSpPr>
          <p:cNvPr id="26" name="Text 24"/>
          <p:cNvSpPr/>
          <p:nvPr/>
        </p:nvSpPr>
        <p:spPr>
          <a:xfrm>
            <a:off x="10863072" y="231343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7" name="Text 25"/>
          <p:cNvSpPr/>
          <p:nvPr/>
        </p:nvSpPr>
        <p:spPr>
          <a:xfrm>
            <a:off x="10241280" y="1463040"/>
            <a:ext cx="1828800" cy="777240"/>
          </a:xfrm>
          <a:prstGeom prst="rect">
            <a:avLst/>
          </a:prstGeom>
          <a:noFill/>
          <a:ln/>
        </p:spPr>
        <p:txBody>
          <a:bodyPr wrap="square" lIns="0" tIns="0" rIns="0" bIns="0" rtlCol="0" anchor="b"/>
          <a:lstStyle/>
          <a:p>
            <a:pPr algn="ctr" indent="0" marL="0">
              <a:buNone/>
            </a:pPr>
            <a:r>
              <a:rPr lang="en-US" sz="1150" b="1" dirty="0">
                <a:solidFill>
                  <a:srgbClr val="1F2937"/>
                </a:solidFill>
                <a:latin typeface="Cambria" pitchFamily="34" charset="0"/>
                <a:ea typeface="Cambria" pitchFamily="34" charset="-122"/>
                <a:cs typeface="Cambria" pitchFamily="34" charset="-120"/>
              </a:rPr>
              <a:t>Evaluation, Promotion, Live Trading</a:t>
            </a:r>
            <a:endParaRPr lang="en-US" sz="1150" dirty="0"/>
          </a:p>
        </p:txBody>
      </p:sp>
      <p:sp>
        <p:nvSpPr>
          <p:cNvPr id="28" name="Text 26"/>
          <p:cNvSpPr/>
          <p:nvPr/>
        </p:nvSpPr>
        <p:spPr>
          <a:xfrm>
            <a:off x="10241280" y="3108960"/>
            <a:ext cx="1828800" cy="128016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Walk-forward OOS, gates A-K traversal; candidate, validated, paper, live-data paper.</a:t>
            </a:r>
            <a:endParaRPr lang="en-US" sz="1000" dirty="0"/>
          </a:p>
        </p:txBody>
      </p:sp>
      <p:sp>
        <p:nvSpPr>
          <p:cNvPr id="29" name="Shape 27"/>
          <p:cNvSpPr/>
          <p:nvPr/>
        </p:nvSpPr>
        <p:spPr>
          <a:xfrm>
            <a:off x="548640" y="4572000"/>
            <a:ext cx="0" cy="228600"/>
          </a:xfrm>
          <a:prstGeom prst="line">
            <a:avLst/>
          </a:prstGeom>
          <a:noFill/>
          <a:ln w="19050">
            <a:solidFill>
              <a:srgbClr val="0F766E"/>
            </a:solidFill>
            <a:prstDash val="solid"/>
          </a:ln>
        </p:spPr>
      </p:sp>
      <p:sp>
        <p:nvSpPr>
          <p:cNvPr id="30" name="Shape 28"/>
          <p:cNvSpPr/>
          <p:nvPr/>
        </p:nvSpPr>
        <p:spPr>
          <a:xfrm>
            <a:off x="9582912" y="4572000"/>
            <a:ext cx="0" cy="228600"/>
          </a:xfrm>
          <a:prstGeom prst="line">
            <a:avLst/>
          </a:prstGeom>
          <a:noFill/>
          <a:ln w="19050">
            <a:solidFill>
              <a:srgbClr val="0F766E"/>
            </a:solidFill>
            <a:prstDash val="solid"/>
          </a:ln>
        </p:spPr>
      </p:sp>
      <p:sp>
        <p:nvSpPr>
          <p:cNvPr id="31" name="Shape 29"/>
          <p:cNvSpPr/>
          <p:nvPr/>
        </p:nvSpPr>
        <p:spPr>
          <a:xfrm>
            <a:off x="548640" y="4800600"/>
            <a:ext cx="9034272" cy="0"/>
          </a:xfrm>
          <a:prstGeom prst="line">
            <a:avLst/>
          </a:prstGeom>
          <a:noFill/>
          <a:ln w="19050">
            <a:solidFill>
              <a:srgbClr val="0F766E"/>
            </a:solidFill>
            <a:prstDash val="solid"/>
          </a:ln>
        </p:spPr>
      </p:sp>
      <p:sp>
        <p:nvSpPr>
          <p:cNvPr id="32" name="Text 30"/>
          <p:cNvSpPr/>
          <p:nvPr/>
        </p:nvSpPr>
        <p:spPr>
          <a:xfrm>
            <a:off x="3694176" y="4892040"/>
            <a:ext cx="2743200" cy="274320"/>
          </a:xfrm>
          <a:prstGeom prst="rect">
            <a:avLst/>
          </a:prstGeom>
          <a:noFill/>
          <a:ln/>
        </p:spPr>
        <p:txBody>
          <a:bodyPr wrap="square" lIns="0" tIns="0" rIns="0" bIns="0" rtlCol="0" anchor="ctr"/>
          <a:lstStyle/>
          <a:p>
            <a:pPr algn="ctr" indent="0" marL="0">
              <a:buNone/>
            </a:pPr>
            <a:r>
              <a:rPr lang="en-US" sz="1050" b="1" spc="200" kern="0" dirty="0">
                <a:solidFill>
                  <a:srgbClr val="0F766E"/>
                </a:solidFill>
                <a:latin typeface="Calibri" pitchFamily="34" charset="0"/>
                <a:ea typeface="Calibri" pitchFamily="34" charset="-122"/>
                <a:cs typeface="Calibri" pitchFamily="34" charset="-120"/>
              </a:rPr>
              <a:t>CURRENT BUILD FOCUS — Phases 1–5</a:t>
            </a:r>
            <a:endParaRPr lang="en-US" sz="1050" dirty="0"/>
          </a:p>
        </p:txBody>
      </p:sp>
      <p:sp>
        <p:nvSpPr>
          <p:cNvPr id="33" name="Text 31"/>
          <p:cNvSpPr/>
          <p:nvPr/>
        </p:nvSpPr>
        <p:spPr>
          <a:xfrm>
            <a:off x="457200" y="6355080"/>
            <a:ext cx="11247120" cy="27432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Phases 6+ inherit the engine, the registry, and the evidence chain built here.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F24"/>
        </a:solidFill>
      </p:bgPr>
    </p:bg>
    <p:spTree>
      <p:nvGrpSpPr>
        <p:cNvPr id="1" name=""/>
        <p:cNvGrpSpPr/>
        <p:nvPr/>
      </p:nvGrpSpPr>
      <p:grpSpPr>
        <a:xfrm>
          <a:off x="0" y="0"/>
          <a:ext cx="0" cy="0"/>
          <a:chOff x="0" y="0"/>
          <a:chExt cx="0" cy="0"/>
        </a:xfrm>
      </p:grpSpPr>
      <p:sp>
        <p:nvSpPr>
          <p:cNvPr id="2" name="Shape 0"/>
          <p:cNvSpPr/>
          <p:nvPr/>
        </p:nvSpPr>
        <p:spPr>
          <a:xfrm>
            <a:off x="3337560" y="1097280"/>
            <a:ext cx="5486400" cy="4937760"/>
          </a:xfrm>
          <a:prstGeom prst="ellipse">
            <a:avLst/>
          </a:prstGeom>
          <a:ln w="9525">
            <a:solidFill>
              <a:srgbClr val="14B8A6">
                <a:alpha val="35000"/>
              </a:srgbClr>
            </a:solidFill>
            <a:prstDash val="solid"/>
          </a:ln>
        </p:spPr>
      </p:sp>
      <p:sp>
        <p:nvSpPr>
          <p:cNvPr id="3" name="Shape 1"/>
          <p:cNvSpPr/>
          <p:nvPr/>
        </p:nvSpPr>
        <p:spPr>
          <a:xfrm>
            <a:off x="4251960" y="2011680"/>
            <a:ext cx="3657600" cy="3108960"/>
          </a:xfrm>
          <a:prstGeom prst="ellipse">
            <a:avLst/>
          </a:prstGeom>
          <a:ln w="6350">
            <a:solidFill>
              <a:srgbClr val="5EEAD4">
                <a:alpha val="25000"/>
              </a:srgbClr>
            </a:solidFill>
            <a:prstDash val="solid"/>
          </a:ln>
        </p:spPr>
      </p:sp>
      <p:sp>
        <p:nvSpPr>
          <p:cNvPr id="4" name="Text 2"/>
          <p:cNvSpPr/>
          <p:nvPr/>
        </p:nvSpPr>
        <p:spPr>
          <a:xfrm>
            <a:off x="457200" y="1554480"/>
            <a:ext cx="11247120" cy="640080"/>
          </a:xfrm>
          <a:prstGeom prst="rect">
            <a:avLst/>
          </a:prstGeom>
          <a:noFill/>
          <a:ln/>
        </p:spPr>
        <p:txBody>
          <a:bodyPr wrap="square" lIns="0" tIns="0" rIns="0" bIns="0" rtlCol="0" anchor="ctr"/>
          <a:lstStyle/>
          <a:p>
            <a:pPr algn="ctr" indent="0" marL="0">
              <a:buNone/>
            </a:pPr>
            <a:r>
              <a:rPr lang="en-US" sz="2400" i="1" dirty="0">
                <a:solidFill>
                  <a:srgbClr val="F2F2F2"/>
                </a:solidFill>
                <a:latin typeface="Cambria" pitchFamily="34" charset="0"/>
                <a:ea typeface="Cambria" pitchFamily="34" charset="-122"/>
                <a:cs typeface="Cambria" pitchFamily="34" charset="-120"/>
              </a:rPr>
              <a:t>ORBIT is a scientific instrument whose byproduct happens to be tradeable exposure —</a:t>
            </a:r>
            <a:endParaRPr lang="en-US" sz="2400" dirty="0"/>
          </a:p>
        </p:txBody>
      </p:sp>
      <p:sp>
        <p:nvSpPr>
          <p:cNvPr id="5" name="Text 3"/>
          <p:cNvSpPr/>
          <p:nvPr/>
        </p:nvSpPr>
        <p:spPr>
          <a:xfrm>
            <a:off x="457200" y="2194560"/>
            <a:ext cx="11247120" cy="640080"/>
          </a:xfrm>
          <a:prstGeom prst="rect">
            <a:avLst/>
          </a:prstGeom>
          <a:noFill/>
          <a:ln/>
        </p:spPr>
        <p:txBody>
          <a:bodyPr wrap="square" lIns="0" tIns="0" rIns="0" bIns="0" rtlCol="0" anchor="ctr"/>
          <a:lstStyle/>
          <a:p>
            <a:pPr algn="ctr" indent="0" marL="0">
              <a:buNone/>
            </a:pPr>
            <a:r>
              <a:rPr lang="en-US" sz="2400" b="1" i="1" dirty="0">
                <a:solidFill>
                  <a:srgbClr val="5EEAD4"/>
                </a:solidFill>
                <a:latin typeface="Cambria" pitchFamily="34" charset="0"/>
                <a:ea typeface="Cambria" pitchFamily="34" charset="-122"/>
                <a:cs typeface="Cambria" pitchFamily="34" charset="-120"/>
              </a:rPr>
              <a:t>not the other way around.</a:t>
            </a:r>
            <a:endParaRPr lang="en-US" sz="2400" dirty="0"/>
          </a:p>
        </p:txBody>
      </p:sp>
      <p:sp>
        <p:nvSpPr>
          <p:cNvPr id="6" name="Shape 4"/>
          <p:cNvSpPr/>
          <p:nvPr/>
        </p:nvSpPr>
        <p:spPr>
          <a:xfrm>
            <a:off x="457200" y="3200400"/>
            <a:ext cx="3566160" cy="2286000"/>
          </a:xfrm>
          <a:prstGeom prst="roundRect">
            <a:avLst>
              <a:gd name="adj" fmla="val 3200"/>
            </a:avLst>
          </a:prstGeom>
          <a:solidFill>
            <a:srgbClr val="0F1419"/>
          </a:solidFill>
          <a:ln w="9525">
            <a:solidFill>
              <a:srgbClr val="0F766E"/>
            </a:solidFill>
            <a:prstDash val="solid"/>
          </a:ln>
        </p:spPr>
      </p:sp>
      <p:sp>
        <p:nvSpPr>
          <p:cNvPr id="7" name="Text 5"/>
          <p:cNvSpPr/>
          <p:nvPr/>
        </p:nvSpPr>
        <p:spPr>
          <a:xfrm>
            <a:off x="685800" y="3429000"/>
            <a:ext cx="3108960" cy="365760"/>
          </a:xfrm>
          <a:prstGeom prst="rect">
            <a:avLst/>
          </a:prstGeom>
          <a:noFill/>
          <a:ln/>
        </p:spPr>
        <p:txBody>
          <a:bodyPr wrap="square" lIns="0" tIns="0" rIns="0" bIns="0" rtlCol="0" anchor="ctr"/>
          <a:lstStyle/>
          <a:p>
            <a:pPr algn="l" indent="0" marL="0">
              <a:buNone/>
            </a:pPr>
            <a:r>
              <a:rPr lang="en-US" sz="1200" b="1" spc="300" kern="0" dirty="0">
                <a:solidFill>
                  <a:srgbClr val="5EEAD4"/>
                </a:solidFill>
                <a:latin typeface="Calibri" pitchFamily="34" charset="0"/>
                <a:ea typeface="Calibri" pitchFamily="34" charset="-122"/>
                <a:cs typeface="Calibri" pitchFamily="34" charset="-120"/>
              </a:rPr>
              <a:t>REPRODUCIBILITY</a:t>
            </a:r>
            <a:endParaRPr lang="en-US" sz="1200" dirty="0"/>
          </a:p>
        </p:txBody>
      </p:sp>
      <p:sp>
        <p:nvSpPr>
          <p:cNvPr id="8" name="Shape 6"/>
          <p:cNvSpPr/>
          <p:nvPr/>
        </p:nvSpPr>
        <p:spPr>
          <a:xfrm>
            <a:off x="685800" y="3840480"/>
            <a:ext cx="3108960" cy="0"/>
          </a:xfrm>
          <a:prstGeom prst="line">
            <a:avLst/>
          </a:prstGeom>
          <a:noFill/>
          <a:ln w="6350">
            <a:solidFill>
              <a:srgbClr val="0F766E">
                <a:alpha val="40000"/>
              </a:srgbClr>
            </a:solidFill>
            <a:prstDash val="solid"/>
          </a:ln>
        </p:spPr>
      </p:sp>
      <p:sp>
        <p:nvSpPr>
          <p:cNvPr id="9" name="Text 7"/>
          <p:cNvSpPr/>
          <p:nvPr/>
        </p:nvSpPr>
        <p:spPr>
          <a:xfrm>
            <a:off x="685800" y="3977640"/>
            <a:ext cx="3108960" cy="1371600"/>
          </a:xfrm>
          <a:prstGeom prst="rect">
            <a:avLst/>
          </a:prstGeom>
          <a:noFill/>
          <a:ln/>
        </p:spPr>
        <p:txBody>
          <a:bodyPr wrap="square" lIns="0" tIns="0" rIns="0" bIns="0" rtlCol="0" anchor="t"/>
          <a:lstStyle/>
          <a:p>
            <a:pPr algn="l" indent="0" marL="0">
              <a:buNone/>
            </a:pPr>
            <a:r>
              <a:rPr lang="en-US" sz="1200" dirty="0">
                <a:solidFill>
                  <a:srgbClr val="F2F2F2"/>
                </a:solidFill>
                <a:latin typeface="Calibri" pitchFamily="34" charset="0"/>
                <a:ea typeface="Calibri" pitchFamily="34" charset="-122"/>
                <a:cs typeface="Calibri" pitchFamily="34" charset="-120"/>
              </a:rPr>
              <a:t>Every result is re-runnable years later, byte-for-byte, from the same registered specification.</a:t>
            </a:r>
            <a:endParaRPr lang="en-US" sz="1200" dirty="0"/>
          </a:p>
        </p:txBody>
      </p:sp>
      <p:sp>
        <p:nvSpPr>
          <p:cNvPr id="10" name="Shape 8"/>
          <p:cNvSpPr/>
          <p:nvPr/>
        </p:nvSpPr>
        <p:spPr>
          <a:xfrm>
            <a:off x="4297680" y="3200400"/>
            <a:ext cx="3566160" cy="2286000"/>
          </a:xfrm>
          <a:prstGeom prst="roundRect">
            <a:avLst>
              <a:gd name="adj" fmla="val 3200"/>
            </a:avLst>
          </a:prstGeom>
          <a:solidFill>
            <a:srgbClr val="0F1419"/>
          </a:solidFill>
          <a:ln w="9525">
            <a:solidFill>
              <a:srgbClr val="0F766E"/>
            </a:solidFill>
            <a:prstDash val="solid"/>
          </a:ln>
        </p:spPr>
      </p:sp>
      <p:sp>
        <p:nvSpPr>
          <p:cNvPr id="11" name="Text 9"/>
          <p:cNvSpPr/>
          <p:nvPr/>
        </p:nvSpPr>
        <p:spPr>
          <a:xfrm>
            <a:off x="4526280" y="3429000"/>
            <a:ext cx="3108960" cy="365760"/>
          </a:xfrm>
          <a:prstGeom prst="rect">
            <a:avLst/>
          </a:prstGeom>
          <a:noFill/>
          <a:ln/>
        </p:spPr>
        <p:txBody>
          <a:bodyPr wrap="square" lIns="0" tIns="0" rIns="0" bIns="0" rtlCol="0" anchor="ctr"/>
          <a:lstStyle/>
          <a:p>
            <a:pPr algn="l" indent="0" marL="0">
              <a:buNone/>
            </a:pPr>
            <a:r>
              <a:rPr lang="en-US" sz="1200" b="1" spc="300" kern="0" dirty="0">
                <a:solidFill>
                  <a:srgbClr val="5EEAD4"/>
                </a:solidFill>
                <a:latin typeface="Calibri" pitchFamily="34" charset="0"/>
                <a:ea typeface="Calibri" pitchFamily="34" charset="-122"/>
                <a:cs typeface="Calibri" pitchFamily="34" charset="-120"/>
              </a:rPr>
              <a:t>TEMPORAL HONESTY</a:t>
            </a:r>
            <a:endParaRPr lang="en-US" sz="1200" dirty="0"/>
          </a:p>
        </p:txBody>
      </p:sp>
      <p:sp>
        <p:nvSpPr>
          <p:cNvPr id="12" name="Shape 10"/>
          <p:cNvSpPr/>
          <p:nvPr/>
        </p:nvSpPr>
        <p:spPr>
          <a:xfrm>
            <a:off x="4526280" y="3840480"/>
            <a:ext cx="3108960" cy="0"/>
          </a:xfrm>
          <a:prstGeom prst="line">
            <a:avLst/>
          </a:prstGeom>
          <a:noFill/>
          <a:ln w="6350">
            <a:solidFill>
              <a:srgbClr val="0F766E">
                <a:alpha val="40000"/>
              </a:srgbClr>
            </a:solidFill>
            <a:prstDash val="solid"/>
          </a:ln>
        </p:spPr>
      </p:sp>
      <p:sp>
        <p:nvSpPr>
          <p:cNvPr id="13" name="Text 11"/>
          <p:cNvSpPr/>
          <p:nvPr/>
        </p:nvSpPr>
        <p:spPr>
          <a:xfrm>
            <a:off x="4526280" y="3977640"/>
            <a:ext cx="3108960" cy="1371600"/>
          </a:xfrm>
          <a:prstGeom prst="rect">
            <a:avLst/>
          </a:prstGeom>
          <a:noFill/>
          <a:ln/>
        </p:spPr>
        <p:txBody>
          <a:bodyPr wrap="square" lIns="0" tIns="0" rIns="0" bIns="0" rtlCol="0" anchor="t"/>
          <a:lstStyle/>
          <a:p>
            <a:pPr algn="l" indent="0" marL="0">
              <a:buNone/>
            </a:pPr>
            <a:r>
              <a:rPr lang="en-US" sz="1200" dirty="0">
                <a:solidFill>
                  <a:srgbClr val="F2F2F2"/>
                </a:solidFill>
                <a:latin typeface="Calibri" pitchFamily="34" charset="0"/>
                <a:ea typeface="Calibri" pitchFamily="34" charset="-122"/>
                <a:cs typeface="Calibri" pitchFamily="34" charset="-120"/>
              </a:rPr>
              <a:t>No measurement may read information that would not have been available at the decision instant.</a:t>
            </a:r>
            <a:endParaRPr lang="en-US" sz="1200" dirty="0"/>
          </a:p>
        </p:txBody>
      </p:sp>
      <p:sp>
        <p:nvSpPr>
          <p:cNvPr id="14" name="Shape 12"/>
          <p:cNvSpPr/>
          <p:nvPr/>
        </p:nvSpPr>
        <p:spPr>
          <a:xfrm>
            <a:off x="8138160" y="3200400"/>
            <a:ext cx="3566160" cy="2286000"/>
          </a:xfrm>
          <a:prstGeom prst="roundRect">
            <a:avLst>
              <a:gd name="adj" fmla="val 3200"/>
            </a:avLst>
          </a:prstGeom>
          <a:solidFill>
            <a:srgbClr val="0F1419"/>
          </a:solidFill>
          <a:ln w="9525">
            <a:solidFill>
              <a:srgbClr val="0F766E"/>
            </a:solidFill>
            <a:prstDash val="solid"/>
          </a:ln>
        </p:spPr>
      </p:sp>
      <p:sp>
        <p:nvSpPr>
          <p:cNvPr id="15" name="Text 13"/>
          <p:cNvSpPr/>
          <p:nvPr/>
        </p:nvSpPr>
        <p:spPr>
          <a:xfrm>
            <a:off x="8366760" y="3429000"/>
            <a:ext cx="3108960" cy="365760"/>
          </a:xfrm>
          <a:prstGeom prst="rect">
            <a:avLst/>
          </a:prstGeom>
          <a:noFill/>
          <a:ln/>
        </p:spPr>
        <p:txBody>
          <a:bodyPr wrap="square" lIns="0" tIns="0" rIns="0" bIns="0" rtlCol="0" anchor="ctr"/>
          <a:lstStyle/>
          <a:p>
            <a:pPr algn="l" indent="0" marL="0">
              <a:buNone/>
            </a:pPr>
            <a:r>
              <a:rPr lang="en-US" sz="1200" b="1" spc="300" kern="0" dirty="0">
                <a:solidFill>
                  <a:srgbClr val="5EEAD4"/>
                </a:solidFill>
                <a:latin typeface="Calibri" pitchFamily="34" charset="0"/>
                <a:ea typeface="Calibri" pitchFamily="34" charset="-122"/>
                <a:cs typeface="Calibri" pitchFamily="34" charset="-120"/>
              </a:rPr>
              <a:t>RIGOROUS FALSIFICATION</a:t>
            </a:r>
            <a:endParaRPr lang="en-US" sz="1200" dirty="0"/>
          </a:p>
        </p:txBody>
      </p:sp>
      <p:sp>
        <p:nvSpPr>
          <p:cNvPr id="16" name="Shape 14"/>
          <p:cNvSpPr/>
          <p:nvPr/>
        </p:nvSpPr>
        <p:spPr>
          <a:xfrm>
            <a:off x="8366760" y="3840480"/>
            <a:ext cx="3108960" cy="0"/>
          </a:xfrm>
          <a:prstGeom prst="line">
            <a:avLst/>
          </a:prstGeom>
          <a:noFill/>
          <a:ln w="6350">
            <a:solidFill>
              <a:srgbClr val="0F766E">
                <a:alpha val="40000"/>
              </a:srgbClr>
            </a:solidFill>
            <a:prstDash val="solid"/>
          </a:ln>
        </p:spPr>
      </p:sp>
      <p:sp>
        <p:nvSpPr>
          <p:cNvPr id="17" name="Text 15"/>
          <p:cNvSpPr/>
          <p:nvPr/>
        </p:nvSpPr>
        <p:spPr>
          <a:xfrm>
            <a:off x="8366760" y="3977640"/>
            <a:ext cx="3108960" cy="1371600"/>
          </a:xfrm>
          <a:prstGeom prst="rect">
            <a:avLst/>
          </a:prstGeom>
          <a:noFill/>
          <a:ln/>
        </p:spPr>
        <p:txBody>
          <a:bodyPr wrap="square" lIns="0" tIns="0" rIns="0" bIns="0" rtlCol="0" anchor="t"/>
          <a:lstStyle/>
          <a:p>
            <a:pPr algn="l" indent="0" marL="0">
              <a:buNone/>
            </a:pPr>
            <a:r>
              <a:rPr lang="en-US" sz="1200" dirty="0">
                <a:solidFill>
                  <a:srgbClr val="F2F2F2"/>
                </a:solidFill>
                <a:latin typeface="Calibri" pitchFamily="34" charset="0"/>
                <a:ea typeface="Calibri" pitchFamily="34" charset="-122"/>
                <a:cs typeface="Calibri" pitchFamily="34" charset="-120"/>
              </a:rPr>
              <a:t>Promising results are not promoted; they are first subjected to adversarial failure tests.</a:t>
            </a:r>
            <a:endParaRPr lang="en-US" sz="1200" dirty="0"/>
          </a:p>
        </p:txBody>
      </p:sp>
      <p:sp>
        <p:nvSpPr>
          <p:cNvPr id="18" name="Text 16"/>
          <p:cNvSpPr/>
          <p:nvPr/>
        </p:nvSpPr>
        <p:spPr>
          <a:xfrm>
            <a:off x="457200" y="5806440"/>
            <a:ext cx="11247120" cy="365760"/>
          </a:xfrm>
          <a:prstGeom prst="rect">
            <a:avLst/>
          </a:prstGeom>
          <a:noFill/>
          <a:ln/>
        </p:spPr>
        <p:txBody>
          <a:bodyPr wrap="square" lIns="0" tIns="0" rIns="0" bIns="0" rtlCol="0" anchor="ctr"/>
          <a:lstStyle/>
          <a:p>
            <a:pPr algn="ctr" indent="0" marL="0">
              <a:buNone/>
            </a:pPr>
            <a:r>
              <a:rPr lang="en-US" sz="1300" i="1" dirty="0">
                <a:solidFill>
                  <a:srgbClr val="14B8A6"/>
                </a:solidFill>
                <a:latin typeface="Calibri" pitchFamily="34" charset="0"/>
                <a:ea typeface="Calibri" pitchFamily="34" charset="-122"/>
                <a:cs typeface="Calibri" pitchFamily="34" charset="-120"/>
              </a:rPr>
              <a:t>Open for collaboration and community contribution  —  see the research-integrity charter for participation paths.</a:t>
            </a:r>
            <a:endParaRPr lang="en-US" sz="1300" dirty="0"/>
          </a:p>
        </p:txBody>
      </p:sp>
      <p:sp>
        <p:nvSpPr>
          <p:cNvPr id="19" name="Text 17"/>
          <p:cNvSpPr/>
          <p:nvPr/>
        </p:nvSpPr>
        <p:spPr>
          <a:xfrm>
            <a:off x="457200" y="6355080"/>
            <a:ext cx="11247120" cy="274320"/>
          </a:xfrm>
          <a:prstGeom prst="rect">
            <a:avLst/>
          </a:prstGeom>
          <a:noFill/>
          <a:ln/>
        </p:spPr>
        <p:txBody>
          <a:bodyPr wrap="square" lIns="0" tIns="0" rIns="0" bIns="0" rtlCol="0" anchor="ctr"/>
          <a:lstStyle/>
          <a:p>
            <a:pPr algn="r" indent="0" marL="0">
              <a:buNone/>
            </a:pPr>
            <a:r>
              <a:rPr lang="en-US" sz="1000" spc="100" kern="0" dirty="0">
                <a:solidFill>
                  <a:srgbClr val="9CA3AF"/>
                </a:solidFill>
                <a:latin typeface="Calibri" pitchFamily="34" charset="0"/>
                <a:ea typeface="Calibri" pitchFamily="34" charset="-122"/>
                <a:cs typeface="Calibri" pitchFamily="34" charset="-120"/>
              </a:rPr>
              <a:t>ORBIT v1.0  ·  August 2026  ·  Internal Engineering Audience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ORBIT: Optimized Research &amp; Behavioral Intelligence Trading - Technical Roadmap</dc:title>
  <dc:subject>PptxGenJS Presentation</dc:subject>
  <dc:creator>ORBIT Quantitative Research</dc:creator>
  <cp:lastModifiedBy>ORBIT Quantitative Research</cp:lastModifiedBy>
  <cp:revision>1</cp:revision>
  <dcterms:created xsi:type="dcterms:W3CDTF">2026-08-18T18:51:04Z</dcterms:created>
  <dcterms:modified xsi:type="dcterms:W3CDTF">2026-08-18T18:51:04Z</dcterms:modified>
</cp:coreProperties>
</file>